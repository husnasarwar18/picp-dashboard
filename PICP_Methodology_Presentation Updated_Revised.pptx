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5" r:id="rId5"/>
    <p:sldId id="259" r:id="rId6"/>
    <p:sldId id="274" r:id="rId7"/>
    <p:sldId id="269" r:id="rId8"/>
    <p:sldId id="277" r:id="rId9"/>
    <p:sldId id="276" r:id="rId10"/>
    <p:sldId id="267" r:id="rId11"/>
    <p:sldId id="260" r:id="rId12"/>
    <p:sldId id="261" r:id="rId13"/>
    <p:sldId id="265" r:id="rId14"/>
    <p:sldId id="266" r:id="rId15"/>
    <p:sldId id="271" r:id="rId16"/>
    <p:sldId id="263" r:id="rId17"/>
    <p:sldId id="264"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C7A"/>
    <a:srgbClr val="2E75B6"/>
    <a:srgbClr val="1F6F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p:scale>
          <a:sx n="56" d="100"/>
          <a:sy n="56" d="100"/>
        </p:scale>
        <p:origin x="9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6A73D8-D235-4828-ACFF-EF9962E7488B}" type="doc">
      <dgm:prSet loTypeId="urn:microsoft.com/office/officeart/2005/8/layout/hChevron3" loCatId="process" qsTypeId="urn:microsoft.com/office/officeart/2005/8/quickstyle/simple1" qsCatId="simple" csTypeId="urn:microsoft.com/office/officeart/2005/8/colors/colorful5" csCatId="colorful" phldr="1"/>
      <dgm:spPr/>
      <dgm:t>
        <a:bodyPr/>
        <a:lstStyle/>
        <a:p>
          <a:endParaRPr lang="en-US"/>
        </a:p>
      </dgm:t>
    </dgm:pt>
    <dgm:pt modelId="{006C1B37-6FA7-471A-B1C3-F7E455C15024}">
      <dgm:prSet phldrT="[Text]" phldr="0" custT="1"/>
      <dgm:spPr/>
      <dgm:t>
        <a:bodyPr/>
        <a:lstStyle/>
        <a:p>
          <a:r>
            <a:rPr lang="en-US" sz="1800" dirty="0"/>
            <a:t>Data Collection tool </a:t>
          </a:r>
        </a:p>
      </dgm:t>
    </dgm:pt>
    <dgm:pt modelId="{4A8B59B5-BC75-4E49-8EB2-3C7EE7587BDC}" type="parTrans" cxnId="{B3B6CA08-5937-41FE-A89B-4B03C6A30F4D}">
      <dgm:prSet/>
      <dgm:spPr/>
      <dgm:t>
        <a:bodyPr/>
        <a:lstStyle/>
        <a:p>
          <a:endParaRPr lang="en-US" sz="2400"/>
        </a:p>
      </dgm:t>
    </dgm:pt>
    <dgm:pt modelId="{BE89F851-CA72-41A7-A142-71BD502D760D}" type="sibTrans" cxnId="{B3B6CA08-5937-41FE-A89B-4B03C6A30F4D}">
      <dgm:prSet/>
      <dgm:spPr/>
      <dgm:t>
        <a:bodyPr/>
        <a:lstStyle/>
        <a:p>
          <a:endParaRPr lang="en-US" sz="2400"/>
        </a:p>
      </dgm:t>
    </dgm:pt>
    <dgm:pt modelId="{FCF53D80-84FE-4260-9321-42EE66C1C660}">
      <dgm:prSet phldrT="[Text]" phldr="0" custT="1"/>
      <dgm:spPr/>
      <dgm:t>
        <a:bodyPr/>
        <a:lstStyle/>
        <a:p>
          <a:r>
            <a:rPr lang="en-US" sz="1800" dirty="0"/>
            <a:t>Validation &amp; Reconciliation tool</a:t>
          </a:r>
        </a:p>
      </dgm:t>
    </dgm:pt>
    <dgm:pt modelId="{6D99D92D-6A5E-4859-AECD-229A9C31085D}" type="parTrans" cxnId="{EC722903-02FC-412B-90C1-E11AB8B6D4F8}">
      <dgm:prSet/>
      <dgm:spPr/>
      <dgm:t>
        <a:bodyPr/>
        <a:lstStyle/>
        <a:p>
          <a:endParaRPr lang="en-US" sz="2400"/>
        </a:p>
      </dgm:t>
    </dgm:pt>
    <dgm:pt modelId="{3DAB1082-B511-4BAD-9EA8-B960CFCFC016}" type="sibTrans" cxnId="{EC722903-02FC-412B-90C1-E11AB8B6D4F8}">
      <dgm:prSet/>
      <dgm:spPr/>
      <dgm:t>
        <a:bodyPr/>
        <a:lstStyle/>
        <a:p>
          <a:endParaRPr lang="en-US" sz="2400"/>
        </a:p>
      </dgm:t>
    </dgm:pt>
    <dgm:pt modelId="{64B875B2-3408-4FEA-97FC-701CE6D22CCF}">
      <dgm:prSet phldrT="[Text]" phldr="0" custT="1"/>
      <dgm:spPr/>
      <dgm:t>
        <a:bodyPr/>
        <a:lstStyle/>
        <a:p>
          <a:r>
            <a:rPr lang="en-US" sz="1800" dirty="0"/>
            <a:t>Assessment &amp; Scoring tool</a:t>
          </a:r>
        </a:p>
      </dgm:t>
    </dgm:pt>
    <dgm:pt modelId="{9E6093AD-7A1E-4BB6-AF73-A7956AE78721}" type="parTrans" cxnId="{9AC49404-73EC-4544-BA31-96252BAE0011}">
      <dgm:prSet/>
      <dgm:spPr/>
      <dgm:t>
        <a:bodyPr/>
        <a:lstStyle/>
        <a:p>
          <a:endParaRPr lang="en-US" sz="2400"/>
        </a:p>
      </dgm:t>
    </dgm:pt>
    <dgm:pt modelId="{B7A767F2-BF31-494B-B47E-FE13A41BE787}" type="sibTrans" cxnId="{9AC49404-73EC-4544-BA31-96252BAE0011}">
      <dgm:prSet/>
      <dgm:spPr/>
      <dgm:t>
        <a:bodyPr/>
        <a:lstStyle/>
        <a:p>
          <a:endParaRPr lang="en-US" sz="2400"/>
        </a:p>
      </dgm:t>
    </dgm:pt>
    <dgm:pt modelId="{611B2ED4-D2F4-4F17-A97B-177B22DD5B9B}">
      <dgm:prSet phldrT="[Text]" phldr="0" custT="1"/>
      <dgm:spPr/>
      <dgm:t>
        <a:bodyPr/>
        <a:lstStyle/>
        <a:p>
          <a:r>
            <a:rPr lang="en-US" sz="1800" dirty="0"/>
            <a:t>Reporting &amp; Evidence tool</a:t>
          </a:r>
        </a:p>
      </dgm:t>
    </dgm:pt>
    <dgm:pt modelId="{84578C93-4967-4234-BEEE-02BD1442A2FC}" type="parTrans" cxnId="{BB66A9BB-434E-4713-8AFA-40707C0AFA6D}">
      <dgm:prSet/>
      <dgm:spPr/>
      <dgm:t>
        <a:bodyPr/>
        <a:lstStyle/>
        <a:p>
          <a:endParaRPr lang="en-US" sz="2400"/>
        </a:p>
      </dgm:t>
    </dgm:pt>
    <dgm:pt modelId="{8C72F056-6326-4E22-9A85-8DE54784301D}" type="sibTrans" cxnId="{BB66A9BB-434E-4713-8AFA-40707C0AFA6D}">
      <dgm:prSet/>
      <dgm:spPr/>
      <dgm:t>
        <a:bodyPr/>
        <a:lstStyle/>
        <a:p>
          <a:endParaRPr lang="en-US" sz="2400"/>
        </a:p>
      </dgm:t>
    </dgm:pt>
    <dgm:pt modelId="{A09668CA-021C-4C8A-B748-FED7DB97BC03}" type="pres">
      <dgm:prSet presAssocID="{066A73D8-D235-4828-ACFF-EF9962E7488B}" presName="Name0" presStyleCnt="0">
        <dgm:presLayoutVars>
          <dgm:dir/>
          <dgm:resizeHandles val="exact"/>
        </dgm:presLayoutVars>
      </dgm:prSet>
      <dgm:spPr/>
    </dgm:pt>
    <dgm:pt modelId="{8701CCE8-4158-4654-B602-5DA30BAF7D63}" type="pres">
      <dgm:prSet presAssocID="{006C1B37-6FA7-471A-B1C3-F7E455C15024}" presName="parTxOnly" presStyleLbl="node1" presStyleIdx="0" presStyleCnt="4" custScaleY="75517" custLinFactNeighborX="-25173" custLinFactNeighborY="-7271">
        <dgm:presLayoutVars>
          <dgm:bulletEnabled val="1"/>
        </dgm:presLayoutVars>
      </dgm:prSet>
      <dgm:spPr/>
    </dgm:pt>
    <dgm:pt modelId="{94843A75-A441-4004-B685-B8395B5F818D}" type="pres">
      <dgm:prSet presAssocID="{BE89F851-CA72-41A7-A142-71BD502D760D}" presName="parSpace" presStyleCnt="0"/>
      <dgm:spPr/>
    </dgm:pt>
    <dgm:pt modelId="{311DAD2E-85C7-41D5-AA71-8F72CD88C68C}" type="pres">
      <dgm:prSet presAssocID="{FCF53D80-84FE-4260-9321-42EE66C1C660}" presName="parTxOnly" presStyleLbl="node1" presStyleIdx="1" presStyleCnt="4" custScaleY="75517" custLinFactNeighborX="-25173" custLinFactNeighborY="-7271">
        <dgm:presLayoutVars>
          <dgm:bulletEnabled val="1"/>
        </dgm:presLayoutVars>
      </dgm:prSet>
      <dgm:spPr/>
    </dgm:pt>
    <dgm:pt modelId="{1DE4A452-3A09-4B30-A02E-3EB32B8A1889}" type="pres">
      <dgm:prSet presAssocID="{3DAB1082-B511-4BAD-9EA8-B960CFCFC016}" presName="parSpace" presStyleCnt="0"/>
      <dgm:spPr/>
    </dgm:pt>
    <dgm:pt modelId="{AE175664-EC94-48C7-94D7-6647BE443EB8}" type="pres">
      <dgm:prSet presAssocID="{64B875B2-3408-4FEA-97FC-701CE6D22CCF}" presName="parTxOnly" presStyleLbl="node1" presStyleIdx="2" presStyleCnt="4" custScaleY="75517" custLinFactNeighborX="-25173" custLinFactNeighborY="-7271">
        <dgm:presLayoutVars>
          <dgm:bulletEnabled val="1"/>
        </dgm:presLayoutVars>
      </dgm:prSet>
      <dgm:spPr/>
    </dgm:pt>
    <dgm:pt modelId="{9C7BAE5E-097F-4080-9A58-B4754CD0BCBA}" type="pres">
      <dgm:prSet presAssocID="{B7A767F2-BF31-494B-B47E-FE13A41BE787}" presName="parSpace" presStyleCnt="0"/>
      <dgm:spPr/>
    </dgm:pt>
    <dgm:pt modelId="{013146B8-18F7-490C-ABD8-A3190B499836}" type="pres">
      <dgm:prSet presAssocID="{611B2ED4-D2F4-4F17-A97B-177B22DD5B9B}" presName="parTxOnly" presStyleLbl="node1" presStyleIdx="3" presStyleCnt="4" custScaleY="75517" custLinFactNeighborX="-25173" custLinFactNeighborY="-7271">
        <dgm:presLayoutVars>
          <dgm:bulletEnabled val="1"/>
        </dgm:presLayoutVars>
      </dgm:prSet>
      <dgm:spPr/>
    </dgm:pt>
  </dgm:ptLst>
  <dgm:cxnLst>
    <dgm:cxn modelId="{EC722903-02FC-412B-90C1-E11AB8B6D4F8}" srcId="{066A73D8-D235-4828-ACFF-EF9962E7488B}" destId="{FCF53D80-84FE-4260-9321-42EE66C1C660}" srcOrd="1" destOrd="0" parTransId="{6D99D92D-6A5E-4859-AECD-229A9C31085D}" sibTransId="{3DAB1082-B511-4BAD-9EA8-B960CFCFC016}"/>
    <dgm:cxn modelId="{9AC49404-73EC-4544-BA31-96252BAE0011}" srcId="{066A73D8-D235-4828-ACFF-EF9962E7488B}" destId="{64B875B2-3408-4FEA-97FC-701CE6D22CCF}" srcOrd="2" destOrd="0" parTransId="{9E6093AD-7A1E-4BB6-AF73-A7956AE78721}" sibTransId="{B7A767F2-BF31-494B-B47E-FE13A41BE787}"/>
    <dgm:cxn modelId="{B3B6CA08-5937-41FE-A89B-4B03C6A30F4D}" srcId="{066A73D8-D235-4828-ACFF-EF9962E7488B}" destId="{006C1B37-6FA7-471A-B1C3-F7E455C15024}" srcOrd="0" destOrd="0" parTransId="{4A8B59B5-BC75-4E49-8EB2-3C7EE7587BDC}" sibTransId="{BE89F851-CA72-41A7-A142-71BD502D760D}"/>
    <dgm:cxn modelId="{39D97D3E-7019-42F2-B374-24FDFE83DCB3}" type="presOf" srcId="{006C1B37-6FA7-471A-B1C3-F7E455C15024}" destId="{8701CCE8-4158-4654-B602-5DA30BAF7D63}" srcOrd="0" destOrd="0" presId="urn:microsoft.com/office/officeart/2005/8/layout/hChevron3"/>
    <dgm:cxn modelId="{C8069880-077C-4919-959B-F4FAC1E99328}" type="presOf" srcId="{64B875B2-3408-4FEA-97FC-701CE6D22CCF}" destId="{AE175664-EC94-48C7-94D7-6647BE443EB8}" srcOrd="0" destOrd="0" presId="urn:microsoft.com/office/officeart/2005/8/layout/hChevron3"/>
    <dgm:cxn modelId="{E20F2BB8-D05D-4AD4-AE37-41B9009A84D0}" type="presOf" srcId="{611B2ED4-D2F4-4F17-A97B-177B22DD5B9B}" destId="{013146B8-18F7-490C-ABD8-A3190B499836}" srcOrd="0" destOrd="0" presId="urn:microsoft.com/office/officeart/2005/8/layout/hChevron3"/>
    <dgm:cxn modelId="{BB66A9BB-434E-4713-8AFA-40707C0AFA6D}" srcId="{066A73D8-D235-4828-ACFF-EF9962E7488B}" destId="{611B2ED4-D2F4-4F17-A97B-177B22DD5B9B}" srcOrd="3" destOrd="0" parTransId="{84578C93-4967-4234-BEEE-02BD1442A2FC}" sibTransId="{8C72F056-6326-4E22-9A85-8DE54784301D}"/>
    <dgm:cxn modelId="{140276D7-6064-4E12-A5A0-A0D22194E30F}" type="presOf" srcId="{066A73D8-D235-4828-ACFF-EF9962E7488B}" destId="{A09668CA-021C-4C8A-B748-FED7DB97BC03}" srcOrd="0" destOrd="0" presId="urn:microsoft.com/office/officeart/2005/8/layout/hChevron3"/>
    <dgm:cxn modelId="{C44A00E4-5816-4E7A-8532-7CAB516310B3}" type="presOf" srcId="{FCF53D80-84FE-4260-9321-42EE66C1C660}" destId="{311DAD2E-85C7-41D5-AA71-8F72CD88C68C}" srcOrd="0" destOrd="0" presId="urn:microsoft.com/office/officeart/2005/8/layout/hChevron3"/>
    <dgm:cxn modelId="{FEFB6D95-35A9-4DE5-8EB8-743A1C74FD95}" type="presParOf" srcId="{A09668CA-021C-4C8A-B748-FED7DB97BC03}" destId="{8701CCE8-4158-4654-B602-5DA30BAF7D63}" srcOrd="0" destOrd="0" presId="urn:microsoft.com/office/officeart/2005/8/layout/hChevron3"/>
    <dgm:cxn modelId="{47779402-1123-4573-8EC8-2665A6186997}" type="presParOf" srcId="{A09668CA-021C-4C8A-B748-FED7DB97BC03}" destId="{94843A75-A441-4004-B685-B8395B5F818D}" srcOrd="1" destOrd="0" presId="urn:microsoft.com/office/officeart/2005/8/layout/hChevron3"/>
    <dgm:cxn modelId="{0518180F-ED2E-4485-9371-F494D1416373}" type="presParOf" srcId="{A09668CA-021C-4C8A-B748-FED7DB97BC03}" destId="{311DAD2E-85C7-41D5-AA71-8F72CD88C68C}" srcOrd="2" destOrd="0" presId="urn:microsoft.com/office/officeart/2005/8/layout/hChevron3"/>
    <dgm:cxn modelId="{0A17A59F-A57B-416D-B7D4-B02BDF928A9C}" type="presParOf" srcId="{A09668CA-021C-4C8A-B748-FED7DB97BC03}" destId="{1DE4A452-3A09-4B30-A02E-3EB32B8A1889}" srcOrd="3" destOrd="0" presId="urn:microsoft.com/office/officeart/2005/8/layout/hChevron3"/>
    <dgm:cxn modelId="{5BDE184D-8CE6-4BCC-8E7D-228C5E8C4987}" type="presParOf" srcId="{A09668CA-021C-4C8A-B748-FED7DB97BC03}" destId="{AE175664-EC94-48C7-94D7-6647BE443EB8}" srcOrd="4" destOrd="0" presId="urn:microsoft.com/office/officeart/2005/8/layout/hChevron3"/>
    <dgm:cxn modelId="{A26EFF8F-FBB4-453C-BAB9-3B647BF4F957}" type="presParOf" srcId="{A09668CA-021C-4C8A-B748-FED7DB97BC03}" destId="{9C7BAE5E-097F-4080-9A58-B4754CD0BCBA}" srcOrd="5" destOrd="0" presId="urn:microsoft.com/office/officeart/2005/8/layout/hChevron3"/>
    <dgm:cxn modelId="{ACF7C974-572E-4072-871F-0EF10F017540}" type="presParOf" srcId="{A09668CA-021C-4C8A-B748-FED7DB97BC03}" destId="{013146B8-18F7-490C-ABD8-A3190B499836}" srcOrd="6"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01CCE8-4158-4654-B602-5DA30BAF7D63}">
      <dsp:nvSpPr>
        <dsp:cNvPr id="0" name=""/>
        <dsp:cNvSpPr/>
      </dsp:nvSpPr>
      <dsp:spPr>
        <a:xfrm>
          <a:off x="0" y="1732330"/>
          <a:ext cx="2795731" cy="844501"/>
        </a:xfrm>
        <a:prstGeom prst="homePlat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Data Collection tool </a:t>
          </a:r>
        </a:p>
      </dsp:txBody>
      <dsp:txXfrm>
        <a:off x="0" y="1732330"/>
        <a:ext cx="2584606" cy="844501"/>
      </dsp:txXfrm>
    </dsp:sp>
    <dsp:sp modelId="{311DAD2E-85C7-41D5-AA71-8F72CD88C68C}">
      <dsp:nvSpPr>
        <dsp:cNvPr id="0" name=""/>
        <dsp:cNvSpPr/>
      </dsp:nvSpPr>
      <dsp:spPr>
        <a:xfrm>
          <a:off x="2098617" y="1732330"/>
          <a:ext cx="2795731" cy="844501"/>
        </a:xfrm>
        <a:prstGeom prst="chevron">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Validation &amp; Reconciliation tool</a:t>
          </a:r>
        </a:p>
      </dsp:txBody>
      <dsp:txXfrm>
        <a:off x="2520868" y="1732330"/>
        <a:ext cx="1951230" cy="844501"/>
      </dsp:txXfrm>
    </dsp:sp>
    <dsp:sp modelId="{AE175664-EC94-48C7-94D7-6647BE443EB8}">
      <dsp:nvSpPr>
        <dsp:cNvPr id="0" name=""/>
        <dsp:cNvSpPr/>
      </dsp:nvSpPr>
      <dsp:spPr>
        <a:xfrm>
          <a:off x="4335202" y="1732330"/>
          <a:ext cx="2795731" cy="844501"/>
        </a:xfrm>
        <a:prstGeom prst="chevron">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Assessment &amp; Scoring tool</a:t>
          </a:r>
        </a:p>
      </dsp:txBody>
      <dsp:txXfrm>
        <a:off x="4757453" y="1732330"/>
        <a:ext cx="1951230" cy="844501"/>
      </dsp:txXfrm>
    </dsp:sp>
    <dsp:sp modelId="{013146B8-18F7-490C-ABD8-A3190B499836}">
      <dsp:nvSpPr>
        <dsp:cNvPr id="0" name=""/>
        <dsp:cNvSpPr/>
      </dsp:nvSpPr>
      <dsp:spPr>
        <a:xfrm>
          <a:off x="6571788" y="1732330"/>
          <a:ext cx="2795731" cy="844501"/>
        </a:xfrm>
        <a:prstGeom prst="chevron">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Reporting &amp; Evidence tool</a:t>
          </a:r>
        </a:p>
      </dsp:txBody>
      <dsp:txXfrm>
        <a:off x="6994039" y="1732330"/>
        <a:ext cx="1951230" cy="844501"/>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635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TOR.pdf, DLI descriptions and verification methodology, pp. 89–102.
- TOR.pdf, E&amp;S Third-Party Monitoring scope and responsibilities, pp. 102–104.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TOR.pdf, Scope of work for IVA, pp. 89–90.
- TOR.pdf, Annual Performance Assessment and duties, pp. 90–101.
- TOR.pdf, Scope of Work for E&amp;S Third-Party Monitoring and duties, pp. 102–104.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TOR.pdf objective and scope: IVA is responsible for annual evidence-based verification of DLIs, while E&amp;S TPM evaluates adequacy and effectiveness of environmental and social management and provides recommendations.
- TOR.pdf management cycle: annual APA aligns with the budgeting cycle and E&amp;S management performance is assessed quarterly.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EA407-DB04-DD09-E8BE-6555964AE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87511D-C272-72AE-0DDB-06FEB259E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4A32E-1566-D163-AD2B-F09367B58D04}"/>
              </a:ext>
            </a:extLst>
          </p:cNvPr>
          <p:cNvSpPr>
            <a:spLocks noGrp="1"/>
          </p:cNvSpPr>
          <p:nvPr>
            <p:ph type="body" idx="1"/>
          </p:nvPr>
        </p:nvSpPr>
        <p:spPr/>
        <p:txBody>
          <a:bodyPr/>
          <a:lstStyle/>
          <a:p>
            <a:r>
              <a:rPr lang="en-US" dirty="0"/>
              <a:t>[Sources]
- TOR.pdf objective and scope: IVA is responsible for annual evidence-based verification of DLIs, while E&amp;S TPM evaluates adequacy and effectiveness of environmental and social management and provides recommendations.
- TOR.pdf management cycle: annual APA aligns with the budgeting cycle and E&amp;S management performance is assessed quarterly.</a:t>
            </a:r>
          </a:p>
        </p:txBody>
      </p:sp>
      <p:sp>
        <p:nvSpPr>
          <p:cNvPr id="4" name="Slide Number Placeholder 3">
            <a:extLst>
              <a:ext uri="{FF2B5EF4-FFF2-40B4-BE49-F238E27FC236}">
                <a16:creationId xmlns:a16="http://schemas.microsoft.com/office/drawing/2014/main" id="{89319251-E170-165B-79EF-5BDCE3454EA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218170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EA419-8B51-5037-CB6F-59982F03C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69E3D8-9D92-8656-5578-A9831F489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6556A-6451-4B6B-DEC4-4485D486860E}"/>
              </a:ext>
            </a:extLst>
          </p:cNvPr>
          <p:cNvSpPr>
            <a:spLocks noGrp="1"/>
          </p:cNvSpPr>
          <p:nvPr>
            <p:ph type="body" idx="1"/>
          </p:nvPr>
        </p:nvSpPr>
        <p:spPr/>
        <p:txBody>
          <a:bodyPr/>
          <a:lstStyle/>
          <a:p>
            <a:r>
              <a:rPr lang="en-US" dirty="0"/>
              <a:t>[Sources]
- TOR.pdf objective and scope: IVA is responsible for annual evidence-based verification of DLIs, while E&amp;S TPM evaluates adequacy and effectiveness of environmental and social management and provides recommendations.
- TOR.pdf management cycle: annual APA aligns with the budgeting cycle and E&amp;S management performance is assessed quarterly.</a:t>
            </a:r>
          </a:p>
        </p:txBody>
      </p:sp>
      <p:sp>
        <p:nvSpPr>
          <p:cNvPr id="4" name="Slide Number Placeholder 3">
            <a:extLst>
              <a:ext uri="{FF2B5EF4-FFF2-40B4-BE49-F238E27FC236}">
                <a16:creationId xmlns:a16="http://schemas.microsoft.com/office/drawing/2014/main" id="{2BC4BE4F-44B9-BD53-940E-F3733EDDBA3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938780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TOR.pdf allows PSC and the World Bank to seek re-verification, rectification, or return results if anomalies or significant discrepancies are found; a documented internal QA process directly responds to the TOR requirement for robust and reviewable verification results.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TOR.pdf third-party monitoring scope: review ESCF and safeguard instruments, screen and categorize investments, verify GRM and stakeholder consultations, monitor compliance with PEQS, perform site visits and environmental sampling, gather feedback from citizens and workers, identify areas for improvement, and issue quarterly and completion reports.
- TOR.pdf management cycle: E&amp;S performance is assessed quarterly.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TOR.pdf staffing table includes Team Leader / M&amp;E Specialist, Infrastructure Specialist, Environment &amp; Social Management Specialist, Finance &amp; Account Specialist, Institutional Strengthening Specialist, Social Development Specialist, Occupational Health and Safety Specialist, Gender Specialist, and assistant team members.
- TOR.pdf management states the consultants report to LG&amp;CDD and work closely with PMDFC.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17934-4452-1817-EAAB-6FEB2D9EC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431208-8A3E-E984-179E-407C35AF02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9F368-C200-01C8-968E-A4FE88E9835D}"/>
              </a:ext>
            </a:extLst>
          </p:cNvPr>
          <p:cNvSpPr>
            <a:spLocks noGrp="1"/>
          </p:cNvSpPr>
          <p:nvPr>
            <p:ph type="body" idx="1"/>
          </p:nvPr>
        </p:nvSpPr>
        <p:spPr/>
        <p:txBody>
          <a:bodyPr/>
          <a:lstStyle/>
          <a:p>
            <a:r>
              <a:rPr lang="en-US" dirty="0"/>
              <a:t>[Sources]
- TOR.pdf staffing table includes Team Leader / M&amp;E Specialist, Infrastructure Specialist, Environment &amp; Social Management Specialist, Finance &amp; Account Specialist, Institutional Strengthening Specialist, Social Development Specialist, Occupational Health and Safety Specialist, Gender Specialist, and assistant team members.
- TOR.pdf management states the consultants report to LG&amp;CDD and work closely with PMDFC.</a:t>
            </a:r>
          </a:p>
        </p:txBody>
      </p:sp>
      <p:sp>
        <p:nvSpPr>
          <p:cNvPr id="4" name="Slide Number Placeholder 3">
            <a:extLst>
              <a:ext uri="{FF2B5EF4-FFF2-40B4-BE49-F238E27FC236}">
                <a16:creationId xmlns:a16="http://schemas.microsoft.com/office/drawing/2014/main" id="{91681689-0423-1509-68DD-7B752BF528E5}"/>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710356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TOR.pdf annual management cycle: APA is synchronized with the government budgeting cycle; IVA verifies DLIs between November and April and communicates results by no later than April, supporting allocations reflected in June budgets.
- TOR.pdf third-party monitoring cycle: E&amp;S performance is assessed quarterly, with quarterly TPM reports and a completion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03B66"/>
          </a:solidFill>
          <a:ln w="12700">
            <a:solidFill>
              <a:srgbClr val="103B66"/>
            </a:solidFill>
            <a:prstDash val="solid"/>
          </a:ln>
        </p:spPr>
      </p:sp>
      <p:sp>
        <p:nvSpPr>
          <p:cNvPr id="3" name="Shape 1"/>
          <p:cNvSpPr/>
          <p:nvPr/>
        </p:nvSpPr>
        <p:spPr>
          <a:xfrm>
            <a:off x="0" y="6565392"/>
            <a:ext cx="12191695" cy="292608"/>
          </a:xfrm>
          <a:prstGeom prst="rect">
            <a:avLst/>
          </a:prstGeom>
          <a:solidFill>
            <a:srgbClr val="103B66"/>
          </a:solidFill>
          <a:ln w="12700">
            <a:solidFill>
              <a:srgbClr val="103B66"/>
            </a:solidFill>
            <a:prstDash val="solid"/>
          </a:ln>
        </p:spPr>
      </p:sp>
      <p:sp>
        <p:nvSpPr>
          <p:cNvPr id="4" name="Text 2"/>
          <p:cNvSpPr/>
          <p:nvPr/>
        </p:nvSpPr>
        <p:spPr>
          <a:xfrm>
            <a:off x="411480" y="6565392"/>
            <a:ext cx="4754880" cy="201168"/>
          </a:xfrm>
          <a:prstGeom prst="rect">
            <a:avLst/>
          </a:prstGeom>
          <a:noFill/>
          <a:ln/>
        </p:spPr>
        <p:txBody>
          <a:bodyPr wrap="square" lIns="0" tIns="0" rIns="0" bIns="0" rtlCol="0" anchor="ctr"/>
          <a:lstStyle/>
          <a:p>
            <a:pPr marL="0" indent="0">
              <a:buNone/>
            </a:pPr>
            <a:r>
              <a:rPr lang="en-US" sz="1000" dirty="0">
                <a:solidFill>
                  <a:srgbClr val="FFFFFF"/>
                </a:solidFill>
                <a:latin typeface="Aptos" pitchFamily="34" charset="0"/>
                <a:ea typeface="Aptos" pitchFamily="34" charset="-122"/>
                <a:cs typeface="Aptos" pitchFamily="34" charset="-120"/>
              </a:rPr>
              <a:t>Punjab Inclusive Cities Program (PICP)</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03B66"/>
        </a:solidFill>
        <a:effectLst/>
      </p:bgPr>
    </p:bg>
    <p:spTree>
      <p:nvGrpSpPr>
        <p:cNvPr id="1" name=""/>
        <p:cNvGrpSpPr/>
        <p:nvPr/>
      </p:nvGrpSpPr>
      <p:grpSpPr>
        <a:xfrm>
          <a:off x="0" y="0"/>
          <a:ext cx="0" cy="0"/>
          <a:chOff x="0" y="0"/>
          <a:chExt cx="0" cy="0"/>
        </a:xfrm>
      </p:grpSpPr>
      <p:sp>
        <p:nvSpPr>
          <p:cNvPr id="2" name="Shape 0"/>
          <p:cNvSpPr/>
          <p:nvPr/>
        </p:nvSpPr>
        <p:spPr>
          <a:xfrm>
            <a:off x="0" y="0"/>
            <a:ext cx="7269480" cy="6858000"/>
          </a:xfrm>
          <a:prstGeom prst="rect">
            <a:avLst/>
          </a:prstGeom>
          <a:solidFill>
            <a:srgbClr val="F6F8FB"/>
          </a:solidFill>
          <a:ln w="12700">
            <a:solidFill>
              <a:srgbClr val="F6F8FB"/>
            </a:solidFill>
            <a:prstDash val="solid"/>
          </a:ln>
        </p:spPr>
      </p:sp>
      <p:sp>
        <p:nvSpPr>
          <p:cNvPr id="3" name="Shape 1"/>
          <p:cNvSpPr/>
          <p:nvPr/>
        </p:nvSpPr>
        <p:spPr>
          <a:xfrm>
            <a:off x="8001000" y="3520440"/>
            <a:ext cx="4187952" cy="164592"/>
          </a:xfrm>
          <a:prstGeom prst="rect">
            <a:avLst/>
          </a:prstGeom>
          <a:solidFill>
            <a:srgbClr val="E3A008"/>
          </a:solidFill>
          <a:ln w="12700">
            <a:solidFill>
              <a:srgbClr val="E3A008"/>
            </a:solidFill>
            <a:prstDash val="solid"/>
          </a:ln>
        </p:spPr>
      </p:sp>
      <p:sp>
        <p:nvSpPr>
          <p:cNvPr id="4" name="Text 2"/>
          <p:cNvSpPr/>
          <p:nvPr/>
        </p:nvSpPr>
        <p:spPr>
          <a:xfrm>
            <a:off x="411480" y="6565392"/>
            <a:ext cx="4754880" cy="201168"/>
          </a:xfrm>
          <a:prstGeom prst="rect">
            <a:avLst/>
          </a:prstGeom>
          <a:noFill/>
          <a:ln/>
        </p:spPr>
        <p:txBody>
          <a:bodyPr wrap="square" lIns="0" tIns="0" rIns="0" bIns="0" rtlCol="0" anchor="ctr"/>
          <a:lstStyle/>
          <a:p>
            <a:pPr marL="0" indent="0">
              <a:buNone/>
            </a:pPr>
            <a:r>
              <a:rPr lang="en-US" sz="1000" dirty="0">
                <a:solidFill>
                  <a:srgbClr val="FFFFFF"/>
                </a:solidFill>
                <a:latin typeface="Aptos" pitchFamily="34" charset="0"/>
                <a:ea typeface="Aptos" pitchFamily="34" charset="-122"/>
                <a:cs typeface="Aptos" pitchFamily="34" charset="-120"/>
              </a:rPr>
              <a:t>Punjab Inclusive Cities Program (PICP)</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256032"/>
            <a:ext cx="12191695" cy="6309360"/>
          </a:xfrm>
          <a:prstGeom prst="rect">
            <a:avLst/>
          </a:prstGeom>
          <a:solidFill>
            <a:srgbClr val="F6F8FB"/>
          </a:solidFill>
          <a:ln w="12700">
            <a:solidFill>
              <a:srgbClr val="F6F8FB"/>
            </a:solidFill>
            <a:prstDash val="solid"/>
          </a:ln>
        </p:spPr>
      </p:sp>
      <p:sp>
        <p:nvSpPr>
          <p:cNvPr id="5" name="Text 3"/>
          <p:cNvSpPr/>
          <p:nvPr/>
        </p:nvSpPr>
        <p:spPr>
          <a:xfrm>
            <a:off x="1737365" y="1499191"/>
            <a:ext cx="8337364" cy="1701209"/>
          </a:xfrm>
          <a:prstGeom prst="rect">
            <a:avLst/>
          </a:prstGeom>
          <a:noFill/>
          <a:ln/>
        </p:spPr>
        <p:txBody>
          <a:bodyPr wrap="square" lIns="0" tIns="0" rIns="0" bIns="0" rtlCol="0" anchor="ctr"/>
          <a:lstStyle/>
          <a:p>
            <a:pPr algn="ctr"/>
            <a:endParaRPr lang="en-US" sz="2400" dirty="0">
              <a:solidFill>
                <a:srgbClr val="243447"/>
              </a:solidFill>
            </a:endParaRPr>
          </a:p>
          <a:p>
            <a:pPr algn="ctr"/>
            <a:r>
              <a:rPr lang="en-US" sz="2400" dirty="0">
                <a:solidFill>
                  <a:srgbClr val="243447"/>
                </a:solidFill>
              </a:rPr>
              <a:t>Independent Verification of DLIs for 16 Municipal Committees and Third-Party Monitoring of Environmental &amp; Social Management under PICP</a:t>
            </a:r>
            <a:endParaRPr lang="en-US" sz="2400" dirty="0"/>
          </a:p>
          <a:p>
            <a:pPr marL="0" indent="0" algn="ctr">
              <a:buNone/>
            </a:pPr>
            <a:endParaRPr lang="en-US" sz="2400" dirty="0"/>
          </a:p>
        </p:txBody>
      </p:sp>
      <p:sp>
        <p:nvSpPr>
          <p:cNvPr id="6" name="Text 4"/>
          <p:cNvSpPr/>
          <p:nvPr/>
        </p:nvSpPr>
        <p:spPr>
          <a:xfrm>
            <a:off x="713232" y="2514600"/>
            <a:ext cx="5669280" cy="1371600"/>
          </a:xfrm>
          <a:prstGeom prst="rect">
            <a:avLst/>
          </a:prstGeom>
          <a:noFill/>
          <a:ln/>
        </p:spPr>
        <p:txBody>
          <a:bodyPr wrap="square" lIns="0" tIns="0" rIns="0" bIns="0" rtlCol="0" anchor="ctr"/>
          <a:lstStyle/>
          <a:p>
            <a:pPr marL="0" indent="0">
              <a:buNone/>
            </a:pPr>
            <a:endParaRPr lang="en-US" sz="1700" dirty="0"/>
          </a:p>
        </p:txBody>
      </p:sp>
      <p:pic>
        <p:nvPicPr>
          <p:cNvPr id="9" name="Picture 8">
            <a:extLst>
              <a:ext uri="{FF2B5EF4-FFF2-40B4-BE49-F238E27FC236}">
                <a16:creationId xmlns:a16="http://schemas.microsoft.com/office/drawing/2014/main" id="{5420DDA8-F157-83BB-E8D1-DE946EB49B0C}"/>
              </a:ext>
            </a:extLst>
          </p:cNvPr>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593863" y="256032"/>
            <a:ext cx="3853451" cy="1156036"/>
          </a:xfrm>
          <a:prstGeom prst="rect">
            <a:avLst/>
          </a:prstGeom>
        </p:spPr>
      </p:pic>
      <p:sp>
        <p:nvSpPr>
          <p:cNvPr id="16" name="Subtitle 2">
            <a:extLst>
              <a:ext uri="{FF2B5EF4-FFF2-40B4-BE49-F238E27FC236}">
                <a16:creationId xmlns:a16="http://schemas.microsoft.com/office/drawing/2014/main" id="{B1E02DF1-4CB0-7EBD-07EE-CEACFF0E578B}"/>
              </a:ext>
            </a:extLst>
          </p:cNvPr>
          <p:cNvSpPr txBox="1">
            <a:spLocks/>
          </p:cNvSpPr>
          <p:nvPr/>
        </p:nvSpPr>
        <p:spPr>
          <a:xfrm>
            <a:off x="2808227" y="3007604"/>
            <a:ext cx="7266502" cy="3127762"/>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dirty="0"/>
              <a:t>Client</a:t>
            </a:r>
          </a:p>
          <a:p>
            <a:pPr marL="0" indent="0">
              <a:buNone/>
            </a:pPr>
            <a:r>
              <a:rPr lang="en-US" sz="2000" b="1" dirty="0">
                <a:solidFill>
                  <a:schemeClr val="bg1"/>
                </a:solidFill>
              </a:rPr>
              <a:t>		</a:t>
            </a:r>
          </a:p>
          <a:p>
            <a:pPr marL="0" indent="0">
              <a:buNone/>
            </a:pPr>
            <a:r>
              <a:rPr lang="en-US" sz="2000" b="1" dirty="0">
                <a:solidFill>
                  <a:schemeClr val="bg1"/>
                </a:solidFill>
              </a:rPr>
              <a:t>		</a:t>
            </a:r>
            <a:r>
              <a:rPr lang="en-US" sz="1600" b="1" dirty="0">
                <a:solidFill>
                  <a:srgbClr val="002060"/>
                </a:solidFill>
              </a:rPr>
              <a:t>LOCAL GOVERNMENT &amp; COMMUNITY DEVELOPMENT 		DEPARTMENT (LG&amp;CDD) </a:t>
            </a:r>
            <a:endParaRPr lang="en-US" sz="2000" b="1" dirty="0">
              <a:solidFill>
                <a:srgbClr val="002060"/>
              </a:solidFill>
            </a:endParaRPr>
          </a:p>
          <a:p>
            <a:pPr marL="0" indent="0">
              <a:buNone/>
            </a:pPr>
            <a:endParaRPr lang="en-US" sz="2000" b="1" dirty="0">
              <a:solidFill>
                <a:srgbClr val="002060"/>
              </a:solidFill>
            </a:endParaRPr>
          </a:p>
          <a:p>
            <a:pPr marL="0" indent="0">
              <a:buNone/>
            </a:pPr>
            <a:r>
              <a:rPr lang="en-US" sz="2000" b="1" dirty="0"/>
              <a:t>Consultant:</a:t>
            </a:r>
          </a:p>
          <a:p>
            <a:pPr marL="0" indent="0">
              <a:buNone/>
            </a:pPr>
            <a:r>
              <a:rPr lang="en-US" sz="2000" b="1" dirty="0">
                <a:solidFill>
                  <a:srgbClr val="002060"/>
                </a:solidFill>
              </a:rPr>
              <a:t> 	</a:t>
            </a:r>
          </a:p>
          <a:p>
            <a:pPr marL="0" indent="0">
              <a:buNone/>
            </a:pPr>
            <a:r>
              <a:rPr lang="en-US" sz="2000" b="1" dirty="0">
                <a:solidFill>
                  <a:srgbClr val="002060"/>
                </a:solidFill>
              </a:rPr>
              <a:t>		SKAFS Consultants Pvt Ltd </a:t>
            </a:r>
          </a:p>
          <a:p>
            <a:pPr marL="0" indent="0">
              <a:buNone/>
            </a:pPr>
            <a:endParaRPr lang="en-US" sz="2000" b="1" dirty="0"/>
          </a:p>
        </p:txBody>
      </p:sp>
      <p:sp>
        <p:nvSpPr>
          <p:cNvPr id="17" name="TextBox 16">
            <a:extLst>
              <a:ext uri="{FF2B5EF4-FFF2-40B4-BE49-F238E27FC236}">
                <a16:creationId xmlns:a16="http://schemas.microsoft.com/office/drawing/2014/main" id="{92F03149-AA72-163C-51D2-42105B49E38C}"/>
              </a:ext>
            </a:extLst>
          </p:cNvPr>
          <p:cNvSpPr txBox="1"/>
          <p:nvPr/>
        </p:nvSpPr>
        <p:spPr>
          <a:xfrm>
            <a:off x="9506499" y="6140180"/>
            <a:ext cx="2050908" cy="369332"/>
          </a:xfrm>
          <a:prstGeom prst="rect">
            <a:avLst/>
          </a:prstGeom>
          <a:noFill/>
        </p:spPr>
        <p:txBody>
          <a:bodyPr wrap="square">
            <a:spAutoFit/>
          </a:bodyPr>
          <a:lstStyle/>
          <a:p>
            <a:r>
              <a:rPr lang="en-US" sz="1800" dirty="0">
                <a:solidFill>
                  <a:srgbClr val="002060"/>
                </a:solidFill>
              </a:rPr>
              <a:t>Date: </a:t>
            </a:r>
            <a:r>
              <a:rPr lang="en-US" dirty="0">
                <a:solidFill>
                  <a:srgbClr val="002060"/>
                </a:solidFill>
              </a:rPr>
              <a:t>7 April , </a:t>
            </a:r>
            <a:r>
              <a:rPr lang="en-US" sz="1800" dirty="0">
                <a:solidFill>
                  <a:srgbClr val="002060"/>
                </a:solidFill>
              </a:rPr>
              <a:t>2026</a:t>
            </a:r>
          </a:p>
        </p:txBody>
      </p:sp>
      <p:pic>
        <p:nvPicPr>
          <p:cNvPr id="18" name="Picture 17">
            <a:extLst>
              <a:ext uri="{FF2B5EF4-FFF2-40B4-BE49-F238E27FC236}">
                <a16:creationId xmlns:a16="http://schemas.microsoft.com/office/drawing/2014/main" id="{CFABADC5-7B15-2B8E-3D69-3B73FDABBC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33099" y="5226372"/>
            <a:ext cx="838014" cy="838014"/>
          </a:xfrm>
          <a:prstGeom prst="rect">
            <a:avLst/>
          </a:prstGeom>
        </p:spPr>
      </p:pic>
      <p:pic>
        <p:nvPicPr>
          <p:cNvPr id="1026" name="Picture 2" descr="Punjab Local Govt Board Complex | Lahore">
            <a:extLst>
              <a:ext uri="{FF2B5EF4-FFF2-40B4-BE49-F238E27FC236}">
                <a16:creationId xmlns:a16="http://schemas.microsoft.com/office/drawing/2014/main" id="{71BF57D8-C349-BEC3-F64B-29125091016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5019" b="19621"/>
          <a:stretch>
            <a:fillRect/>
          </a:stretch>
        </p:blipFill>
        <p:spPr bwMode="auto">
          <a:xfrm>
            <a:off x="3090395" y="3539281"/>
            <a:ext cx="1277609" cy="1071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7132320" cy="502920"/>
          </a:xfrm>
          <a:prstGeom prst="rect">
            <a:avLst/>
          </a:prstGeom>
          <a:noFill/>
          <a:ln/>
        </p:spPr>
        <p:txBody>
          <a:bodyPr wrap="square" lIns="0" tIns="0" rIns="0" bIns="0" rtlCol="0" anchor="ctr"/>
          <a:lstStyle/>
          <a:p>
            <a:pPr marL="0" indent="0">
              <a:buNone/>
            </a:pPr>
            <a:r>
              <a:rPr lang="en-US" sz="2800" b="1" dirty="0">
                <a:solidFill>
                  <a:srgbClr val="103B66"/>
                </a:solidFill>
              </a:rPr>
              <a:t>Project Overview</a:t>
            </a:r>
            <a:endParaRPr lang="en-US" sz="2800" dirty="0"/>
          </a:p>
        </p:txBody>
      </p:sp>
      <p:sp>
        <p:nvSpPr>
          <p:cNvPr id="67" name="Rectangle 3">
            <a:extLst>
              <a:ext uri="{FF2B5EF4-FFF2-40B4-BE49-F238E27FC236}">
                <a16:creationId xmlns:a16="http://schemas.microsoft.com/office/drawing/2014/main" id="{50D33136-CD5C-9EBD-AD93-461169E10078}"/>
              </a:ext>
            </a:extLst>
          </p:cNvPr>
          <p:cNvSpPr>
            <a:spLocks noChangeArrowheads="1"/>
          </p:cNvSpPr>
          <p:nvPr/>
        </p:nvSpPr>
        <p:spPr bwMode="auto">
          <a:xfrm>
            <a:off x="593089" y="2149019"/>
            <a:ext cx="567649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sz="2000" dirty="0"/>
              <a:t>The Punjab Inclusive Cities Program (PICP) is a World Bank-funded initiative aimed at improving safely managed water, sanitation, and hygiene services, while strengthening the institutional and financial performance of selected urban local cities in Punjab.</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algn="just" eaLnBrk="0" fontAlgn="base" hangingPunct="0">
              <a:spcBef>
                <a:spcPct val="0"/>
              </a:spcBef>
              <a:spcAft>
                <a:spcPct val="0"/>
              </a:spcAft>
            </a:pPr>
            <a:r>
              <a:rPr lang="en-US" sz="2000" dirty="0"/>
              <a:t>This assignment covers </a:t>
            </a:r>
            <a:r>
              <a:rPr lang="en-US" sz="2000" b="1" dirty="0"/>
              <a:t>Independent Verification and Third-Party Monitoring</a:t>
            </a:r>
            <a:r>
              <a:rPr lang="en-US" sz="2000" dirty="0"/>
              <a:t> under PICP. The consultant will provide evidence-based assessment of annual results achieved by participating Municipal Committees, including compliance with institutional, environmental, and social requirements.</a:t>
            </a:r>
          </a:p>
          <a:p>
            <a:endParaRPr lang="en-US" sz="2000" dirty="0"/>
          </a:p>
        </p:txBody>
      </p:sp>
      <p:sp>
        <p:nvSpPr>
          <p:cNvPr id="68" name="Shape 1">
            <a:extLst>
              <a:ext uri="{FF2B5EF4-FFF2-40B4-BE49-F238E27FC236}">
                <a16:creationId xmlns:a16="http://schemas.microsoft.com/office/drawing/2014/main" id="{7F015D7C-C98F-953C-33FD-277A067AD794}"/>
              </a:ext>
            </a:extLst>
          </p:cNvPr>
          <p:cNvSpPr/>
          <p:nvPr/>
        </p:nvSpPr>
        <p:spPr>
          <a:xfrm>
            <a:off x="6602818" y="256032"/>
            <a:ext cx="5589181" cy="6309360"/>
          </a:xfrm>
          <a:prstGeom prst="rect">
            <a:avLst/>
          </a:prstGeom>
          <a:solidFill>
            <a:srgbClr val="103B66"/>
          </a:solidFill>
          <a:ln w="12700">
            <a:solidFill>
              <a:srgbClr val="103B66"/>
            </a:solidFill>
            <a:prstDash val="solid"/>
          </a:ln>
        </p:spPr>
        <p:txBody>
          <a:bodyPr/>
          <a:lstStyle/>
          <a:p>
            <a:endParaRPr lang="en-US" dirty="0"/>
          </a:p>
        </p:txBody>
      </p:sp>
      <p:sp>
        <p:nvSpPr>
          <p:cNvPr id="69" name="Shape 2">
            <a:extLst>
              <a:ext uri="{FF2B5EF4-FFF2-40B4-BE49-F238E27FC236}">
                <a16:creationId xmlns:a16="http://schemas.microsoft.com/office/drawing/2014/main" id="{A44A1519-55C8-55A0-2746-7D9D6BF8DB29}"/>
              </a:ext>
            </a:extLst>
          </p:cNvPr>
          <p:cNvSpPr/>
          <p:nvPr/>
        </p:nvSpPr>
        <p:spPr>
          <a:xfrm>
            <a:off x="6614141" y="3218253"/>
            <a:ext cx="5577840" cy="45720"/>
          </a:xfrm>
          <a:prstGeom prst="rect">
            <a:avLst/>
          </a:prstGeom>
          <a:solidFill>
            <a:srgbClr val="E3A008"/>
          </a:solidFill>
          <a:ln w="12700">
            <a:solidFill>
              <a:srgbClr val="E3A008"/>
            </a:solidFill>
            <a:prstDash val="solid"/>
          </a:ln>
        </p:spPr>
      </p:sp>
      <p:sp>
        <p:nvSpPr>
          <p:cNvPr id="70" name="Text 9">
            <a:extLst>
              <a:ext uri="{FF2B5EF4-FFF2-40B4-BE49-F238E27FC236}">
                <a16:creationId xmlns:a16="http://schemas.microsoft.com/office/drawing/2014/main" id="{C47A4684-7537-191C-858E-56C56516490C}"/>
              </a:ext>
            </a:extLst>
          </p:cNvPr>
          <p:cNvSpPr/>
          <p:nvPr/>
        </p:nvSpPr>
        <p:spPr>
          <a:xfrm>
            <a:off x="7122291" y="405145"/>
            <a:ext cx="1828800" cy="274320"/>
          </a:xfrm>
          <a:prstGeom prst="rect">
            <a:avLst/>
          </a:prstGeom>
          <a:noFill/>
          <a:ln/>
        </p:spPr>
        <p:txBody>
          <a:bodyPr wrap="square" lIns="0" tIns="0" rIns="0" bIns="0" rtlCol="0" anchor="ctr"/>
          <a:lstStyle/>
          <a:p>
            <a:pPr marL="0" indent="0">
              <a:buNone/>
            </a:pPr>
            <a:r>
              <a:rPr lang="en-US" b="1" dirty="0">
                <a:solidFill>
                  <a:srgbClr val="FFFFFF"/>
                </a:solidFill>
              </a:rPr>
              <a:t>MANDATE</a:t>
            </a:r>
            <a:endParaRPr lang="en-US" dirty="0"/>
          </a:p>
        </p:txBody>
      </p:sp>
      <p:sp>
        <p:nvSpPr>
          <p:cNvPr id="71" name="Text 13">
            <a:extLst>
              <a:ext uri="{FF2B5EF4-FFF2-40B4-BE49-F238E27FC236}">
                <a16:creationId xmlns:a16="http://schemas.microsoft.com/office/drawing/2014/main" id="{82489064-6AEC-6612-69D2-CFC350FB1CFA}"/>
              </a:ext>
            </a:extLst>
          </p:cNvPr>
          <p:cNvSpPr/>
          <p:nvPr/>
        </p:nvSpPr>
        <p:spPr>
          <a:xfrm>
            <a:off x="7915586" y="3483872"/>
            <a:ext cx="3536163" cy="206371"/>
          </a:xfrm>
          <a:prstGeom prst="rect">
            <a:avLst/>
          </a:prstGeom>
          <a:noFill/>
          <a:ln/>
        </p:spPr>
        <p:txBody>
          <a:bodyPr wrap="square" lIns="0" tIns="0" rIns="0" bIns="0" rtlCol="0" anchor="ctr"/>
          <a:lstStyle/>
          <a:p>
            <a:pPr marL="0" indent="0">
              <a:buNone/>
            </a:pPr>
            <a:r>
              <a:rPr lang="en-US" sz="1800" b="1" dirty="0">
                <a:solidFill>
                  <a:schemeClr val="bg1"/>
                </a:solidFill>
              </a:rPr>
              <a:t>Geographic coverage – 16 Cities </a:t>
            </a:r>
            <a:endParaRPr lang="en-US" sz="1800" dirty="0">
              <a:solidFill>
                <a:schemeClr val="bg1"/>
              </a:solidFill>
            </a:endParaRPr>
          </a:p>
        </p:txBody>
      </p:sp>
      <p:sp>
        <p:nvSpPr>
          <p:cNvPr id="4" name="Text 5">
            <a:extLst>
              <a:ext uri="{FF2B5EF4-FFF2-40B4-BE49-F238E27FC236}">
                <a16:creationId xmlns:a16="http://schemas.microsoft.com/office/drawing/2014/main" id="{E35FA441-2CCF-3780-0292-8F28899A1211}"/>
              </a:ext>
            </a:extLst>
          </p:cNvPr>
          <p:cNvSpPr/>
          <p:nvPr/>
        </p:nvSpPr>
        <p:spPr>
          <a:xfrm>
            <a:off x="6973521" y="779104"/>
            <a:ext cx="4859079" cy="2258031"/>
          </a:xfrm>
          <a:prstGeom prst="rect">
            <a:avLst/>
          </a:prstGeom>
          <a:noFill/>
          <a:ln/>
        </p:spPr>
        <p:txBody>
          <a:bodyPr wrap="square" lIns="254" tIns="254" rIns="254" bIns="254" rtlCol="0" anchor="ctr"/>
          <a:lstStyle/>
          <a:p>
            <a:pPr marL="177800" indent="-177800">
              <a:buSzPct val="100000"/>
              <a:buChar char="•"/>
            </a:pPr>
            <a:r>
              <a:rPr lang="en-US" sz="1600" dirty="0">
                <a:solidFill>
                  <a:schemeClr val="bg1"/>
                </a:solidFill>
              </a:rPr>
              <a:t>Independently verify annual achievement of all six DLIs (except year 1 for full IVA cycle).</a:t>
            </a:r>
          </a:p>
          <a:p>
            <a:pPr marL="177800" indent="-177800">
              <a:buSzPct val="100000"/>
              <a:buChar char="•"/>
            </a:pPr>
            <a:r>
              <a:rPr lang="en-US" sz="1600" dirty="0">
                <a:solidFill>
                  <a:schemeClr val="bg1"/>
                </a:solidFill>
              </a:rPr>
              <a:t>Assess annual performance of participating local governments against </a:t>
            </a:r>
            <a:r>
              <a:rPr lang="en-US" altLang="en-US" sz="1600" b="1" dirty="0">
                <a:solidFill>
                  <a:schemeClr val="bg1"/>
                </a:solidFill>
                <a:latin typeface="Arial" panose="020B0604020202020204" pitchFamily="34" charset="0"/>
              </a:rPr>
              <a:t>Minimum Access Conditions (MACs)</a:t>
            </a:r>
            <a:r>
              <a:rPr lang="en-US" altLang="en-US" sz="1600" dirty="0">
                <a:solidFill>
                  <a:schemeClr val="bg1"/>
                </a:solidFill>
                <a:latin typeface="Arial" panose="020B0604020202020204" pitchFamily="34" charset="0"/>
              </a:rPr>
              <a:t> and </a:t>
            </a:r>
            <a:r>
              <a:rPr lang="en-US" altLang="en-US" sz="1600" b="1" dirty="0">
                <a:solidFill>
                  <a:schemeClr val="bg1"/>
                </a:solidFill>
                <a:latin typeface="Arial" panose="020B0604020202020204" pitchFamily="34" charset="0"/>
              </a:rPr>
              <a:t>Performance Measures (PMs).</a:t>
            </a:r>
          </a:p>
          <a:p>
            <a:pPr marL="177800" indent="-177800">
              <a:buSzPct val="100000"/>
              <a:buChar char="•"/>
            </a:pPr>
            <a:r>
              <a:rPr lang="en-US" sz="1600" dirty="0">
                <a:solidFill>
                  <a:schemeClr val="bg1"/>
                </a:solidFill>
              </a:rPr>
              <a:t>Support transparent disbursement decisions through evidence-based verification.</a:t>
            </a:r>
          </a:p>
          <a:p>
            <a:pPr marL="177800" indent="-177800">
              <a:buSzPct val="100000"/>
              <a:buChar char="•"/>
            </a:pPr>
            <a:r>
              <a:rPr lang="en-US" sz="1600" dirty="0">
                <a:solidFill>
                  <a:schemeClr val="bg1"/>
                </a:solidFill>
              </a:rPr>
              <a:t>Third party monitoring of  environmental and social compliance under both PforR and IPF components.</a:t>
            </a:r>
          </a:p>
        </p:txBody>
      </p:sp>
      <p:sp>
        <p:nvSpPr>
          <p:cNvPr id="9" name="Shape 14">
            <a:extLst>
              <a:ext uri="{FF2B5EF4-FFF2-40B4-BE49-F238E27FC236}">
                <a16:creationId xmlns:a16="http://schemas.microsoft.com/office/drawing/2014/main" id="{0AD1E9F2-15EC-CD93-E50D-07434ECDCBE0}"/>
              </a:ext>
            </a:extLst>
          </p:cNvPr>
          <p:cNvSpPr/>
          <p:nvPr/>
        </p:nvSpPr>
        <p:spPr>
          <a:xfrm>
            <a:off x="6906501" y="3951122"/>
            <a:ext cx="1536192" cy="310896"/>
          </a:xfrm>
          <a:prstGeom prst="roundRect">
            <a:avLst>
              <a:gd name="adj" fmla="val 23529"/>
            </a:avLst>
          </a:prstGeom>
          <a:solidFill>
            <a:srgbClr val="FFFFFF"/>
          </a:solidFill>
          <a:ln w="12700">
            <a:solidFill>
              <a:srgbClr val="D7DEE7"/>
            </a:solidFill>
            <a:prstDash val="solid"/>
          </a:ln>
        </p:spPr>
      </p:sp>
      <p:sp>
        <p:nvSpPr>
          <p:cNvPr id="10" name="Text 15">
            <a:extLst>
              <a:ext uri="{FF2B5EF4-FFF2-40B4-BE49-F238E27FC236}">
                <a16:creationId xmlns:a16="http://schemas.microsoft.com/office/drawing/2014/main" id="{4A2A8AF7-73ED-61B0-A5D7-C42A127471B4}"/>
              </a:ext>
            </a:extLst>
          </p:cNvPr>
          <p:cNvSpPr/>
          <p:nvPr/>
        </p:nvSpPr>
        <p:spPr>
          <a:xfrm>
            <a:off x="6961365" y="4024274"/>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Ahmedpur East</a:t>
            </a:r>
            <a:endParaRPr lang="en-US" sz="1400" dirty="0"/>
          </a:p>
        </p:txBody>
      </p:sp>
      <p:sp>
        <p:nvSpPr>
          <p:cNvPr id="11" name="Shape 16">
            <a:extLst>
              <a:ext uri="{FF2B5EF4-FFF2-40B4-BE49-F238E27FC236}">
                <a16:creationId xmlns:a16="http://schemas.microsoft.com/office/drawing/2014/main" id="{8987C01B-9EDB-E3B2-2A0B-E0F6DE544F2F}"/>
              </a:ext>
            </a:extLst>
          </p:cNvPr>
          <p:cNvSpPr/>
          <p:nvPr/>
        </p:nvSpPr>
        <p:spPr>
          <a:xfrm>
            <a:off x="8625573" y="3951122"/>
            <a:ext cx="1536192" cy="310896"/>
          </a:xfrm>
          <a:prstGeom prst="roundRect">
            <a:avLst>
              <a:gd name="adj" fmla="val 23529"/>
            </a:avLst>
          </a:prstGeom>
          <a:solidFill>
            <a:srgbClr val="FFFFFF"/>
          </a:solidFill>
          <a:ln w="12700">
            <a:solidFill>
              <a:srgbClr val="D7DEE7"/>
            </a:solidFill>
            <a:prstDash val="solid"/>
          </a:ln>
        </p:spPr>
      </p:sp>
      <p:sp>
        <p:nvSpPr>
          <p:cNvPr id="12" name="Text 17">
            <a:extLst>
              <a:ext uri="{FF2B5EF4-FFF2-40B4-BE49-F238E27FC236}">
                <a16:creationId xmlns:a16="http://schemas.microsoft.com/office/drawing/2014/main" id="{D958DA73-D671-2393-A769-526FD7A98267}"/>
              </a:ext>
            </a:extLst>
          </p:cNvPr>
          <p:cNvSpPr/>
          <p:nvPr/>
        </p:nvSpPr>
        <p:spPr>
          <a:xfrm>
            <a:off x="8680437" y="4024274"/>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Arifwala</a:t>
            </a:r>
            <a:endParaRPr lang="en-US" sz="1400" dirty="0"/>
          </a:p>
        </p:txBody>
      </p:sp>
      <p:sp>
        <p:nvSpPr>
          <p:cNvPr id="13" name="Shape 18">
            <a:extLst>
              <a:ext uri="{FF2B5EF4-FFF2-40B4-BE49-F238E27FC236}">
                <a16:creationId xmlns:a16="http://schemas.microsoft.com/office/drawing/2014/main" id="{EBA182E3-637D-791F-7698-2E126CA7BD0E}"/>
              </a:ext>
            </a:extLst>
          </p:cNvPr>
          <p:cNvSpPr/>
          <p:nvPr/>
        </p:nvSpPr>
        <p:spPr>
          <a:xfrm>
            <a:off x="10344645" y="3951122"/>
            <a:ext cx="1536192" cy="310896"/>
          </a:xfrm>
          <a:prstGeom prst="roundRect">
            <a:avLst>
              <a:gd name="adj" fmla="val 23529"/>
            </a:avLst>
          </a:prstGeom>
          <a:solidFill>
            <a:srgbClr val="FFFFFF"/>
          </a:solidFill>
          <a:ln w="12700">
            <a:solidFill>
              <a:srgbClr val="D7DEE7"/>
            </a:solidFill>
            <a:prstDash val="solid"/>
          </a:ln>
        </p:spPr>
      </p:sp>
      <p:sp>
        <p:nvSpPr>
          <p:cNvPr id="14" name="Text 19">
            <a:extLst>
              <a:ext uri="{FF2B5EF4-FFF2-40B4-BE49-F238E27FC236}">
                <a16:creationId xmlns:a16="http://schemas.microsoft.com/office/drawing/2014/main" id="{6BD86D5F-DFF3-FB88-E6EE-8C3958687F56}"/>
              </a:ext>
            </a:extLst>
          </p:cNvPr>
          <p:cNvSpPr/>
          <p:nvPr/>
        </p:nvSpPr>
        <p:spPr>
          <a:xfrm>
            <a:off x="10399509" y="4024274"/>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Chakwal</a:t>
            </a:r>
            <a:endParaRPr lang="en-US" sz="1400" dirty="0"/>
          </a:p>
        </p:txBody>
      </p:sp>
      <p:sp>
        <p:nvSpPr>
          <p:cNvPr id="15" name="Shape 20">
            <a:extLst>
              <a:ext uri="{FF2B5EF4-FFF2-40B4-BE49-F238E27FC236}">
                <a16:creationId xmlns:a16="http://schemas.microsoft.com/office/drawing/2014/main" id="{1CF33619-E691-3384-11D6-6B12A33B8A69}"/>
              </a:ext>
            </a:extLst>
          </p:cNvPr>
          <p:cNvSpPr/>
          <p:nvPr/>
        </p:nvSpPr>
        <p:spPr>
          <a:xfrm>
            <a:off x="6906501" y="5920465"/>
            <a:ext cx="1536192" cy="310896"/>
          </a:xfrm>
          <a:prstGeom prst="roundRect">
            <a:avLst>
              <a:gd name="adj" fmla="val 23529"/>
            </a:avLst>
          </a:prstGeom>
          <a:solidFill>
            <a:srgbClr val="FFFFFF"/>
          </a:solidFill>
          <a:ln w="12700">
            <a:solidFill>
              <a:srgbClr val="D7DEE7"/>
            </a:solidFill>
            <a:prstDash val="solid"/>
          </a:ln>
        </p:spPr>
      </p:sp>
      <p:sp>
        <p:nvSpPr>
          <p:cNvPr id="16" name="Text 21">
            <a:extLst>
              <a:ext uri="{FF2B5EF4-FFF2-40B4-BE49-F238E27FC236}">
                <a16:creationId xmlns:a16="http://schemas.microsoft.com/office/drawing/2014/main" id="{534B6841-37F5-87BD-30CD-CCE3BD3FA06C}"/>
              </a:ext>
            </a:extLst>
          </p:cNvPr>
          <p:cNvSpPr/>
          <p:nvPr/>
        </p:nvSpPr>
        <p:spPr>
          <a:xfrm>
            <a:off x="6961365" y="5993617"/>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Chiniot</a:t>
            </a:r>
            <a:endParaRPr lang="en-US" sz="1400" dirty="0"/>
          </a:p>
        </p:txBody>
      </p:sp>
      <p:sp>
        <p:nvSpPr>
          <p:cNvPr id="17" name="Shape 22">
            <a:extLst>
              <a:ext uri="{FF2B5EF4-FFF2-40B4-BE49-F238E27FC236}">
                <a16:creationId xmlns:a16="http://schemas.microsoft.com/office/drawing/2014/main" id="{5717D90F-D9DD-D571-6A2F-58F77C110151}"/>
              </a:ext>
            </a:extLst>
          </p:cNvPr>
          <p:cNvSpPr/>
          <p:nvPr/>
        </p:nvSpPr>
        <p:spPr>
          <a:xfrm>
            <a:off x="6906501" y="4426610"/>
            <a:ext cx="1536192" cy="310896"/>
          </a:xfrm>
          <a:prstGeom prst="roundRect">
            <a:avLst>
              <a:gd name="adj" fmla="val 23529"/>
            </a:avLst>
          </a:prstGeom>
          <a:solidFill>
            <a:srgbClr val="F2F6FA"/>
          </a:solidFill>
          <a:ln w="12700">
            <a:solidFill>
              <a:srgbClr val="D7DEE7"/>
            </a:solidFill>
            <a:prstDash val="solid"/>
          </a:ln>
        </p:spPr>
      </p:sp>
      <p:sp>
        <p:nvSpPr>
          <p:cNvPr id="18" name="Text 23">
            <a:extLst>
              <a:ext uri="{FF2B5EF4-FFF2-40B4-BE49-F238E27FC236}">
                <a16:creationId xmlns:a16="http://schemas.microsoft.com/office/drawing/2014/main" id="{0190A8AE-62C0-8FE5-0BE6-346DEB551C1B}"/>
              </a:ext>
            </a:extLst>
          </p:cNvPr>
          <p:cNvSpPr/>
          <p:nvPr/>
        </p:nvSpPr>
        <p:spPr>
          <a:xfrm>
            <a:off x="6961365" y="4499762"/>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Chishtian</a:t>
            </a:r>
            <a:endParaRPr lang="en-US" sz="1400" dirty="0"/>
          </a:p>
        </p:txBody>
      </p:sp>
      <p:sp>
        <p:nvSpPr>
          <p:cNvPr id="19" name="Shape 24">
            <a:extLst>
              <a:ext uri="{FF2B5EF4-FFF2-40B4-BE49-F238E27FC236}">
                <a16:creationId xmlns:a16="http://schemas.microsoft.com/office/drawing/2014/main" id="{BFE69A5A-CD5C-9F40-5EF2-5C5617820EB5}"/>
              </a:ext>
            </a:extLst>
          </p:cNvPr>
          <p:cNvSpPr/>
          <p:nvPr/>
        </p:nvSpPr>
        <p:spPr>
          <a:xfrm>
            <a:off x="8625573" y="4426610"/>
            <a:ext cx="1536192" cy="310896"/>
          </a:xfrm>
          <a:prstGeom prst="roundRect">
            <a:avLst>
              <a:gd name="adj" fmla="val 23529"/>
            </a:avLst>
          </a:prstGeom>
          <a:solidFill>
            <a:srgbClr val="F2F6FA"/>
          </a:solidFill>
          <a:ln w="12700">
            <a:solidFill>
              <a:srgbClr val="D7DEE7"/>
            </a:solidFill>
            <a:prstDash val="solid"/>
          </a:ln>
        </p:spPr>
      </p:sp>
      <p:sp>
        <p:nvSpPr>
          <p:cNvPr id="20" name="Text 25">
            <a:extLst>
              <a:ext uri="{FF2B5EF4-FFF2-40B4-BE49-F238E27FC236}">
                <a16:creationId xmlns:a16="http://schemas.microsoft.com/office/drawing/2014/main" id="{3BAE032D-A304-8CE7-7D79-65D1EE17CD92}"/>
              </a:ext>
            </a:extLst>
          </p:cNvPr>
          <p:cNvSpPr/>
          <p:nvPr/>
        </p:nvSpPr>
        <p:spPr>
          <a:xfrm>
            <a:off x="8680437" y="4499762"/>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Haroonabad</a:t>
            </a:r>
            <a:endParaRPr lang="en-US" sz="1400" dirty="0"/>
          </a:p>
        </p:txBody>
      </p:sp>
      <p:sp>
        <p:nvSpPr>
          <p:cNvPr id="21" name="Shape 26">
            <a:extLst>
              <a:ext uri="{FF2B5EF4-FFF2-40B4-BE49-F238E27FC236}">
                <a16:creationId xmlns:a16="http://schemas.microsoft.com/office/drawing/2014/main" id="{7C6609C2-4BA9-3738-315C-A0CDD3E80B69}"/>
              </a:ext>
            </a:extLst>
          </p:cNvPr>
          <p:cNvSpPr/>
          <p:nvPr/>
        </p:nvSpPr>
        <p:spPr>
          <a:xfrm>
            <a:off x="10344645" y="4426610"/>
            <a:ext cx="1536192" cy="310896"/>
          </a:xfrm>
          <a:prstGeom prst="roundRect">
            <a:avLst>
              <a:gd name="adj" fmla="val 23529"/>
            </a:avLst>
          </a:prstGeom>
          <a:solidFill>
            <a:srgbClr val="F2F6FA"/>
          </a:solidFill>
          <a:ln w="12700">
            <a:solidFill>
              <a:srgbClr val="D7DEE7"/>
            </a:solidFill>
            <a:prstDash val="solid"/>
          </a:ln>
        </p:spPr>
      </p:sp>
      <p:sp>
        <p:nvSpPr>
          <p:cNvPr id="22" name="Text 27">
            <a:extLst>
              <a:ext uri="{FF2B5EF4-FFF2-40B4-BE49-F238E27FC236}">
                <a16:creationId xmlns:a16="http://schemas.microsoft.com/office/drawing/2014/main" id="{94D05C7C-2F71-634B-B1D0-FCA502654D81}"/>
              </a:ext>
            </a:extLst>
          </p:cNvPr>
          <p:cNvSpPr/>
          <p:nvPr/>
        </p:nvSpPr>
        <p:spPr>
          <a:xfrm>
            <a:off x="10399509" y="4499762"/>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Jampur</a:t>
            </a:r>
            <a:endParaRPr lang="en-US" sz="1400" dirty="0"/>
          </a:p>
        </p:txBody>
      </p:sp>
      <p:sp>
        <p:nvSpPr>
          <p:cNvPr id="23" name="Shape 28">
            <a:extLst>
              <a:ext uri="{FF2B5EF4-FFF2-40B4-BE49-F238E27FC236}">
                <a16:creationId xmlns:a16="http://schemas.microsoft.com/office/drawing/2014/main" id="{3E20B519-0B06-9655-31AF-2EA37E3CC82D}"/>
              </a:ext>
            </a:extLst>
          </p:cNvPr>
          <p:cNvSpPr/>
          <p:nvPr/>
        </p:nvSpPr>
        <p:spPr>
          <a:xfrm>
            <a:off x="8625573" y="5924394"/>
            <a:ext cx="1536192" cy="310896"/>
          </a:xfrm>
          <a:prstGeom prst="roundRect">
            <a:avLst>
              <a:gd name="adj" fmla="val 23529"/>
            </a:avLst>
          </a:prstGeom>
          <a:solidFill>
            <a:srgbClr val="F2F6FA"/>
          </a:solidFill>
          <a:ln w="12700">
            <a:solidFill>
              <a:srgbClr val="D7DEE7"/>
            </a:solidFill>
            <a:prstDash val="solid"/>
          </a:ln>
        </p:spPr>
      </p:sp>
      <p:sp>
        <p:nvSpPr>
          <p:cNvPr id="24" name="Text 29">
            <a:extLst>
              <a:ext uri="{FF2B5EF4-FFF2-40B4-BE49-F238E27FC236}">
                <a16:creationId xmlns:a16="http://schemas.microsoft.com/office/drawing/2014/main" id="{9ED2C0B8-0365-98C6-FBE4-D40174436321}"/>
              </a:ext>
            </a:extLst>
          </p:cNvPr>
          <p:cNvSpPr/>
          <p:nvPr/>
        </p:nvSpPr>
        <p:spPr>
          <a:xfrm>
            <a:off x="8680437" y="5997546"/>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Jatoi</a:t>
            </a:r>
            <a:endParaRPr lang="en-US" sz="1400" dirty="0"/>
          </a:p>
        </p:txBody>
      </p:sp>
      <p:sp>
        <p:nvSpPr>
          <p:cNvPr id="25" name="Shape 30">
            <a:extLst>
              <a:ext uri="{FF2B5EF4-FFF2-40B4-BE49-F238E27FC236}">
                <a16:creationId xmlns:a16="http://schemas.microsoft.com/office/drawing/2014/main" id="{3C4C43EF-A127-9D5C-F42A-D0EEE09B3D56}"/>
              </a:ext>
            </a:extLst>
          </p:cNvPr>
          <p:cNvSpPr/>
          <p:nvPr/>
        </p:nvSpPr>
        <p:spPr>
          <a:xfrm>
            <a:off x="6906501" y="4902098"/>
            <a:ext cx="1536192" cy="310896"/>
          </a:xfrm>
          <a:prstGeom prst="roundRect">
            <a:avLst>
              <a:gd name="adj" fmla="val 23529"/>
            </a:avLst>
          </a:prstGeom>
          <a:solidFill>
            <a:srgbClr val="FFFFFF"/>
          </a:solidFill>
          <a:ln w="12700">
            <a:solidFill>
              <a:srgbClr val="D7DEE7"/>
            </a:solidFill>
            <a:prstDash val="solid"/>
          </a:ln>
        </p:spPr>
      </p:sp>
      <p:sp>
        <p:nvSpPr>
          <p:cNvPr id="26" name="Text 31">
            <a:extLst>
              <a:ext uri="{FF2B5EF4-FFF2-40B4-BE49-F238E27FC236}">
                <a16:creationId xmlns:a16="http://schemas.microsoft.com/office/drawing/2014/main" id="{709A2A0F-4115-42F2-7140-D5E73E8B32B4}"/>
              </a:ext>
            </a:extLst>
          </p:cNvPr>
          <p:cNvSpPr/>
          <p:nvPr/>
        </p:nvSpPr>
        <p:spPr>
          <a:xfrm>
            <a:off x="6961365" y="4975250"/>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Kasur</a:t>
            </a:r>
            <a:endParaRPr lang="en-US" sz="1400" dirty="0"/>
          </a:p>
        </p:txBody>
      </p:sp>
      <p:sp>
        <p:nvSpPr>
          <p:cNvPr id="27" name="Shape 32">
            <a:extLst>
              <a:ext uri="{FF2B5EF4-FFF2-40B4-BE49-F238E27FC236}">
                <a16:creationId xmlns:a16="http://schemas.microsoft.com/office/drawing/2014/main" id="{5C2F5C72-E539-23A0-38B3-D8D06217332C}"/>
              </a:ext>
            </a:extLst>
          </p:cNvPr>
          <p:cNvSpPr/>
          <p:nvPr/>
        </p:nvSpPr>
        <p:spPr>
          <a:xfrm>
            <a:off x="8625573" y="4902098"/>
            <a:ext cx="1536192" cy="310896"/>
          </a:xfrm>
          <a:prstGeom prst="roundRect">
            <a:avLst>
              <a:gd name="adj" fmla="val 23529"/>
            </a:avLst>
          </a:prstGeom>
          <a:solidFill>
            <a:srgbClr val="FFFFFF"/>
          </a:solidFill>
          <a:ln w="12700">
            <a:solidFill>
              <a:srgbClr val="D7DEE7"/>
            </a:solidFill>
            <a:prstDash val="solid"/>
          </a:ln>
        </p:spPr>
      </p:sp>
      <p:sp>
        <p:nvSpPr>
          <p:cNvPr id="28" name="Text 33">
            <a:extLst>
              <a:ext uri="{FF2B5EF4-FFF2-40B4-BE49-F238E27FC236}">
                <a16:creationId xmlns:a16="http://schemas.microsoft.com/office/drawing/2014/main" id="{D60BF639-DC12-A299-537D-B4C0B6EF2DCF}"/>
              </a:ext>
            </a:extLst>
          </p:cNvPr>
          <p:cNvSpPr/>
          <p:nvPr/>
        </p:nvSpPr>
        <p:spPr>
          <a:xfrm>
            <a:off x="8680437" y="4975250"/>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Khanpur</a:t>
            </a:r>
            <a:endParaRPr lang="en-US" sz="1400" dirty="0"/>
          </a:p>
        </p:txBody>
      </p:sp>
      <p:sp>
        <p:nvSpPr>
          <p:cNvPr id="29" name="Shape 34">
            <a:extLst>
              <a:ext uri="{FF2B5EF4-FFF2-40B4-BE49-F238E27FC236}">
                <a16:creationId xmlns:a16="http://schemas.microsoft.com/office/drawing/2014/main" id="{01A0F553-6575-BBCC-A3C5-864898ADE9E6}"/>
              </a:ext>
            </a:extLst>
          </p:cNvPr>
          <p:cNvSpPr/>
          <p:nvPr/>
        </p:nvSpPr>
        <p:spPr>
          <a:xfrm>
            <a:off x="10344645" y="4902098"/>
            <a:ext cx="1536192" cy="310896"/>
          </a:xfrm>
          <a:prstGeom prst="roundRect">
            <a:avLst>
              <a:gd name="adj" fmla="val 23529"/>
            </a:avLst>
          </a:prstGeom>
          <a:solidFill>
            <a:srgbClr val="FFFFFF"/>
          </a:solidFill>
          <a:ln w="12700">
            <a:solidFill>
              <a:srgbClr val="D7DEE7"/>
            </a:solidFill>
            <a:prstDash val="solid"/>
          </a:ln>
        </p:spPr>
      </p:sp>
      <p:sp>
        <p:nvSpPr>
          <p:cNvPr id="30" name="Text 35">
            <a:extLst>
              <a:ext uri="{FF2B5EF4-FFF2-40B4-BE49-F238E27FC236}">
                <a16:creationId xmlns:a16="http://schemas.microsoft.com/office/drawing/2014/main" id="{39269F00-A8FF-D84B-CD9D-7752B0E229CE}"/>
              </a:ext>
            </a:extLst>
          </p:cNvPr>
          <p:cNvSpPr/>
          <p:nvPr/>
        </p:nvSpPr>
        <p:spPr>
          <a:xfrm>
            <a:off x="10399509" y="4975250"/>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Mandi Bahauddin</a:t>
            </a:r>
            <a:endParaRPr lang="en-US" sz="1400" dirty="0"/>
          </a:p>
        </p:txBody>
      </p:sp>
      <p:sp>
        <p:nvSpPr>
          <p:cNvPr id="31" name="Shape 36">
            <a:extLst>
              <a:ext uri="{FF2B5EF4-FFF2-40B4-BE49-F238E27FC236}">
                <a16:creationId xmlns:a16="http://schemas.microsoft.com/office/drawing/2014/main" id="{59E5E531-80CE-780F-578D-5B24899EFF03}"/>
              </a:ext>
            </a:extLst>
          </p:cNvPr>
          <p:cNvSpPr/>
          <p:nvPr/>
        </p:nvSpPr>
        <p:spPr>
          <a:xfrm>
            <a:off x="10368436" y="5924394"/>
            <a:ext cx="1536192" cy="310896"/>
          </a:xfrm>
          <a:prstGeom prst="roundRect">
            <a:avLst>
              <a:gd name="adj" fmla="val 23529"/>
            </a:avLst>
          </a:prstGeom>
          <a:solidFill>
            <a:srgbClr val="FFFFFF"/>
          </a:solidFill>
          <a:ln w="12700">
            <a:solidFill>
              <a:srgbClr val="D7DEE7"/>
            </a:solidFill>
            <a:prstDash val="solid"/>
          </a:ln>
        </p:spPr>
      </p:sp>
      <p:sp>
        <p:nvSpPr>
          <p:cNvPr id="32" name="Text 37">
            <a:extLst>
              <a:ext uri="{FF2B5EF4-FFF2-40B4-BE49-F238E27FC236}">
                <a16:creationId xmlns:a16="http://schemas.microsoft.com/office/drawing/2014/main" id="{32E19436-3368-B445-E6B0-3A819C1C782F}"/>
              </a:ext>
            </a:extLst>
          </p:cNvPr>
          <p:cNvSpPr/>
          <p:nvPr/>
        </p:nvSpPr>
        <p:spPr>
          <a:xfrm>
            <a:off x="10423300" y="5997546"/>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Pakpattan</a:t>
            </a:r>
            <a:endParaRPr lang="en-US" sz="1400" dirty="0"/>
          </a:p>
        </p:txBody>
      </p:sp>
      <p:sp>
        <p:nvSpPr>
          <p:cNvPr id="33" name="Shape 38">
            <a:extLst>
              <a:ext uri="{FF2B5EF4-FFF2-40B4-BE49-F238E27FC236}">
                <a16:creationId xmlns:a16="http://schemas.microsoft.com/office/drawing/2014/main" id="{7033E22C-5FD6-B643-0D52-55D96322A1AB}"/>
              </a:ext>
            </a:extLst>
          </p:cNvPr>
          <p:cNvSpPr/>
          <p:nvPr/>
        </p:nvSpPr>
        <p:spPr>
          <a:xfrm>
            <a:off x="6906501" y="5377586"/>
            <a:ext cx="1536192" cy="310896"/>
          </a:xfrm>
          <a:prstGeom prst="roundRect">
            <a:avLst>
              <a:gd name="adj" fmla="val 23529"/>
            </a:avLst>
          </a:prstGeom>
          <a:solidFill>
            <a:srgbClr val="F2F6FA"/>
          </a:solidFill>
          <a:ln w="12700">
            <a:solidFill>
              <a:srgbClr val="D7DEE7"/>
            </a:solidFill>
            <a:prstDash val="solid"/>
          </a:ln>
        </p:spPr>
      </p:sp>
      <p:sp>
        <p:nvSpPr>
          <p:cNvPr id="34" name="Text 39">
            <a:extLst>
              <a:ext uri="{FF2B5EF4-FFF2-40B4-BE49-F238E27FC236}">
                <a16:creationId xmlns:a16="http://schemas.microsoft.com/office/drawing/2014/main" id="{87770138-62A4-90E6-1EE7-1F6D50252A0C}"/>
              </a:ext>
            </a:extLst>
          </p:cNvPr>
          <p:cNvSpPr/>
          <p:nvPr/>
        </p:nvSpPr>
        <p:spPr>
          <a:xfrm>
            <a:off x="6961365" y="5450738"/>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Rajanpur</a:t>
            </a:r>
            <a:endParaRPr lang="en-US" sz="1400" dirty="0"/>
          </a:p>
        </p:txBody>
      </p:sp>
      <p:sp>
        <p:nvSpPr>
          <p:cNvPr id="35" name="Shape 40">
            <a:extLst>
              <a:ext uri="{FF2B5EF4-FFF2-40B4-BE49-F238E27FC236}">
                <a16:creationId xmlns:a16="http://schemas.microsoft.com/office/drawing/2014/main" id="{4693BEA4-1A7B-5B12-91DA-EE645D6F695B}"/>
              </a:ext>
            </a:extLst>
          </p:cNvPr>
          <p:cNvSpPr/>
          <p:nvPr/>
        </p:nvSpPr>
        <p:spPr>
          <a:xfrm>
            <a:off x="8625573" y="5377586"/>
            <a:ext cx="1536192" cy="310896"/>
          </a:xfrm>
          <a:prstGeom prst="roundRect">
            <a:avLst>
              <a:gd name="adj" fmla="val 23529"/>
            </a:avLst>
          </a:prstGeom>
          <a:solidFill>
            <a:srgbClr val="F2F6FA"/>
          </a:solidFill>
          <a:ln w="12700">
            <a:solidFill>
              <a:srgbClr val="D7DEE7"/>
            </a:solidFill>
            <a:prstDash val="solid"/>
          </a:ln>
        </p:spPr>
      </p:sp>
      <p:sp>
        <p:nvSpPr>
          <p:cNvPr id="36" name="Text 41">
            <a:extLst>
              <a:ext uri="{FF2B5EF4-FFF2-40B4-BE49-F238E27FC236}">
                <a16:creationId xmlns:a16="http://schemas.microsoft.com/office/drawing/2014/main" id="{FCEB7CDC-69EB-C727-A32F-D01C79BF3EC2}"/>
              </a:ext>
            </a:extLst>
          </p:cNvPr>
          <p:cNvSpPr/>
          <p:nvPr/>
        </p:nvSpPr>
        <p:spPr>
          <a:xfrm>
            <a:off x="8680437" y="5450738"/>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Sadiqabad</a:t>
            </a:r>
            <a:endParaRPr lang="en-US" sz="1400" dirty="0"/>
          </a:p>
        </p:txBody>
      </p:sp>
      <p:sp>
        <p:nvSpPr>
          <p:cNvPr id="37" name="Shape 42">
            <a:extLst>
              <a:ext uri="{FF2B5EF4-FFF2-40B4-BE49-F238E27FC236}">
                <a16:creationId xmlns:a16="http://schemas.microsoft.com/office/drawing/2014/main" id="{720F6F56-2293-67E8-84F7-6AC9D71C3348}"/>
              </a:ext>
            </a:extLst>
          </p:cNvPr>
          <p:cNvSpPr/>
          <p:nvPr/>
        </p:nvSpPr>
        <p:spPr>
          <a:xfrm>
            <a:off x="10344645" y="5377586"/>
            <a:ext cx="1536192" cy="310896"/>
          </a:xfrm>
          <a:prstGeom prst="roundRect">
            <a:avLst>
              <a:gd name="adj" fmla="val 23529"/>
            </a:avLst>
          </a:prstGeom>
          <a:solidFill>
            <a:srgbClr val="F2F6FA"/>
          </a:solidFill>
          <a:ln w="12700">
            <a:solidFill>
              <a:srgbClr val="D7DEE7"/>
            </a:solidFill>
            <a:prstDash val="solid"/>
          </a:ln>
        </p:spPr>
      </p:sp>
      <p:sp>
        <p:nvSpPr>
          <p:cNvPr id="38" name="Text 43">
            <a:extLst>
              <a:ext uri="{FF2B5EF4-FFF2-40B4-BE49-F238E27FC236}">
                <a16:creationId xmlns:a16="http://schemas.microsoft.com/office/drawing/2014/main" id="{5F5A893F-4B01-ABE8-FA4C-3F2D5F31E732}"/>
              </a:ext>
            </a:extLst>
          </p:cNvPr>
          <p:cNvSpPr/>
          <p:nvPr/>
        </p:nvSpPr>
        <p:spPr>
          <a:xfrm>
            <a:off x="10399509" y="5450738"/>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Samundri</a:t>
            </a:r>
            <a:endParaRPr lang="en-US" sz="1400" dirty="0"/>
          </a:p>
        </p:txBody>
      </p:sp>
      <p:sp>
        <p:nvSpPr>
          <p:cNvPr id="39" name="Shape 44">
            <a:extLst>
              <a:ext uri="{FF2B5EF4-FFF2-40B4-BE49-F238E27FC236}">
                <a16:creationId xmlns:a16="http://schemas.microsoft.com/office/drawing/2014/main" id="{6A70802D-1906-88A6-AD57-273A0F418E92}"/>
              </a:ext>
            </a:extLst>
          </p:cNvPr>
          <p:cNvSpPr/>
          <p:nvPr/>
        </p:nvSpPr>
        <p:spPr>
          <a:xfrm>
            <a:off x="8625573" y="6409944"/>
            <a:ext cx="1536192" cy="310896"/>
          </a:xfrm>
          <a:prstGeom prst="roundRect">
            <a:avLst>
              <a:gd name="adj" fmla="val 23529"/>
            </a:avLst>
          </a:prstGeom>
          <a:solidFill>
            <a:srgbClr val="F2F6FA"/>
          </a:solidFill>
          <a:ln w="12700">
            <a:solidFill>
              <a:srgbClr val="D7DEE7"/>
            </a:solidFill>
            <a:prstDash val="solid"/>
          </a:ln>
        </p:spPr>
      </p:sp>
      <p:sp>
        <p:nvSpPr>
          <p:cNvPr id="40" name="Text 45">
            <a:extLst>
              <a:ext uri="{FF2B5EF4-FFF2-40B4-BE49-F238E27FC236}">
                <a16:creationId xmlns:a16="http://schemas.microsoft.com/office/drawing/2014/main" id="{F7F878E4-BFD7-A6AA-19E1-008EE60C71FE}"/>
              </a:ext>
            </a:extLst>
          </p:cNvPr>
          <p:cNvSpPr/>
          <p:nvPr/>
        </p:nvSpPr>
        <p:spPr>
          <a:xfrm>
            <a:off x="8680437" y="6483096"/>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Shujabad</a:t>
            </a:r>
            <a:endParaRPr lang="en-US" sz="1400" dirty="0"/>
          </a:p>
        </p:txBody>
      </p:sp>
      <p:sp>
        <p:nvSpPr>
          <p:cNvPr id="42" name="TextBox 41">
            <a:extLst>
              <a:ext uri="{FF2B5EF4-FFF2-40B4-BE49-F238E27FC236}">
                <a16:creationId xmlns:a16="http://schemas.microsoft.com/office/drawing/2014/main" id="{22B62A06-3C41-F529-387A-26C3C5BE3364}"/>
              </a:ext>
            </a:extLst>
          </p:cNvPr>
          <p:cNvSpPr txBox="1"/>
          <p:nvPr/>
        </p:nvSpPr>
        <p:spPr>
          <a:xfrm>
            <a:off x="548640" y="932307"/>
            <a:ext cx="5617611" cy="1323439"/>
          </a:xfrm>
          <a:prstGeom prst="rect">
            <a:avLst/>
          </a:prstGeom>
          <a:noFill/>
        </p:spPr>
        <p:txBody>
          <a:bodyPr wrap="square">
            <a:spAutoFit/>
          </a:bodyPr>
          <a:lstStyle/>
          <a:p>
            <a:pPr marL="0" indent="0" algn="just">
              <a:buNone/>
            </a:pPr>
            <a:r>
              <a:rPr lang="en-US" sz="2000" dirty="0"/>
              <a:t>Urban local governments face service delivery, financing, institutional, and climate-related gaps—especially in WASH, SWM, revenue mobilization, and governance.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39" y="411480"/>
            <a:ext cx="9233313" cy="731520"/>
          </a:xfrm>
          <a:prstGeom prst="rect">
            <a:avLst/>
          </a:prstGeom>
          <a:noFill/>
          <a:ln/>
        </p:spPr>
        <p:txBody>
          <a:bodyPr wrap="square" lIns="0" tIns="0" rIns="0" bIns="0" rtlCol="0" anchor="ctr"/>
          <a:lstStyle/>
          <a:p>
            <a:pPr marL="0" indent="0">
              <a:buNone/>
            </a:pPr>
            <a:r>
              <a:rPr lang="en-US" sz="2800" b="1" dirty="0">
                <a:solidFill>
                  <a:srgbClr val="103B66"/>
                </a:solidFill>
              </a:rPr>
              <a:t>Guiding Principles of the Technical Approach</a:t>
            </a:r>
            <a:endParaRPr lang="en-US" sz="2800" dirty="0"/>
          </a:p>
        </p:txBody>
      </p:sp>
      <p:sp>
        <p:nvSpPr>
          <p:cNvPr id="3" name="Shape 1"/>
          <p:cNvSpPr/>
          <p:nvPr/>
        </p:nvSpPr>
        <p:spPr>
          <a:xfrm>
            <a:off x="685800" y="1371600"/>
            <a:ext cx="3429000" cy="1600200"/>
          </a:xfrm>
          <a:prstGeom prst="roundRect">
            <a:avLst>
              <a:gd name="adj" fmla="val 4571"/>
            </a:avLst>
          </a:prstGeom>
          <a:solidFill>
            <a:srgbClr val="FFFFFF"/>
          </a:solidFill>
          <a:ln w="12700">
            <a:solidFill>
              <a:srgbClr val="D7DEE7"/>
            </a:solidFill>
            <a:prstDash val="solid"/>
          </a:ln>
          <a:effectLst>
            <a:outerShdw blurRad="12700" dist="6350" dir="2700000" algn="bl" rotWithShape="0">
              <a:srgbClr val="000000">
                <a:alpha val="12000"/>
              </a:srgbClr>
            </a:outerShdw>
          </a:effectLst>
        </p:spPr>
      </p:sp>
      <p:sp>
        <p:nvSpPr>
          <p:cNvPr id="4" name="Shape 2"/>
          <p:cNvSpPr/>
          <p:nvPr/>
        </p:nvSpPr>
        <p:spPr>
          <a:xfrm>
            <a:off x="850392" y="1536192"/>
            <a:ext cx="384048" cy="384048"/>
          </a:xfrm>
          <a:prstGeom prst="roundRect">
            <a:avLst>
              <a:gd name="adj" fmla="val 19048"/>
            </a:avLst>
          </a:prstGeom>
          <a:solidFill>
            <a:srgbClr val="1F6FB2"/>
          </a:solidFill>
          <a:ln w="12700">
            <a:solidFill>
              <a:srgbClr val="1F6FB2"/>
            </a:solidFill>
            <a:prstDash val="solid"/>
          </a:ln>
        </p:spPr>
      </p:sp>
      <p:sp>
        <p:nvSpPr>
          <p:cNvPr id="5" name="Text 3"/>
          <p:cNvSpPr/>
          <p:nvPr/>
        </p:nvSpPr>
        <p:spPr>
          <a:xfrm>
            <a:off x="850392" y="1618488"/>
            <a:ext cx="384048" cy="109728"/>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6" name="Text 4"/>
          <p:cNvSpPr/>
          <p:nvPr/>
        </p:nvSpPr>
        <p:spPr>
          <a:xfrm>
            <a:off x="1344168" y="1536192"/>
            <a:ext cx="2560320" cy="256032"/>
          </a:xfrm>
          <a:prstGeom prst="rect">
            <a:avLst/>
          </a:prstGeom>
          <a:noFill/>
          <a:ln/>
        </p:spPr>
        <p:txBody>
          <a:bodyPr wrap="square" lIns="0" tIns="0" rIns="0" bIns="0" rtlCol="0" anchor="ctr"/>
          <a:lstStyle/>
          <a:p>
            <a:pPr marL="0" indent="0">
              <a:buNone/>
            </a:pPr>
            <a:r>
              <a:rPr lang="en-US" sz="1550" b="1" dirty="0">
                <a:solidFill>
                  <a:srgbClr val="103B66"/>
                </a:solidFill>
              </a:rPr>
              <a:t>Independence &amp; Objectivity</a:t>
            </a:r>
            <a:endParaRPr lang="en-US" sz="1550" dirty="0"/>
          </a:p>
        </p:txBody>
      </p:sp>
      <p:sp>
        <p:nvSpPr>
          <p:cNvPr id="7" name="Text 5"/>
          <p:cNvSpPr/>
          <p:nvPr/>
        </p:nvSpPr>
        <p:spPr>
          <a:xfrm>
            <a:off x="850392" y="1993392"/>
            <a:ext cx="3090672" cy="749808"/>
          </a:xfrm>
          <a:prstGeom prst="rect">
            <a:avLst/>
          </a:prstGeom>
          <a:noFill/>
          <a:ln/>
        </p:spPr>
        <p:txBody>
          <a:bodyPr wrap="square" lIns="254" tIns="254" rIns="254" bIns="254" rtlCol="0" anchor="ctr"/>
          <a:lstStyle/>
          <a:p>
            <a:pPr marL="0" indent="0" algn="just">
              <a:buNone/>
            </a:pPr>
            <a:r>
              <a:rPr lang="en-US" sz="1600" dirty="0">
                <a:solidFill>
                  <a:srgbClr val="243447"/>
                </a:solidFill>
              </a:rPr>
              <a:t>Standardized protocols, documented procedures, expert review, and impartial conclusions.</a:t>
            </a:r>
            <a:endParaRPr lang="en-US" sz="1600" dirty="0"/>
          </a:p>
        </p:txBody>
      </p:sp>
      <p:sp>
        <p:nvSpPr>
          <p:cNvPr id="8" name="Shape 6"/>
          <p:cNvSpPr/>
          <p:nvPr/>
        </p:nvSpPr>
        <p:spPr>
          <a:xfrm>
            <a:off x="4480560" y="1371600"/>
            <a:ext cx="3429000" cy="1600200"/>
          </a:xfrm>
          <a:prstGeom prst="roundRect">
            <a:avLst>
              <a:gd name="adj" fmla="val 4571"/>
            </a:avLst>
          </a:prstGeom>
          <a:solidFill>
            <a:srgbClr val="FFFFFF"/>
          </a:solidFill>
          <a:ln w="12700">
            <a:solidFill>
              <a:srgbClr val="D7DEE7"/>
            </a:solidFill>
            <a:prstDash val="solid"/>
          </a:ln>
          <a:effectLst>
            <a:outerShdw blurRad="12700" dist="6350" dir="2700000" algn="bl" rotWithShape="0">
              <a:srgbClr val="000000">
                <a:alpha val="12000"/>
              </a:srgbClr>
            </a:outerShdw>
          </a:effectLst>
        </p:spPr>
      </p:sp>
      <p:sp>
        <p:nvSpPr>
          <p:cNvPr id="9" name="Shape 7"/>
          <p:cNvSpPr/>
          <p:nvPr/>
        </p:nvSpPr>
        <p:spPr>
          <a:xfrm>
            <a:off x="4645152" y="1536192"/>
            <a:ext cx="384048" cy="384048"/>
          </a:xfrm>
          <a:prstGeom prst="roundRect">
            <a:avLst>
              <a:gd name="adj" fmla="val 19048"/>
            </a:avLst>
          </a:prstGeom>
          <a:solidFill>
            <a:srgbClr val="1C8C7A"/>
          </a:solidFill>
          <a:ln w="12700">
            <a:solidFill>
              <a:srgbClr val="1C8C7A"/>
            </a:solidFill>
            <a:prstDash val="solid"/>
          </a:ln>
        </p:spPr>
      </p:sp>
      <p:sp>
        <p:nvSpPr>
          <p:cNvPr id="10" name="Text 8"/>
          <p:cNvSpPr/>
          <p:nvPr/>
        </p:nvSpPr>
        <p:spPr>
          <a:xfrm>
            <a:off x="4645152" y="1618488"/>
            <a:ext cx="384048" cy="109728"/>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1" name="Text 9"/>
          <p:cNvSpPr/>
          <p:nvPr/>
        </p:nvSpPr>
        <p:spPr>
          <a:xfrm>
            <a:off x="5138928" y="1536192"/>
            <a:ext cx="2560320" cy="256032"/>
          </a:xfrm>
          <a:prstGeom prst="rect">
            <a:avLst/>
          </a:prstGeom>
          <a:noFill/>
          <a:ln/>
        </p:spPr>
        <p:txBody>
          <a:bodyPr wrap="square" lIns="0" tIns="0" rIns="0" bIns="0" rtlCol="0" anchor="ctr"/>
          <a:lstStyle/>
          <a:p>
            <a:pPr marL="0" indent="0">
              <a:buNone/>
            </a:pPr>
            <a:r>
              <a:rPr lang="en-US" sz="1550" b="1" dirty="0">
                <a:solidFill>
                  <a:srgbClr val="103B66"/>
                </a:solidFill>
              </a:rPr>
              <a:t>Evidence-Based Verification</a:t>
            </a:r>
            <a:endParaRPr lang="en-US" sz="1550" dirty="0"/>
          </a:p>
        </p:txBody>
      </p:sp>
      <p:sp>
        <p:nvSpPr>
          <p:cNvPr id="12" name="Text 10"/>
          <p:cNvSpPr/>
          <p:nvPr/>
        </p:nvSpPr>
        <p:spPr>
          <a:xfrm>
            <a:off x="4581354" y="2046557"/>
            <a:ext cx="3350532" cy="749808"/>
          </a:xfrm>
          <a:prstGeom prst="rect">
            <a:avLst/>
          </a:prstGeom>
          <a:noFill/>
          <a:ln/>
        </p:spPr>
        <p:txBody>
          <a:bodyPr wrap="square" lIns="254" tIns="254" rIns="254" bIns="254" rtlCol="0" anchor="ctr"/>
          <a:lstStyle/>
          <a:p>
            <a:pPr marL="0" indent="0">
              <a:buNone/>
            </a:pPr>
            <a:r>
              <a:rPr lang="en-US" sz="1600" dirty="0">
                <a:solidFill>
                  <a:srgbClr val="243447"/>
                </a:solidFill>
              </a:rPr>
              <a:t>Documentary, institutional, financial, physical, and stakeholder evidence for every finding.</a:t>
            </a:r>
            <a:endParaRPr lang="en-US" sz="1600" dirty="0"/>
          </a:p>
        </p:txBody>
      </p:sp>
      <p:sp>
        <p:nvSpPr>
          <p:cNvPr id="13" name="Shape 11"/>
          <p:cNvSpPr/>
          <p:nvPr/>
        </p:nvSpPr>
        <p:spPr>
          <a:xfrm>
            <a:off x="8275320" y="1371600"/>
            <a:ext cx="3429000" cy="1600200"/>
          </a:xfrm>
          <a:prstGeom prst="roundRect">
            <a:avLst>
              <a:gd name="adj" fmla="val 4571"/>
            </a:avLst>
          </a:prstGeom>
          <a:solidFill>
            <a:srgbClr val="FFFFFF"/>
          </a:solidFill>
          <a:ln w="12700">
            <a:solidFill>
              <a:srgbClr val="D7DEE7"/>
            </a:solidFill>
            <a:prstDash val="solid"/>
          </a:ln>
          <a:effectLst>
            <a:outerShdw blurRad="12700" dist="6350" dir="2700000" algn="bl" rotWithShape="0">
              <a:srgbClr val="000000">
                <a:alpha val="12000"/>
              </a:srgbClr>
            </a:outerShdw>
          </a:effectLst>
        </p:spPr>
      </p:sp>
      <p:sp>
        <p:nvSpPr>
          <p:cNvPr id="14" name="Shape 12"/>
          <p:cNvSpPr/>
          <p:nvPr/>
        </p:nvSpPr>
        <p:spPr>
          <a:xfrm>
            <a:off x="8439912" y="1536192"/>
            <a:ext cx="384048" cy="384048"/>
          </a:xfrm>
          <a:prstGeom prst="roundRect">
            <a:avLst>
              <a:gd name="adj" fmla="val 19048"/>
            </a:avLst>
          </a:prstGeom>
          <a:solidFill>
            <a:srgbClr val="E3A008"/>
          </a:solidFill>
          <a:ln w="12700">
            <a:solidFill>
              <a:srgbClr val="E3A008"/>
            </a:solidFill>
            <a:prstDash val="solid"/>
          </a:ln>
        </p:spPr>
      </p:sp>
      <p:sp>
        <p:nvSpPr>
          <p:cNvPr id="15" name="Text 13"/>
          <p:cNvSpPr/>
          <p:nvPr/>
        </p:nvSpPr>
        <p:spPr>
          <a:xfrm>
            <a:off x="8439912" y="1618488"/>
            <a:ext cx="384048" cy="109728"/>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6" name="Text 14"/>
          <p:cNvSpPr/>
          <p:nvPr/>
        </p:nvSpPr>
        <p:spPr>
          <a:xfrm>
            <a:off x="8933688" y="1536192"/>
            <a:ext cx="2560320" cy="256032"/>
          </a:xfrm>
          <a:prstGeom prst="rect">
            <a:avLst/>
          </a:prstGeom>
          <a:noFill/>
          <a:ln/>
        </p:spPr>
        <p:txBody>
          <a:bodyPr wrap="square" lIns="0" tIns="0" rIns="0" bIns="0" rtlCol="0" anchor="ctr"/>
          <a:lstStyle/>
          <a:p>
            <a:pPr marL="0" indent="0">
              <a:buNone/>
            </a:pPr>
            <a:r>
              <a:rPr lang="en-US" sz="1550" b="1" dirty="0">
                <a:solidFill>
                  <a:srgbClr val="103B66"/>
                </a:solidFill>
              </a:rPr>
              <a:t>Triangulation &amp; Reconciliation</a:t>
            </a:r>
            <a:endParaRPr lang="en-US" sz="1550" dirty="0"/>
          </a:p>
        </p:txBody>
      </p:sp>
      <p:sp>
        <p:nvSpPr>
          <p:cNvPr id="17" name="Text 15"/>
          <p:cNvSpPr/>
          <p:nvPr/>
        </p:nvSpPr>
        <p:spPr>
          <a:xfrm>
            <a:off x="8439912" y="2022899"/>
            <a:ext cx="3264408" cy="942255"/>
          </a:xfrm>
          <a:prstGeom prst="rect">
            <a:avLst/>
          </a:prstGeom>
          <a:noFill/>
          <a:ln/>
        </p:spPr>
        <p:txBody>
          <a:bodyPr wrap="square" lIns="254" tIns="254" rIns="254" bIns="254" rtlCol="0" anchor="ctr"/>
          <a:lstStyle/>
          <a:p>
            <a:pPr marL="0" indent="0" algn="just">
              <a:buNone/>
            </a:pPr>
            <a:r>
              <a:rPr lang="en-US" sz="1600" dirty="0">
                <a:solidFill>
                  <a:srgbClr val="243447"/>
                </a:solidFill>
              </a:rPr>
              <a:t>Cross-checking across ULG, PMDFC, MIS, contracts, financial records, and field observations.</a:t>
            </a:r>
            <a:endParaRPr lang="en-US" sz="1600" dirty="0"/>
          </a:p>
        </p:txBody>
      </p:sp>
      <p:sp>
        <p:nvSpPr>
          <p:cNvPr id="18" name="Shape 16"/>
          <p:cNvSpPr/>
          <p:nvPr/>
        </p:nvSpPr>
        <p:spPr>
          <a:xfrm>
            <a:off x="685800" y="3429000"/>
            <a:ext cx="3429000" cy="2057400"/>
          </a:xfrm>
          <a:prstGeom prst="roundRect">
            <a:avLst>
              <a:gd name="adj" fmla="val 4571"/>
            </a:avLst>
          </a:prstGeom>
          <a:solidFill>
            <a:srgbClr val="FFFFFF"/>
          </a:solidFill>
          <a:ln w="12700">
            <a:solidFill>
              <a:srgbClr val="D7DEE7"/>
            </a:solidFill>
            <a:prstDash val="solid"/>
          </a:ln>
          <a:effectLst>
            <a:outerShdw blurRad="12700" dist="6350" dir="2700000" algn="bl" rotWithShape="0">
              <a:srgbClr val="000000">
                <a:alpha val="12000"/>
              </a:srgbClr>
            </a:outerShdw>
          </a:effectLst>
        </p:spPr>
      </p:sp>
      <p:sp>
        <p:nvSpPr>
          <p:cNvPr id="19" name="Shape 17"/>
          <p:cNvSpPr/>
          <p:nvPr/>
        </p:nvSpPr>
        <p:spPr>
          <a:xfrm>
            <a:off x="850392" y="3593592"/>
            <a:ext cx="384048" cy="384048"/>
          </a:xfrm>
          <a:prstGeom prst="roundRect">
            <a:avLst>
              <a:gd name="adj" fmla="val 19048"/>
            </a:avLst>
          </a:prstGeom>
          <a:solidFill>
            <a:srgbClr val="D9534F"/>
          </a:solidFill>
          <a:ln w="12700">
            <a:solidFill>
              <a:srgbClr val="D9534F"/>
            </a:solidFill>
            <a:prstDash val="solid"/>
          </a:ln>
        </p:spPr>
      </p:sp>
      <p:sp>
        <p:nvSpPr>
          <p:cNvPr id="20" name="Text 18"/>
          <p:cNvSpPr/>
          <p:nvPr/>
        </p:nvSpPr>
        <p:spPr>
          <a:xfrm>
            <a:off x="850392" y="3675888"/>
            <a:ext cx="384048" cy="109728"/>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21" name="Text 19"/>
          <p:cNvSpPr/>
          <p:nvPr/>
        </p:nvSpPr>
        <p:spPr>
          <a:xfrm>
            <a:off x="1344168" y="3593592"/>
            <a:ext cx="2560320" cy="256032"/>
          </a:xfrm>
          <a:prstGeom prst="rect">
            <a:avLst/>
          </a:prstGeom>
          <a:noFill/>
          <a:ln/>
        </p:spPr>
        <p:txBody>
          <a:bodyPr wrap="square" lIns="0" tIns="0" rIns="0" bIns="0" rtlCol="0" anchor="ctr"/>
          <a:lstStyle/>
          <a:p>
            <a:pPr marL="0" indent="0">
              <a:buNone/>
            </a:pPr>
            <a:r>
              <a:rPr lang="en-US" sz="1550" b="1" dirty="0">
                <a:solidFill>
                  <a:srgbClr val="103B66"/>
                </a:solidFill>
              </a:rPr>
              <a:t>Risk-Based Problem Solving</a:t>
            </a:r>
            <a:endParaRPr lang="en-US" sz="1550" dirty="0"/>
          </a:p>
        </p:txBody>
      </p:sp>
      <p:sp>
        <p:nvSpPr>
          <p:cNvPr id="22" name="Text 20"/>
          <p:cNvSpPr/>
          <p:nvPr/>
        </p:nvSpPr>
        <p:spPr>
          <a:xfrm>
            <a:off x="850391" y="4338508"/>
            <a:ext cx="3168715" cy="901003"/>
          </a:xfrm>
          <a:prstGeom prst="rect">
            <a:avLst/>
          </a:prstGeom>
          <a:noFill/>
          <a:ln/>
        </p:spPr>
        <p:txBody>
          <a:bodyPr wrap="square" lIns="254" tIns="254" rIns="254" bIns="254" rtlCol="0" anchor="ctr"/>
          <a:lstStyle/>
          <a:p>
            <a:pPr marL="0" indent="0" algn="just">
              <a:buNone/>
            </a:pPr>
            <a:r>
              <a:rPr lang="en-US" sz="1600" dirty="0">
                <a:solidFill>
                  <a:srgbClr val="243447"/>
                </a:solidFill>
              </a:rPr>
              <a:t>Enhanced scrutiny for high-risk areas such as WASH connections, procurement, SWM, revenue, and E&amp;S.</a:t>
            </a:r>
            <a:endParaRPr lang="en-US" sz="1600" dirty="0"/>
          </a:p>
        </p:txBody>
      </p:sp>
      <p:sp>
        <p:nvSpPr>
          <p:cNvPr id="23" name="Shape 21"/>
          <p:cNvSpPr/>
          <p:nvPr/>
        </p:nvSpPr>
        <p:spPr>
          <a:xfrm>
            <a:off x="4480560" y="3429000"/>
            <a:ext cx="3429000" cy="2057400"/>
          </a:xfrm>
          <a:prstGeom prst="roundRect">
            <a:avLst>
              <a:gd name="adj" fmla="val 4571"/>
            </a:avLst>
          </a:prstGeom>
          <a:solidFill>
            <a:srgbClr val="FFFFFF"/>
          </a:solidFill>
          <a:ln w="12700">
            <a:solidFill>
              <a:srgbClr val="D7DEE7"/>
            </a:solidFill>
            <a:prstDash val="solid"/>
          </a:ln>
          <a:effectLst>
            <a:outerShdw blurRad="12700" dist="6350" dir="2700000" algn="bl" rotWithShape="0">
              <a:srgbClr val="000000">
                <a:alpha val="12000"/>
              </a:srgbClr>
            </a:outerShdw>
          </a:effectLst>
        </p:spPr>
      </p:sp>
      <p:sp>
        <p:nvSpPr>
          <p:cNvPr id="24" name="Shape 22"/>
          <p:cNvSpPr/>
          <p:nvPr/>
        </p:nvSpPr>
        <p:spPr>
          <a:xfrm>
            <a:off x="4645152" y="3593592"/>
            <a:ext cx="384048" cy="384048"/>
          </a:xfrm>
          <a:prstGeom prst="roundRect">
            <a:avLst>
              <a:gd name="adj" fmla="val 19048"/>
            </a:avLst>
          </a:prstGeom>
          <a:solidFill>
            <a:srgbClr val="2E7D32"/>
          </a:solidFill>
          <a:ln w="12700">
            <a:solidFill>
              <a:srgbClr val="2E7D32"/>
            </a:solidFill>
            <a:prstDash val="solid"/>
          </a:ln>
        </p:spPr>
      </p:sp>
      <p:sp>
        <p:nvSpPr>
          <p:cNvPr id="25" name="Text 23"/>
          <p:cNvSpPr/>
          <p:nvPr/>
        </p:nvSpPr>
        <p:spPr>
          <a:xfrm>
            <a:off x="4645152" y="3675888"/>
            <a:ext cx="384048" cy="109728"/>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26" name="Text 24"/>
          <p:cNvSpPr/>
          <p:nvPr/>
        </p:nvSpPr>
        <p:spPr>
          <a:xfrm>
            <a:off x="5138928" y="3593592"/>
            <a:ext cx="2560320" cy="256032"/>
          </a:xfrm>
          <a:prstGeom prst="rect">
            <a:avLst/>
          </a:prstGeom>
          <a:noFill/>
          <a:ln/>
        </p:spPr>
        <p:txBody>
          <a:bodyPr wrap="square" lIns="0" tIns="0" rIns="0" bIns="0" rtlCol="0" anchor="ctr"/>
          <a:lstStyle/>
          <a:p>
            <a:pPr marL="0" indent="0">
              <a:buNone/>
            </a:pPr>
            <a:r>
              <a:rPr lang="en-US" sz="1550" b="1" dirty="0">
                <a:solidFill>
                  <a:srgbClr val="103B66"/>
                </a:solidFill>
              </a:rPr>
              <a:t>Synchronization with Program Cycles</a:t>
            </a:r>
            <a:endParaRPr lang="en-US" sz="1550" dirty="0"/>
          </a:p>
        </p:txBody>
      </p:sp>
      <p:sp>
        <p:nvSpPr>
          <p:cNvPr id="27" name="Text 25"/>
          <p:cNvSpPr/>
          <p:nvPr/>
        </p:nvSpPr>
        <p:spPr>
          <a:xfrm>
            <a:off x="4649724" y="4279392"/>
            <a:ext cx="3090672" cy="749808"/>
          </a:xfrm>
          <a:prstGeom prst="rect">
            <a:avLst/>
          </a:prstGeom>
          <a:noFill/>
          <a:ln/>
        </p:spPr>
        <p:txBody>
          <a:bodyPr wrap="square" lIns="254" tIns="254" rIns="254" bIns="254" rtlCol="0" anchor="ctr"/>
          <a:lstStyle/>
          <a:p>
            <a:pPr marL="0" indent="0" algn="just">
              <a:buNone/>
            </a:pPr>
            <a:r>
              <a:rPr lang="en-US" sz="1600" dirty="0">
                <a:solidFill>
                  <a:srgbClr val="243447"/>
                </a:solidFill>
              </a:rPr>
              <a:t>Annual verification aligned to the disbursement cycle; E&amp;S monitoring aligned to quarterly reporting.</a:t>
            </a:r>
            <a:endParaRPr lang="en-US" sz="1600" dirty="0"/>
          </a:p>
        </p:txBody>
      </p:sp>
      <p:sp>
        <p:nvSpPr>
          <p:cNvPr id="28" name="Shape 26"/>
          <p:cNvSpPr/>
          <p:nvPr/>
        </p:nvSpPr>
        <p:spPr>
          <a:xfrm>
            <a:off x="8275320" y="3429000"/>
            <a:ext cx="3429000" cy="2057400"/>
          </a:xfrm>
          <a:prstGeom prst="roundRect">
            <a:avLst>
              <a:gd name="adj" fmla="val 4571"/>
            </a:avLst>
          </a:prstGeom>
          <a:solidFill>
            <a:srgbClr val="FFFFFF"/>
          </a:solidFill>
          <a:ln w="12700">
            <a:solidFill>
              <a:srgbClr val="D7DEE7"/>
            </a:solidFill>
            <a:prstDash val="solid"/>
          </a:ln>
          <a:effectLst>
            <a:outerShdw blurRad="12700" dist="6350" dir="2700000" algn="bl" rotWithShape="0">
              <a:srgbClr val="000000">
                <a:alpha val="12000"/>
              </a:srgbClr>
            </a:outerShdw>
          </a:effectLst>
        </p:spPr>
      </p:sp>
      <p:sp>
        <p:nvSpPr>
          <p:cNvPr id="29" name="Shape 27"/>
          <p:cNvSpPr/>
          <p:nvPr/>
        </p:nvSpPr>
        <p:spPr>
          <a:xfrm>
            <a:off x="8439912" y="3593592"/>
            <a:ext cx="384048" cy="384048"/>
          </a:xfrm>
          <a:prstGeom prst="roundRect">
            <a:avLst>
              <a:gd name="adj" fmla="val 19048"/>
            </a:avLst>
          </a:prstGeom>
          <a:solidFill>
            <a:srgbClr val="103B66"/>
          </a:solidFill>
          <a:ln w="12700">
            <a:solidFill>
              <a:srgbClr val="103B66"/>
            </a:solidFill>
            <a:prstDash val="solid"/>
          </a:ln>
        </p:spPr>
      </p:sp>
      <p:sp>
        <p:nvSpPr>
          <p:cNvPr id="30" name="Text 28"/>
          <p:cNvSpPr/>
          <p:nvPr/>
        </p:nvSpPr>
        <p:spPr>
          <a:xfrm>
            <a:off x="8439912" y="3675888"/>
            <a:ext cx="384048" cy="109728"/>
          </a:xfrm>
          <a:prstGeom prst="rect">
            <a:avLst/>
          </a:prstGeom>
          <a:noFill/>
          <a:ln/>
        </p:spPr>
        <p:txBody>
          <a:bodyPr wrap="square" lIns="0" tIns="0" rIns="0" bIns="0" rtlCol="0" anchor="ctr"/>
          <a:lstStyle/>
          <a:p>
            <a:pPr marL="0" indent="0" algn="ctr">
              <a:buNone/>
            </a:pPr>
            <a:r>
              <a:rPr lang="en-US" sz="1100" b="1" dirty="0">
                <a:solidFill>
                  <a:srgbClr val="FFFFFF"/>
                </a:solidFill>
              </a:rPr>
              <a:t>6</a:t>
            </a:r>
            <a:endParaRPr lang="en-US" sz="1100" dirty="0"/>
          </a:p>
        </p:txBody>
      </p:sp>
      <p:sp>
        <p:nvSpPr>
          <p:cNvPr id="31" name="Text 29"/>
          <p:cNvSpPr/>
          <p:nvPr/>
        </p:nvSpPr>
        <p:spPr>
          <a:xfrm>
            <a:off x="8933688" y="3593592"/>
            <a:ext cx="2560320" cy="256032"/>
          </a:xfrm>
          <a:prstGeom prst="rect">
            <a:avLst/>
          </a:prstGeom>
          <a:noFill/>
          <a:ln/>
        </p:spPr>
        <p:txBody>
          <a:bodyPr wrap="square" lIns="0" tIns="0" rIns="0" bIns="0" rtlCol="0" anchor="ctr"/>
          <a:lstStyle/>
          <a:p>
            <a:pPr marL="0" indent="0">
              <a:buNone/>
            </a:pPr>
            <a:r>
              <a:rPr lang="en-US" sz="1550" b="1" dirty="0">
                <a:solidFill>
                  <a:srgbClr val="103B66"/>
                </a:solidFill>
              </a:rPr>
              <a:t>Action-Oriented Reporting</a:t>
            </a:r>
            <a:endParaRPr lang="en-US" sz="1550" dirty="0"/>
          </a:p>
        </p:txBody>
      </p:sp>
      <p:sp>
        <p:nvSpPr>
          <p:cNvPr id="32" name="Text 30"/>
          <p:cNvSpPr/>
          <p:nvPr/>
        </p:nvSpPr>
        <p:spPr>
          <a:xfrm>
            <a:off x="8444484" y="4279179"/>
            <a:ext cx="3090672" cy="877612"/>
          </a:xfrm>
          <a:prstGeom prst="rect">
            <a:avLst/>
          </a:prstGeom>
          <a:noFill/>
          <a:ln/>
        </p:spPr>
        <p:txBody>
          <a:bodyPr wrap="square" lIns="254" tIns="254" rIns="254" bIns="254" rtlCol="0" anchor="ctr"/>
          <a:lstStyle/>
          <a:p>
            <a:pPr marL="0" indent="0" algn="just">
              <a:buNone/>
            </a:pPr>
            <a:r>
              <a:rPr lang="en-US" sz="1600" dirty="0">
                <a:solidFill>
                  <a:srgbClr val="243447"/>
                </a:solidFill>
              </a:rPr>
              <a:t>Clear compliance status plus practical corrective actions and institutional improvement measures.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298F4F9-730F-E2CC-B597-CEA4A3D25668}"/>
              </a:ext>
            </a:extLst>
          </p:cNvPr>
          <p:cNvGraphicFramePr>
            <a:graphicFrameLocks noGrp="1"/>
          </p:cNvGraphicFramePr>
          <p:nvPr>
            <p:extLst>
              <p:ext uri="{D42A27DB-BD31-4B8C-83A1-F6EECF244321}">
                <p14:modId xmlns:p14="http://schemas.microsoft.com/office/powerpoint/2010/main" val="2040386517"/>
              </p:ext>
            </p:extLst>
          </p:nvPr>
        </p:nvGraphicFramePr>
        <p:xfrm>
          <a:off x="733646" y="808075"/>
          <a:ext cx="10877106" cy="5570052"/>
        </p:xfrm>
        <a:graphic>
          <a:graphicData uri="http://schemas.openxmlformats.org/drawingml/2006/table">
            <a:tbl>
              <a:tblPr>
                <a:tableStyleId>{8FD4443E-F989-4FC4-A0C8-D5A2AF1F390B}</a:tableStyleId>
              </a:tblPr>
              <a:tblGrid>
                <a:gridCol w="2945219">
                  <a:extLst>
                    <a:ext uri="{9D8B030D-6E8A-4147-A177-3AD203B41FA5}">
                      <a16:colId xmlns:a16="http://schemas.microsoft.com/office/drawing/2014/main" val="3008607919"/>
                    </a:ext>
                  </a:extLst>
                </a:gridCol>
                <a:gridCol w="4306185">
                  <a:extLst>
                    <a:ext uri="{9D8B030D-6E8A-4147-A177-3AD203B41FA5}">
                      <a16:colId xmlns:a16="http://schemas.microsoft.com/office/drawing/2014/main" val="3913976813"/>
                    </a:ext>
                  </a:extLst>
                </a:gridCol>
                <a:gridCol w="3625702">
                  <a:extLst>
                    <a:ext uri="{9D8B030D-6E8A-4147-A177-3AD203B41FA5}">
                      <a16:colId xmlns:a16="http://schemas.microsoft.com/office/drawing/2014/main" val="1783827930"/>
                    </a:ext>
                  </a:extLst>
                </a:gridCol>
              </a:tblGrid>
              <a:tr h="268256">
                <a:tc>
                  <a:txBody>
                    <a:bodyPr/>
                    <a:lstStyle/>
                    <a:p>
                      <a:pPr algn="ctr">
                        <a:buNone/>
                      </a:pPr>
                      <a:r>
                        <a:rPr lang="en-US" sz="1600" b="1" dirty="0">
                          <a:solidFill>
                            <a:schemeClr val="bg1"/>
                          </a:solidFill>
                        </a:rPr>
                        <a:t>RESULTS AREA</a:t>
                      </a:r>
                      <a:endParaRPr lang="en-US" sz="1600" dirty="0">
                        <a:solidFill>
                          <a:schemeClr val="bg1"/>
                        </a:solidFill>
                      </a:endParaRP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None/>
                      </a:pPr>
                      <a:r>
                        <a:rPr lang="en-US" sz="1600" b="1" dirty="0">
                          <a:solidFill>
                            <a:schemeClr val="bg1"/>
                          </a:solidFill>
                        </a:rPr>
                        <a:t>PURPOSE</a:t>
                      </a:r>
                      <a:endParaRPr lang="en-US" sz="1600" dirty="0">
                        <a:solidFill>
                          <a:schemeClr val="bg1"/>
                        </a:solidFill>
                      </a:endParaRP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None/>
                      </a:pPr>
                      <a:r>
                        <a:rPr lang="en-US" sz="1600" b="1" dirty="0">
                          <a:solidFill>
                            <a:schemeClr val="bg1"/>
                          </a:solidFill>
                        </a:rPr>
                        <a:t>INDICATOR</a:t>
                      </a:r>
                      <a:endParaRPr lang="en-US" sz="1600" dirty="0">
                        <a:solidFill>
                          <a:schemeClr val="bg1"/>
                        </a:solidFill>
                      </a:endParaRP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381234643"/>
                  </a:ext>
                </a:extLst>
              </a:tr>
              <a:tr h="672086">
                <a:tc rowSpan="2">
                  <a:txBody>
                    <a:bodyPr/>
                    <a:lstStyle/>
                    <a:p>
                      <a:pPr algn="just">
                        <a:buNone/>
                      </a:pPr>
                      <a:r>
                        <a:rPr lang="en-US" sz="1800" dirty="0">
                          <a:solidFill>
                            <a:schemeClr val="bg1"/>
                          </a:solidFill>
                        </a:rPr>
                        <a:t>Safely managed water, sanitation, drainage, and basic hygiene services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E75B6"/>
                    </a:solidFill>
                  </a:tcPr>
                </a:tc>
                <a:tc>
                  <a:txBody>
                    <a:bodyPr/>
                    <a:lstStyle/>
                    <a:p>
                      <a:pPr algn="just">
                        <a:buNone/>
                      </a:pPr>
                      <a:r>
                        <a:rPr lang="en-US" sz="1600" dirty="0">
                          <a:solidFill>
                            <a:schemeClr val="bg1"/>
                          </a:solidFill>
                        </a:rPr>
                        <a:t>Provide safely managed water, sanitation, drainage, and basic hygiene services in ULGs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lgn="just">
                        <a:buNone/>
                      </a:pPr>
                      <a:r>
                        <a:rPr lang="en-US" sz="1600" b="1" dirty="0">
                          <a:solidFill>
                            <a:schemeClr val="bg1"/>
                          </a:solidFill>
                        </a:rPr>
                        <a:t>DLI 1:</a:t>
                      </a:r>
                      <a:r>
                        <a:rPr lang="en-US" sz="1600" dirty="0">
                          <a:solidFill>
                            <a:schemeClr val="bg1"/>
                          </a:solidFill>
                        </a:rPr>
                        <a:t> Safely managed water and sanitation connections provided in eligible ULGs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890619981"/>
                  </a:ext>
                </a:extLst>
              </a:tr>
              <a:tr h="874001">
                <a:tc vMerge="1">
                  <a:txBody>
                    <a:bodyPr/>
                    <a:lstStyle/>
                    <a:p>
                      <a:endParaRPr dirty="0"/>
                    </a:p>
                  </a:txBody>
                  <a:tcPr marL="55080" marR="55080" marT="27540" marB="27540" anchor="ctr"/>
                </a:tc>
                <a:tc>
                  <a:txBody>
                    <a:bodyPr/>
                    <a:lstStyle/>
                    <a:p>
                      <a:pPr algn="just">
                        <a:buNone/>
                      </a:pPr>
                      <a:r>
                        <a:rPr lang="en-US" sz="1600" dirty="0">
                          <a:solidFill>
                            <a:schemeClr val="bg1"/>
                          </a:solidFill>
                        </a:rPr>
                        <a:t>Support the </a:t>
                      </a:r>
                      <a:r>
                        <a:rPr lang="en-US" sz="1600" dirty="0" err="1">
                          <a:solidFill>
                            <a:schemeClr val="bg1"/>
                          </a:solidFill>
                        </a:rPr>
                        <a:t>Suthra</a:t>
                      </a:r>
                      <a:r>
                        <a:rPr lang="en-US" sz="1600" dirty="0">
                          <a:solidFill>
                            <a:schemeClr val="bg1"/>
                          </a:solidFill>
                        </a:rPr>
                        <a:t> Punjab provincial program to improve solid waste management services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lgn="just">
                        <a:buNone/>
                      </a:pPr>
                      <a:r>
                        <a:rPr lang="en-US" sz="1600" b="1" dirty="0">
                          <a:solidFill>
                            <a:schemeClr val="bg1"/>
                          </a:solidFill>
                        </a:rPr>
                        <a:t>DLI 2:</a:t>
                      </a:r>
                      <a:r>
                        <a:rPr lang="en-US" sz="1600" dirty="0">
                          <a:solidFill>
                            <a:schemeClr val="bg1"/>
                          </a:solidFill>
                        </a:rPr>
                        <a:t> Improved performance of solid waste management systems in Punjab</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44224608"/>
                  </a:ext>
                </a:extLst>
              </a:tr>
              <a:tr h="1075915">
                <a:tc rowSpan="4">
                  <a:txBody>
                    <a:bodyPr/>
                    <a:lstStyle/>
                    <a:p>
                      <a:pPr algn="just">
                        <a:buNone/>
                      </a:pPr>
                      <a:r>
                        <a:rPr lang="en-US" sz="1800" dirty="0">
                          <a:solidFill>
                            <a:schemeClr val="bg1"/>
                          </a:solidFill>
                        </a:rPr>
                        <a:t>Institutional strengthening and financial sustainability</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tc>
                  <a:txBody>
                    <a:bodyPr/>
                    <a:lstStyle/>
                    <a:p>
                      <a:pPr marL="0" indent="0">
                        <a:buNone/>
                      </a:pPr>
                      <a:r>
                        <a:rPr lang="en-US" sz="1600" dirty="0">
                          <a:solidFill>
                            <a:schemeClr val="bg1"/>
                          </a:solidFill>
                        </a:rPr>
                        <a:t>Ensure WATSAN units in Program ULGs fulfil minimum conditions for sustainable service delivery</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tc>
                  <a:txBody>
                    <a:bodyPr/>
                    <a:lstStyle/>
                    <a:p>
                      <a:pPr algn="just">
                        <a:buNone/>
                      </a:pPr>
                      <a:r>
                        <a:rPr lang="en-US" sz="1600" b="1" dirty="0">
                          <a:solidFill>
                            <a:schemeClr val="bg1"/>
                          </a:solidFill>
                        </a:rPr>
                        <a:t>DLI 3:</a:t>
                      </a:r>
                      <a:r>
                        <a:rPr lang="en-US" sz="1600" dirty="0">
                          <a:solidFill>
                            <a:schemeClr val="bg1"/>
                          </a:solidFill>
                        </a:rPr>
                        <a:t> Participating ULGs (other than Chakwal and Kasur) meeting Minimum Access Conditions for WSS service delivery</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extLst>
                  <a:ext uri="{0D108BD9-81ED-4DB2-BD59-A6C34878D82A}">
                    <a16:rowId xmlns:a16="http://schemas.microsoft.com/office/drawing/2014/main" val="2774304337"/>
                  </a:ext>
                </a:extLst>
              </a:tr>
              <a:tr h="786614">
                <a:tc vMerge="1">
                  <a:txBody>
                    <a:bodyPr/>
                    <a:lstStyle/>
                    <a:p>
                      <a:endParaRPr dirty="0"/>
                    </a:p>
                  </a:txBody>
                  <a:tcPr marL="55080" marR="55080" marT="27540" marB="27540" anchor="ctr"/>
                </a:tc>
                <a:tc>
                  <a:txBody>
                    <a:bodyPr/>
                    <a:lstStyle/>
                    <a:p>
                      <a:pPr>
                        <a:buNone/>
                      </a:pPr>
                      <a:r>
                        <a:rPr lang="en-US" sz="1600" dirty="0">
                          <a:solidFill>
                            <a:schemeClr val="bg1"/>
                          </a:solidFill>
                        </a:rPr>
                        <a:t>Strengthen governance, institutional, and financing mechanisms for sustained service delivery and cost recovery</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tc>
                  <a:txBody>
                    <a:bodyPr/>
                    <a:lstStyle/>
                    <a:p>
                      <a:pPr algn="just">
                        <a:buNone/>
                      </a:pPr>
                      <a:r>
                        <a:rPr lang="en-US" sz="1600" b="1" dirty="0">
                          <a:solidFill>
                            <a:schemeClr val="bg1"/>
                          </a:solidFill>
                        </a:rPr>
                        <a:t>DLI 4:</a:t>
                      </a:r>
                      <a:r>
                        <a:rPr lang="en-US" sz="1600" dirty="0">
                          <a:solidFill>
                            <a:schemeClr val="bg1"/>
                          </a:solidFill>
                        </a:rPr>
                        <a:t> Eligible ULGs achieving improved scores on Institutional Performance Indicators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extLst>
                  <a:ext uri="{0D108BD9-81ED-4DB2-BD59-A6C34878D82A}">
                    <a16:rowId xmlns:a16="http://schemas.microsoft.com/office/drawing/2014/main" val="2963039237"/>
                  </a:ext>
                </a:extLst>
              </a:tr>
              <a:tr h="874001">
                <a:tc vMerge="1">
                  <a:txBody>
                    <a:bodyPr/>
                    <a:lstStyle/>
                    <a:p>
                      <a:endParaRPr/>
                    </a:p>
                  </a:txBody>
                  <a:tcPr marL="55080" marR="55080" marT="27540" marB="27540" anchor="ctr"/>
                </a:tc>
                <a:tc>
                  <a:txBody>
                    <a:bodyPr/>
                    <a:lstStyle/>
                    <a:p>
                      <a:pPr>
                        <a:buNone/>
                      </a:pPr>
                      <a:r>
                        <a:rPr lang="en-US" sz="1600" dirty="0">
                          <a:solidFill>
                            <a:schemeClr val="bg1"/>
                          </a:solidFill>
                        </a:rPr>
                        <a:t>Incentivize increased revenue collection in Program ULGs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tc>
                  <a:txBody>
                    <a:bodyPr/>
                    <a:lstStyle/>
                    <a:p>
                      <a:pPr algn="just">
                        <a:buNone/>
                      </a:pPr>
                      <a:r>
                        <a:rPr lang="en-US" sz="1600" b="1" dirty="0">
                          <a:solidFill>
                            <a:schemeClr val="bg1"/>
                          </a:solidFill>
                        </a:rPr>
                        <a:t>DLI 5:</a:t>
                      </a:r>
                      <a:r>
                        <a:rPr lang="en-US" sz="1600" dirty="0">
                          <a:solidFill>
                            <a:schemeClr val="bg1"/>
                          </a:solidFill>
                        </a:rPr>
                        <a:t> Increased revenues in eligible ULGs from taxes, fees, and tariffs compared to FY 2023–24</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extLst>
                  <a:ext uri="{0D108BD9-81ED-4DB2-BD59-A6C34878D82A}">
                    <a16:rowId xmlns:a16="http://schemas.microsoft.com/office/drawing/2014/main" val="1554824448"/>
                  </a:ext>
                </a:extLst>
              </a:tr>
              <a:tr h="874001">
                <a:tc vMerge="1">
                  <a:txBody>
                    <a:bodyPr/>
                    <a:lstStyle/>
                    <a:p>
                      <a:endParaRPr dirty="0"/>
                    </a:p>
                  </a:txBody>
                  <a:tcPr marL="55080" marR="55080" marT="27540" marB="27540" anchor="ctr"/>
                </a:tc>
                <a:tc>
                  <a:txBody>
                    <a:bodyPr/>
                    <a:lstStyle/>
                    <a:p>
                      <a:pPr>
                        <a:buNone/>
                      </a:pPr>
                      <a:r>
                        <a:rPr lang="en-US" sz="1600">
                          <a:solidFill>
                            <a:schemeClr val="bg1"/>
                          </a:solidFill>
                        </a:rPr>
                        <a:t>Mobilize private sector resources for WSS service delivery in secondary cities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tc>
                  <a:txBody>
                    <a:bodyPr/>
                    <a:lstStyle/>
                    <a:p>
                      <a:pPr algn="just">
                        <a:buNone/>
                      </a:pPr>
                      <a:r>
                        <a:rPr lang="en-US" sz="1600" b="1" dirty="0">
                          <a:solidFill>
                            <a:schemeClr val="bg1"/>
                          </a:solidFill>
                        </a:rPr>
                        <a:t>DLI 6:</a:t>
                      </a:r>
                      <a:r>
                        <a:rPr lang="en-US" sz="1600" dirty="0">
                          <a:solidFill>
                            <a:schemeClr val="bg1"/>
                          </a:solidFill>
                        </a:rPr>
                        <a:t> Number of PPP transactions processed in the WSS sector in two participating ULGs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extLst>
                  <a:ext uri="{0D108BD9-81ED-4DB2-BD59-A6C34878D82A}">
                    <a16:rowId xmlns:a16="http://schemas.microsoft.com/office/drawing/2014/main" val="1334731630"/>
                  </a:ext>
                </a:extLst>
              </a:tr>
            </a:tbl>
          </a:graphicData>
        </a:graphic>
      </p:graphicFrame>
      <p:sp>
        <p:nvSpPr>
          <p:cNvPr id="4" name="TextBox 3">
            <a:extLst>
              <a:ext uri="{FF2B5EF4-FFF2-40B4-BE49-F238E27FC236}">
                <a16:creationId xmlns:a16="http://schemas.microsoft.com/office/drawing/2014/main" id="{BC22890B-8FD2-30BA-2CE4-838B277A5689}"/>
              </a:ext>
            </a:extLst>
          </p:cNvPr>
          <p:cNvSpPr txBox="1"/>
          <p:nvPr/>
        </p:nvSpPr>
        <p:spPr>
          <a:xfrm>
            <a:off x="2828260" y="291572"/>
            <a:ext cx="7006855" cy="461665"/>
          </a:xfrm>
          <a:prstGeom prst="rect">
            <a:avLst/>
          </a:prstGeom>
          <a:noFill/>
        </p:spPr>
        <p:txBody>
          <a:bodyPr wrap="square">
            <a:spAutoFit/>
          </a:bodyPr>
          <a:lstStyle/>
          <a:p>
            <a:r>
              <a:rPr lang="en-US" sz="2400" b="1" dirty="0">
                <a:solidFill>
                  <a:srgbClr val="002060"/>
                </a:solidFill>
              </a:rPr>
              <a:t>Disbursement Linked Indicators (DLIs) of PICP </a:t>
            </a:r>
          </a:p>
        </p:txBody>
      </p:sp>
    </p:spTree>
    <p:extLst>
      <p:ext uri="{BB962C8B-B14F-4D97-AF65-F5344CB8AC3E}">
        <p14:creationId xmlns:p14="http://schemas.microsoft.com/office/powerpoint/2010/main" val="2150254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30352"/>
            <a:ext cx="6583680" cy="411480"/>
          </a:xfrm>
          <a:prstGeom prst="rect">
            <a:avLst/>
          </a:prstGeom>
          <a:noFill/>
          <a:ln/>
        </p:spPr>
        <p:txBody>
          <a:bodyPr wrap="square" lIns="0" tIns="0" rIns="0" bIns="0" rtlCol="0" anchor="ctr"/>
          <a:lstStyle/>
          <a:p>
            <a:pPr marL="0" indent="0">
              <a:buNone/>
            </a:pPr>
            <a:r>
              <a:rPr lang="en-US" sz="2800" b="1" dirty="0">
                <a:solidFill>
                  <a:srgbClr val="0E3A5D"/>
                </a:solidFill>
                <a:latin typeface="Aptos Display" pitchFamily="34" charset="0"/>
                <a:ea typeface="Aptos Display" pitchFamily="34" charset="-122"/>
                <a:cs typeface="Aptos Display" pitchFamily="34" charset="-120"/>
              </a:rPr>
              <a:t>what we will verify and monitor</a:t>
            </a:r>
            <a:endParaRPr lang="en-US" sz="2800" dirty="0"/>
          </a:p>
        </p:txBody>
      </p:sp>
      <p:sp>
        <p:nvSpPr>
          <p:cNvPr id="3" name="Shape 1"/>
          <p:cNvSpPr/>
          <p:nvPr/>
        </p:nvSpPr>
        <p:spPr>
          <a:xfrm>
            <a:off x="685800" y="1554480"/>
            <a:ext cx="2331720" cy="4526280"/>
          </a:xfrm>
          <a:prstGeom prst="roundRect">
            <a:avLst/>
          </a:prstGeom>
          <a:solidFill>
            <a:srgbClr val="FFFFFF"/>
          </a:solidFill>
          <a:ln w="12700">
            <a:solidFill>
              <a:srgbClr val="D7E0EA"/>
            </a:solidFill>
            <a:prstDash val="solid"/>
          </a:ln>
        </p:spPr>
      </p:sp>
      <p:sp>
        <p:nvSpPr>
          <p:cNvPr id="4" name="Shape 2"/>
          <p:cNvSpPr/>
          <p:nvPr/>
        </p:nvSpPr>
        <p:spPr>
          <a:xfrm>
            <a:off x="685800" y="1554480"/>
            <a:ext cx="2331720" cy="822960"/>
          </a:xfrm>
          <a:prstGeom prst="roundRect">
            <a:avLst/>
          </a:prstGeom>
          <a:solidFill>
            <a:srgbClr val="3F73A8"/>
          </a:solidFill>
          <a:ln w="12700">
            <a:solidFill>
              <a:srgbClr val="3F73A8"/>
            </a:solidFill>
            <a:prstDash val="solid"/>
          </a:ln>
        </p:spPr>
      </p:sp>
      <p:sp>
        <p:nvSpPr>
          <p:cNvPr id="5" name="Text 3"/>
          <p:cNvSpPr/>
          <p:nvPr/>
        </p:nvSpPr>
        <p:spPr>
          <a:xfrm>
            <a:off x="822960" y="1719072"/>
            <a:ext cx="1097280" cy="201168"/>
          </a:xfrm>
          <a:prstGeom prst="rect">
            <a:avLst/>
          </a:prstGeom>
          <a:noFill/>
          <a:ln/>
        </p:spPr>
        <p:txBody>
          <a:bodyPr wrap="square" lIns="0" tIns="0" rIns="0" bIns="0" rtlCol="0" anchor="ctr"/>
          <a:lstStyle/>
          <a:p>
            <a:pPr marL="0" indent="0">
              <a:buNone/>
            </a:pPr>
            <a:r>
              <a:rPr lang="en-US" sz="2000" b="1" dirty="0">
                <a:solidFill>
                  <a:srgbClr val="FFFFFF"/>
                </a:solidFill>
              </a:rPr>
              <a:t>DLI 1</a:t>
            </a:r>
            <a:endParaRPr lang="en-US" sz="2000" dirty="0"/>
          </a:p>
        </p:txBody>
      </p:sp>
      <p:sp>
        <p:nvSpPr>
          <p:cNvPr id="6" name="Text 4"/>
          <p:cNvSpPr/>
          <p:nvPr/>
        </p:nvSpPr>
        <p:spPr>
          <a:xfrm>
            <a:off x="822960" y="1938528"/>
            <a:ext cx="2011680" cy="320040"/>
          </a:xfrm>
          <a:prstGeom prst="rect">
            <a:avLst/>
          </a:prstGeom>
          <a:noFill/>
          <a:ln/>
        </p:spPr>
        <p:txBody>
          <a:bodyPr wrap="square" lIns="0" tIns="0" rIns="0" bIns="0" rtlCol="0" anchor="ctr"/>
          <a:lstStyle/>
          <a:p>
            <a:pPr marL="0" indent="0">
              <a:buNone/>
            </a:pPr>
            <a:r>
              <a:rPr lang="en-US" sz="1400" b="1" dirty="0">
                <a:solidFill>
                  <a:srgbClr val="FFFFFF"/>
                </a:solidFill>
              </a:rPr>
              <a:t>Water &amp; sewerage</a:t>
            </a:r>
            <a:endParaRPr lang="en-US" sz="1400" dirty="0"/>
          </a:p>
          <a:p>
            <a:pPr marL="0" indent="0">
              <a:buNone/>
            </a:pPr>
            <a:r>
              <a:rPr lang="en-US" sz="1400" b="1" dirty="0">
                <a:solidFill>
                  <a:srgbClr val="FFFFFF"/>
                </a:solidFill>
              </a:rPr>
              <a:t>connections</a:t>
            </a:r>
            <a:endParaRPr lang="en-US" sz="1400" dirty="0"/>
          </a:p>
        </p:txBody>
      </p:sp>
      <p:sp>
        <p:nvSpPr>
          <p:cNvPr id="7" name="Text 5"/>
          <p:cNvSpPr/>
          <p:nvPr/>
        </p:nvSpPr>
        <p:spPr>
          <a:xfrm>
            <a:off x="813816" y="2651760"/>
            <a:ext cx="2039112" cy="2926080"/>
          </a:xfrm>
          <a:prstGeom prst="rect">
            <a:avLst/>
          </a:prstGeom>
          <a:noFill/>
          <a:ln/>
        </p:spPr>
        <p:txBody>
          <a:bodyPr wrap="square" lIns="381" tIns="381" rIns="381" bIns="381" rtlCol="0" anchor="ctr">
            <a:normAutofit/>
          </a:bodyPr>
          <a:lstStyle/>
          <a:p>
            <a:pPr marL="0" indent="0">
              <a:buNone/>
            </a:pPr>
            <a:r>
              <a:rPr lang="en-US" dirty="0">
                <a:solidFill>
                  <a:srgbClr val="1D2833"/>
                </a:solidFill>
              </a:rPr>
              <a:t>Contracts, reported connections, sample household validation, functionality, and quality checks.</a:t>
            </a:r>
            <a:endParaRPr lang="en-US" dirty="0"/>
          </a:p>
        </p:txBody>
      </p:sp>
      <p:sp>
        <p:nvSpPr>
          <p:cNvPr id="8" name="Shape 6"/>
          <p:cNvSpPr/>
          <p:nvPr/>
        </p:nvSpPr>
        <p:spPr>
          <a:xfrm>
            <a:off x="3337560" y="1554480"/>
            <a:ext cx="2331720" cy="4526280"/>
          </a:xfrm>
          <a:prstGeom prst="roundRect">
            <a:avLst/>
          </a:prstGeom>
          <a:solidFill>
            <a:srgbClr val="FFFFFF"/>
          </a:solidFill>
          <a:ln w="12700">
            <a:solidFill>
              <a:srgbClr val="D7E0EA"/>
            </a:solidFill>
            <a:prstDash val="solid"/>
          </a:ln>
        </p:spPr>
      </p:sp>
      <p:sp>
        <p:nvSpPr>
          <p:cNvPr id="9" name="Shape 7"/>
          <p:cNvSpPr/>
          <p:nvPr/>
        </p:nvSpPr>
        <p:spPr>
          <a:xfrm>
            <a:off x="3337560" y="1554480"/>
            <a:ext cx="2331720" cy="822960"/>
          </a:xfrm>
          <a:prstGeom prst="roundRect">
            <a:avLst/>
          </a:prstGeom>
          <a:solidFill>
            <a:srgbClr val="2D8F5B"/>
          </a:solidFill>
          <a:ln w="12700">
            <a:solidFill>
              <a:srgbClr val="2D8F5B"/>
            </a:solidFill>
            <a:prstDash val="solid"/>
          </a:ln>
        </p:spPr>
      </p:sp>
      <p:sp>
        <p:nvSpPr>
          <p:cNvPr id="10" name="Text 8"/>
          <p:cNvSpPr/>
          <p:nvPr/>
        </p:nvSpPr>
        <p:spPr>
          <a:xfrm>
            <a:off x="3474720" y="1719072"/>
            <a:ext cx="1097280" cy="201168"/>
          </a:xfrm>
          <a:prstGeom prst="rect">
            <a:avLst/>
          </a:prstGeom>
          <a:noFill/>
          <a:ln/>
        </p:spPr>
        <p:txBody>
          <a:bodyPr wrap="square" lIns="0" tIns="0" rIns="0" bIns="0" rtlCol="0" anchor="ctr"/>
          <a:lstStyle/>
          <a:p>
            <a:pPr marL="0" indent="0">
              <a:buNone/>
            </a:pPr>
            <a:r>
              <a:rPr lang="en-US" sz="2000" b="1" dirty="0">
                <a:solidFill>
                  <a:srgbClr val="FFFFFF"/>
                </a:solidFill>
              </a:rPr>
              <a:t>DLI 2</a:t>
            </a:r>
            <a:endParaRPr lang="en-US" sz="2000" dirty="0"/>
          </a:p>
        </p:txBody>
      </p:sp>
      <p:sp>
        <p:nvSpPr>
          <p:cNvPr id="11" name="Text 9"/>
          <p:cNvSpPr/>
          <p:nvPr/>
        </p:nvSpPr>
        <p:spPr>
          <a:xfrm>
            <a:off x="3464087" y="1906629"/>
            <a:ext cx="2194560" cy="438912"/>
          </a:xfrm>
          <a:prstGeom prst="rect">
            <a:avLst/>
          </a:prstGeom>
          <a:noFill/>
          <a:ln/>
        </p:spPr>
        <p:txBody>
          <a:bodyPr wrap="square" lIns="0" tIns="0" rIns="0" bIns="0" rtlCol="0" anchor="ctr"/>
          <a:lstStyle/>
          <a:p>
            <a:pPr marL="0" indent="0">
              <a:buNone/>
            </a:pPr>
            <a:r>
              <a:rPr lang="en-US" sz="1400" b="1" dirty="0">
                <a:solidFill>
                  <a:srgbClr val="FFFFFF"/>
                </a:solidFill>
              </a:rPr>
              <a:t>SWM system</a:t>
            </a:r>
            <a:r>
              <a:rPr lang="en-US" sz="1400" dirty="0"/>
              <a:t> </a:t>
            </a:r>
            <a:r>
              <a:rPr lang="en-US" sz="1400" b="1" dirty="0">
                <a:solidFill>
                  <a:srgbClr val="FFFFFF"/>
                </a:solidFill>
              </a:rPr>
              <a:t>performance</a:t>
            </a:r>
            <a:endParaRPr lang="en-US" sz="1400" dirty="0"/>
          </a:p>
        </p:txBody>
      </p:sp>
      <p:sp>
        <p:nvSpPr>
          <p:cNvPr id="12" name="Text 10"/>
          <p:cNvSpPr/>
          <p:nvPr/>
        </p:nvSpPr>
        <p:spPr>
          <a:xfrm>
            <a:off x="3465576" y="2651760"/>
            <a:ext cx="2039112" cy="2926080"/>
          </a:xfrm>
          <a:prstGeom prst="rect">
            <a:avLst/>
          </a:prstGeom>
          <a:noFill/>
          <a:ln/>
        </p:spPr>
        <p:txBody>
          <a:bodyPr wrap="square" lIns="381" tIns="381" rIns="381" bIns="381" rtlCol="0" anchor="ctr">
            <a:normAutofit/>
          </a:bodyPr>
          <a:lstStyle/>
          <a:p>
            <a:pPr marL="0" indent="0">
              <a:buNone/>
            </a:pPr>
            <a:r>
              <a:rPr lang="en-US" sz="1520" dirty="0">
                <a:solidFill>
                  <a:srgbClr val="1D2833"/>
                </a:solidFill>
              </a:rPr>
              <a:t>PDD/MRV rollout, WMC revenue vs recurrent cost, landfill SOPs, SWM regulations.</a:t>
            </a:r>
            <a:endParaRPr lang="en-US" sz="1520" dirty="0"/>
          </a:p>
        </p:txBody>
      </p:sp>
      <p:sp>
        <p:nvSpPr>
          <p:cNvPr id="13" name="Shape 11"/>
          <p:cNvSpPr/>
          <p:nvPr/>
        </p:nvSpPr>
        <p:spPr>
          <a:xfrm>
            <a:off x="5989320" y="1554480"/>
            <a:ext cx="2331720" cy="4526280"/>
          </a:xfrm>
          <a:prstGeom prst="roundRect">
            <a:avLst/>
          </a:prstGeom>
          <a:solidFill>
            <a:srgbClr val="FFFFFF"/>
          </a:solidFill>
          <a:ln w="12700">
            <a:solidFill>
              <a:srgbClr val="D7E0EA"/>
            </a:solidFill>
            <a:prstDash val="solid"/>
          </a:ln>
        </p:spPr>
      </p:sp>
      <p:sp>
        <p:nvSpPr>
          <p:cNvPr id="14" name="Shape 12"/>
          <p:cNvSpPr/>
          <p:nvPr/>
        </p:nvSpPr>
        <p:spPr>
          <a:xfrm>
            <a:off x="5989320" y="1554480"/>
            <a:ext cx="2331720" cy="822960"/>
          </a:xfrm>
          <a:prstGeom prst="roundRect">
            <a:avLst/>
          </a:prstGeom>
          <a:solidFill>
            <a:srgbClr val="D97A2B"/>
          </a:solidFill>
          <a:ln w="12700">
            <a:solidFill>
              <a:srgbClr val="D97A2B"/>
            </a:solidFill>
            <a:prstDash val="solid"/>
          </a:ln>
        </p:spPr>
      </p:sp>
      <p:sp>
        <p:nvSpPr>
          <p:cNvPr id="15" name="Text 13"/>
          <p:cNvSpPr/>
          <p:nvPr/>
        </p:nvSpPr>
        <p:spPr>
          <a:xfrm>
            <a:off x="6126480" y="1719072"/>
            <a:ext cx="1097280" cy="201168"/>
          </a:xfrm>
          <a:prstGeom prst="rect">
            <a:avLst/>
          </a:prstGeom>
          <a:noFill/>
          <a:ln/>
        </p:spPr>
        <p:txBody>
          <a:bodyPr wrap="square" lIns="0" tIns="0" rIns="0" bIns="0" rtlCol="0" anchor="ctr"/>
          <a:lstStyle/>
          <a:p>
            <a:pPr marL="0" indent="0">
              <a:buNone/>
            </a:pPr>
            <a:r>
              <a:rPr lang="en-US" sz="2000" b="1" dirty="0">
                <a:solidFill>
                  <a:srgbClr val="FFFFFF"/>
                </a:solidFill>
              </a:rPr>
              <a:t>DLI 3–5</a:t>
            </a:r>
            <a:endParaRPr lang="en-US" sz="2000" dirty="0"/>
          </a:p>
        </p:txBody>
      </p:sp>
      <p:sp>
        <p:nvSpPr>
          <p:cNvPr id="16" name="Text 14"/>
          <p:cNvSpPr/>
          <p:nvPr/>
        </p:nvSpPr>
        <p:spPr>
          <a:xfrm>
            <a:off x="6126480" y="1970427"/>
            <a:ext cx="2194560" cy="320040"/>
          </a:xfrm>
          <a:prstGeom prst="rect">
            <a:avLst/>
          </a:prstGeom>
          <a:noFill/>
          <a:ln/>
        </p:spPr>
        <p:txBody>
          <a:bodyPr wrap="square" lIns="0" tIns="0" rIns="0" bIns="0" rtlCol="0" anchor="ctr"/>
          <a:lstStyle/>
          <a:p>
            <a:pPr marL="0" indent="0">
              <a:buNone/>
            </a:pPr>
            <a:r>
              <a:rPr lang="en-US" sz="1400" b="1" dirty="0">
                <a:solidFill>
                  <a:srgbClr val="FFFFFF"/>
                </a:solidFill>
              </a:rPr>
              <a:t>MACs, PMs &amp;</a:t>
            </a:r>
            <a:r>
              <a:rPr lang="en-US" sz="1400" dirty="0"/>
              <a:t> </a:t>
            </a:r>
            <a:r>
              <a:rPr lang="en-US" sz="1400" b="1" dirty="0">
                <a:solidFill>
                  <a:srgbClr val="FFFFFF"/>
                </a:solidFill>
              </a:rPr>
              <a:t>revenue</a:t>
            </a:r>
            <a:endParaRPr lang="en-US" sz="1400" dirty="0"/>
          </a:p>
        </p:txBody>
      </p:sp>
      <p:sp>
        <p:nvSpPr>
          <p:cNvPr id="17" name="Text 15"/>
          <p:cNvSpPr/>
          <p:nvPr/>
        </p:nvSpPr>
        <p:spPr>
          <a:xfrm>
            <a:off x="6117336" y="2651760"/>
            <a:ext cx="2039112" cy="2926080"/>
          </a:xfrm>
          <a:prstGeom prst="rect">
            <a:avLst/>
          </a:prstGeom>
          <a:noFill/>
          <a:ln/>
        </p:spPr>
        <p:txBody>
          <a:bodyPr wrap="square" lIns="381" tIns="381" rIns="381" bIns="381" rtlCol="0" anchor="ctr">
            <a:normAutofit/>
          </a:bodyPr>
          <a:lstStyle/>
          <a:p>
            <a:pPr marL="0" indent="0">
              <a:buNone/>
            </a:pPr>
            <a:r>
              <a:rPr lang="en-US" sz="1520" dirty="0">
                <a:solidFill>
                  <a:srgbClr val="1D2833"/>
                </a:solidFill>
              </a:rPr>
              <a:t>MAC compliance, PM scoring, audited statements, tariff/tax/fee revenue validation.</a:t>
            </a:r>
            <a:endParaRPr lang="en-US" sz="1520" dirty="0"/>
          </a:p>
        </p:txBody>
      </p:sp>
      <p:sp>
        <p:nvSpPr>
          <p:cNvPr id="18" name="Shape 16"/>
          <p:cNvSpPr/>
          <p:nvPr/>
        </p:nvSpPr>
        <p:spPr>
          <a:xfrm>
            <a:off x="8641080" y="1554480"/>
            <a:ext cx="2331720" cy="4526280"/>
          </a:xfrm>
          <a:prstGeom prst="roundRect">
            <a:avLst/>
          </a:prstGeom>
          <a:solidFill>
            <a:srgbClr val="FFFFFF"/>
          </a:solidFill>
          <a:ln w="12700">
            <a:solidFill>
              <a:srgbClr val="D7E0EA"/>
            </a:solidFill>
            <a:prstDash val="solid"/>
          </a:ln>
        </p:spPr>
      </p:sp>
      <p:sp>
        <p:nvSpPr>
          <p:cNvPr id="19" name="Shape 17"/>
          <p:cNvSpPr/>
          <p:nvPr/>
        </p:nvSpPr>
        <p:spPr>
          <a:xfrm>
            <a:off x="8641080" y="1554480"/>
            <a:ext cx="2331720" cy="822960"/>
          </a:xfrm>
          <a:prstGeom prst="roundRect">
            <a:avLst/>
          </a:prstGeom>
          <a:solidFill>
            <a:srgbClr val="1F8A8A"/>
          </a:solidFill>
          <a:ln w="12700">
            <a:solidFill>
              <a:srgbClr val="1F8A8A"/>
            </a:solidFill>
            <a:prstDash val="solid"/>
          </a:ln>
        </p:spPr>
      </p:sp>
      <p:sp>
        <p:nvSpPr>
          <p:cNvPr id="20" name="Text 18"/>
          <p:cNvSpPr/>
          <p:nvPr/>
        </p:nvSpPr>
        <p:spPr>
          <a:xfrm>
            <a:off x="8778240" y="1676540"/>
            <a:ext cx="1620402" cy="201168"/>
          </a:xfrm>
          <a:prstGeom prst="rect">
            <a:avLst/>
          </a:prstGeom>
          <a:noFill/>
          <a:ln/>
        </p:spPr>
        <p:txBody>
          <a:bodyPr wrap="square" lIns="0" tIns="0" rIns="0" bIns="0" rtlCol="0" anchor="ctr"/>
          <a:lstStyle/>
          <a:p>
            <a:pPr marL="0" indent="0">
              <a:buNone/>
            </a:pPr>
            <a:r>
              <a:rPr lang="en-US" sz="2000" b="1" dirty="0">
                <a:solidFill>
                  <a:srgbClr val="FFFFFF"/>
                </a:solidFill>
              </a:rPr>
              <a:t>DLI 6 + E&amp;S</a:t>
            </a:r>
            <a:endParaRPr lang="en-US" sz="2000" dirty="0"/>
          </a:p>
        </p:txBody>
      </p:sp>
      <p:sp>
        <p:nvSpPr>
          <p:cNvPr id="21" name="Text 19"/>
          <p:cNvSpPr/>
          <p:nvPr/>
        </p:nvSpPr>
        <p:spPr>
          <a:xfrm>
            <a:off x="8778240" y="1938528"/>
            <a:ext cx="2039112" cy="438912"/>
          </a:xfrm>
          <a:prstGeom prst="rect">
            <a:avLst/>
          </a:prstGeom>
          <a:noFill/>
          <a:ln/>
        </p:spPr>
        <p:txBody>
          <a:bodyPr wrap="square" lIns="0" tIns="0" rIns="0" bIns="0" rtlCol="0" anchor="ctr"/>
          <a:lstStyle/>
          <a:p>
            <a:pPr marL="0" indent="0">
              <a:buNone/>
            </a:pPr>
            <a:r>
              <a:rPr lang="en-US" sz="1400" b="1" dirty="0">
                <a:solidFill>
                  <a:srgbClr val="FFFFFF"/>
                </a:solidFill>
              </a:rPr>
              <a:t>PPP contract &amp;</a:t>
            </a:r>
            <a:endParaRPr lang="en-US" sz="1400" dirty="0"/>
          </a:p>
          <a:p>
            <a:pPr marL="0" indent="0">
              <a:buNone/>
            </a:pPr>
            <a:r>
              <a:rPr lang="en-US" sz="1400" b="1" dirty="0">
                <a:solidFill>
                  <a:srgbClr val="FFFFFF"/>
                </a:solidFill>
              </a:rPr>
              <a:t>E&amp;S compliance</a:t>
            </a:r>
            <a:endParaRPr lang="en-US" sz="1400" dirty="0"/>
          </a:p>
        </p:txBody>
      </p:sp>
      <p:sp>
        <p:nvSpPr>
          <p:cNvPr id="22" name="Text 20"/>
          <p:cNvSpPr/>
          <p:nvPr/>
        </p:nvSpPr>
        <p:spPr>
          <a:xfrm>
            <a:off x="8769096" y="2651760"/>
            <a:ext cx="2039112" cy="2926080"/>
          </a:xfrm>
          <a:prstGeom prst="rect">
            <a:avLst/>
          </a:prstGeom>
          <a:noFill/>
          <a:ln/>
        </p:spPr>
        <p:txBody>
          <a:bodyPr wrap="square" lIns="381" tIns="381" rIns="381" bIns="381" rtlCol="0" anchor="ctr">
            <a:normAutofit/>
          </a:bodyPr>
          <a:lstStyle/>
          <a:p>
            <a:pPr marL="0" indent="0">
              <a:buNone/>
            </a:pPr>
            <a:r>
              <a:rPr lang="en-US" sz="1520" dirty="0">
                <a:solidFill>
                  <a:srgbClr val="1D2833"/>
                </a:solidFill>
              </a:rPr>
              <a:t>PPP contract review under Punjab PPP Act 2025; ESCF, ESIA/ESMP/RAP/GRM and field compliance.</a:t>
            </a:r>
            <a:endParaRPr lang="en-US" sz="1520" dirty="0"/>
          </a:p>
        </p:txBody>
      </p:sp>
      <p:sp>
        <p:nvSpPr>
          <p:cNvPr id="25" name="Slide Number Placeholder 0"/>
          <p:cNvSpPr>
            <a:spLocks noGrp="1"/>
          </p:cNvSpPr>
          <p:nvPr>
            <p:ph type="sldNum" sz="quarter" idx="4294967295"/>
          </p:nvPr>
        </p:nvSpPr>
        <p:spPr>
          <a:xfrm>
            <a:off x="11521440" y="6510528"/>
            <a:ext cx="320040" cy="18288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000" kern="1200">
                <a:solidFill>
                  <a:srgbClr val="FFFFFF"/>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487494" y="446141"/>
            <a:ext cx="9988226" cy="489736"/>
          </a:xfrm>
          <a:prstGeom prst="rect">
            <a:avLst/>
          </a:prstGeom>
          <a:noFill/>
          <a:ln/>
        </p:spPr>
        <p:txBody>
          <a:bodyPr wrap="square" lIns="0" tIns="0" rIns="0" bIns="0" rtlCol="0" anchor="ctr"/>
          <a:lstStyle/>
          <a:p>
            <a:pPr marL="0" indent="0">
              <a:buNone/>
            </a:pPr>
            <a:r>
              <a:rPr lang="en-US" sz="2400" b="1" dirty="0">
                <a:solidFill>
                  <a:srgbClr val="0E3A5D"/>
                </a:solidFill>
                <a:latin typeface="Aptos Display" pitchFamily="34" charset="0"/>
                <a:ea typeface="Aptos Display" pitchFamily="34" charset="-122"/>
                <a:cs typeface="Aptos Display" pitchFamily="34" charset="-120"/>
              </a:rPr>
              <a:t>Our understanding of the assignment – Integrated Methodology Framework </a:t>
            </a:r>
            <a:endParaRPr lang="en-US" sz="2400" dirty="0"/>
          </a:p>
        </p:txBody>
      </p:sp>
      <p:sp>
        <p:nvSpPr>
          <p:cNvPr id="3" name="Shape 1"/>
          <p:cNvSpPr/>
          <p:nvPr/>
        </p:nvSpPr>
        <p:spPr>
          <a:xfrm>
            <a:off x="685800" y="1892594"/>
            <a:ext cx="5349240" cy="4051005"/>
          </a:xfrm>
          <a:prstGeom prst="roundRect">
            <a:avLst/>
          </a:prstGeom>
          <a:solidFill>
            <a:srgbClr val="FFFFFF"/>
          </a:solidFill>
          <a:ln w="12700">
            <a:solidFill>
              <a:srgbClr val="D7E0EA"/>
            </a:solidFill>
            <a:prstDash val="solid"/>
          </a:ln>
        </p:spPr>
      </p:sp>
      <p:sp>
        <p:nvSpPr>
          <p:cNvPr id="4" name="Shape 2"/>
          <p:cNvSpPr/>
          <p:nvPr/>
        </p:nvSpPr>
        <p:spPr>
          <a:xfrm>
            <a:off x="6172200" y="1892594"/>
            <a:ext cx="5349240" cy="4051005"/>
          </a:xfrm>
          <a:prstGeom prst="roundRect">
            <a:avLst/>
          </a:prstGeom>
          <a:solidFill>
            <a:srgbClr val="FFFFFF"/>
          </a:solidFill>
          <a:ln w="12700">
            <a:solidFill>
              <a:srgbClr val="D7E0EA"/>
            </a:solidFill>
            <a:prstDash val="solid"/>
          </a:ln>
        </p:spPr>
      </p:sp>
      <p:sp>
        <p:nvSpPr>
          <p:cNvPr id="5" name="Text 3"/>
          <p:cNvSpPr/>
          <p:nvPr/>
        </p:nvSpPr>
        <p:spPr>
          <a:xfrm>
            <a:off x="1116418" y="2089264"/>
            <a:ext cx="4598581" cy="548931"/>
          </a:xfrm>
          <a:prstGeom prst="rect">
            <a:avLst/>
          </a:prstGeom>
          <a:solidFill>
            <a:srgbClr val="3F73A8"/>
          </a:solidFill>
          <a:ln>
            <a:solidFill>
              <a:srgbClr val="3F73A8"/>
            </a:solidFill>
          </a:ln>
        </p:spPr>
        <p:txBody>
          <a:bodyPr wrap="square" lIns="254" tIns="254" rIns="254" bIns="254" rtlCol="0" anchor="ctr"/>
          <a:lstStyle/>
          <a:p>
            <a:pPr algn="ctr"/>
            <a:r>
              <a:rPr lang="en-US" b="1" dirty="0">
                <a:solidFill>
                  <a:srgbClr val="FFFFFF"/>
                </a:solidFill>
              </a:rPr>
              <a:t>Workstream 1: Annual IVA / APA  Verification</a:t>
            </a:r>
            <a:endParaRPr lang="en-US" dirty="0"/>
          </a:p>
        </p:txBody>
      </p:sp>
      <p:sp>
        <p:nvSpPr>
          <p:cNvPr id="6" name="Text 4"/>
          <p:cNvSpPr/>
          <p:nvPr/>
        </p:nvSpPr>
        <p:spPr>
          <a:xfrm>
            <a:off x="6689899" y="2089264"/>
            <a:ext cx="4385683" cy="575253"/>
          </a:xfrm>
          <a:prstGeom prst="rect">
            <a:avLst/>
          </a:prstGeom>
          <a:solidFill>
            <a:srgbClr val="1F8A8A"/>
          </a:solidFill>
          <a:ln>
            <a:solidFill>
              <a:srgbClr val="1F8A8A"/>
            </a:solidFill>
          </a:ln>
        </p:spPr>
        <p:txBody>
          <a:bodyPr wrap="square" lIns="254" tIns="254" rIns="254" bIns="254" rtlCol="0" anchor="ctr"/>
          <a:lstStyle/>
          <a:p>
            <a:pPr algn="ctr"/>
            <a:r>
              <a:rPr lang="en-US" b="1" dirty="0">
                <a:solidFill>
                  <a:srgbClr val="FFFFFF"/>
                </a:solidFill>
              </a:rPr>
              <a:t>Workstream 2: Quarterly E&amp;S Third-Party Monitoring</a:t>
            </a:r>
            <a:endParaRPr lang="en-US" dirty="0"/>
          </a:p>
        </p:txBody>
      </p:sp>
      <p:sp>
        <p:nvSpPr>
          <p:cNvPr id="7" name="Text 5"/>
          <p:cNvSpPr/>
          <p:nvPr/>
        </p:nvSpPr>
        <p:spPr>
          <a:xfrm>
            <a:off x="1051560" y="2987121"/>
            <a:ext cx="4663440" cy="2618832"/>
          </a:xfrm>
          <a:prstGeom prst="rect">
            <a:avLst/>
          </a:prstGeom>
          <a:noFill/>
          <a:ln/>
        </p:spPr>
        <p:txBody>
          <a:bodyPr wrap="square" lIns="381" tIns="381" rIns="381" bIns="381" rtlCol="0" anchor="ctr"/>
          <a:lstStyle/>
          <a:p>
            <a:pPr marL="177800" indent="-177800" algn="just">
              <a:buSzPct val="100000"/>
              <a:buChar char="•"/>
            </a:pPr>
            <a:r>
              <a:rPr lang="en-US" sz="1700" dirty="0">
                <a:solidFill>
                  <a:srgbClr val="1D2833"/>
                </a:solidFill>
              </a:rPr>
              <a:t>Verify DLI 1, 3, 4 and 5 annually; verify DLI 2 and DLI 6 on a rolling basis as results become available.</a:t>
            </a:r>
            <a:endParaRPr lang="en-US" sz="1700" dirty="0"/>
          </a:p>
          <a:p>
            <a:pPr marL="177800" indent="-177800" algn="just">
              <a:buSzPct val="100000"/>
              <a:buChar char="•"/>
            </a:pPr>
            <a:r>
              <a:rPr lang="en-US" sz="1700" dirty="0">
                <a:solidFill>
                  <a:srgbClr val="1D2833"/>
                </a:solidFill>
              </a:rPr>
              <a:t>Use paper audits, site inspections, household checks, water/wastewater quality testing, stakeholder verification and documentary review.</a:t>
            </a:r>
            <a:endParaRPr lang="en-US" sz="1700" dirty="0"/>
          </a:p>
          <a:p>
            <a:pPr marL="177800" indent="-177800" algn="just">
              <a:buSzPct val="100000"/>
              <a:buChar char="•"/>
            </a:pPr>
            <a:r>
              <a:rPr lang="en-US" sz="1700" dirty="0">
                <a:solidFill>
                  <a:srgbClr val="1D2833"/>
                </a:solidFill>
              </a:rPr>
              <a:t>Determine compliance with Minimum Access Conditions and score Performance Measures for disbursement allocation.</a:t>
            </a:r>
          </a:p>
          <a:p>
            <a:pPr>
              <a:buSzPct val="100000"/>
            </a:pPr>
            <a:endParaRPr lang="en-US" sz="1700" dirty="0"/>
          </a:p>
        </p:txBody>
      </p:sp>
      <p:sp>
        <p:nvSpPr>
          <p:cNvPr id="8" name="Text 6"/>
          <p:cNvSpPr/>
          <p:nvPr/>
        </p:nvSpPr>
        <p:spPr>
          <a:xfrm>
            <a:off x="6452366" y="2861187"/>
            <a:ext cx="4840474" cy="2618832"/>
          </a:xfrm>
          <a:prstGeom prst="rect">
            <a:avLst/>
          </a:prstGeom>
          <a:noFill/>
          <a:ln/>
        </p:spPr>
        <p:txBody>
          <a:bodyPr wrap="square" lIns="381" tIns="381" rIns="381" bIns="381" rtlCol="0" anchor="ctr"/>
          <a:lstStyle/>
          <a:p>
            <a:pPr marL="177800" indent="-177800">
              <a:buSzPct val="100000"/>
              <a:buChar char="•"/>
            </a:pPr>
            <a:r>
              <a:rPr lang="en-US" sz="1700" dirty="0">
                <a:solidFill>
                  <a:srgbClr val="1D2833"/>
                </a:solidFill>
              </a:rPr>
              <a:t>Quarterly third-party monitoring of environmental and social management for PforR and IPF components.</a:t>
            </a:r>
            <a:endParaRPr lang="en-US" sz="1700" dirty="0"/>
          </a:p>
          <a:p>
            <a:pPr marL="177800" indent="-177800">
              <a:buSzPct val="100000"/>
              <a:buChar char="•"/>
            </a:pPr>
            <a:r>
              <a:rPr lang="en-US" sz="1700" dirty="0">
                <a:solidFill>
                  <a:srgbClr val="1D2833"/>
                </a:solidFill>
              </a:rPr>
              <a:t>Check E&amp;S compliance framework, screening and categorization, safeguard instruments, GRM (</a:t>
            </a:r>
            <a:r>
              <a:rPr lang="en-US" sz="1600" dirty="0"/>
              <a:t>Grievance Redress Mechanism)</a:t>
            </a:r>
            <a:r>
              <a:rPr lang="en-US" sz="1700" dirty="0">
                <a:solidFill>
                  <a:srgbClr val="1D2833"/>
                </a:solidFill>
              </a:rPr>
              <a:t>,  Stakeholder consultations, staffing and field compliance.</a:t>
            </a:r>
            <a:endParaRPr lang="en-US" sz="1700" dirty="0"/>
          </a:p>
          <a:p>
            <a:pPr marL="177800" indent="-177800">
              <a:buSzPct val="100000"/>
              <a:buChar char="•"/>
            </a:pPr>
            <a:r>
              <a:rPr lang="en-US" sz="1700" dirty="0">
                <a:solidFill>
                  <a:srgbClr val="1D2833"/>
                </a:solidFill>
              </a:rPr>
              <a:t>Provide findings, recommendations, and completion report to strengthen continuous compliance.</a:t>
            </a:r>
            <a:endParaRPr lang="en-US" sz="1700" dirty="0"/>
          </a:p>
        </p:txBody>
      </p:sp>
      <p:sp>
        <p:nvSpPr>
          <p:cNvPr id="25" name="Slide Number Placeholder 0"/>
          <p:cNvSpPr>
            <a:spLocks noGrp="1"/>
          </p:cNvSpPr>
          <p:nvPr>
            <p:ph type="sldNum" sz="quarter" idx="4294967295"/>
          </p:nvPr>
        </p:nvSpPr>
        <p:spPr>
          <a:xfrm>
            <a:off x="11521440" y="6510528"/>
            <a:ext cx="320040" cy="18288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000" kern="1200">
                <a:solidFill>
                  <a:srgbClr val="FFFFFF"/>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6</a:t>
            </a:fld>
            <a:endParaRPr lang="en-US"/>
          </a:p>
        </p:txBody>
      </p:sp>
      <p:sp>
        <p:nvSpPr>
          <p:cNvPr id="11" name="Shape 12">
            <a:extLst>
              <a:ext uri="{FF2B5EF4-FFF2-40B4-BE49-F238E27FC236}">
                <a16:creationId xmlns:a16="http://schemas.microsoft.com/office/drawing/2014/main" id="{E445472D-A75D-E31B-ACA7-D585BF156429}"/>
              </a:ext>
            </a:extLst>
          </p:cNvPr>
          <p:cNvSpPr/>
          <p:nvPr/>
        </p:nvSpPr>
        <p:spPr>
          <a:xfrm>
            <a:off x="1508760" y="6148808"/>
            <a:ext cx="9555480" cy="310896"/>
          </a:xfrm>
          <a:prstGeom prst="roundRect">
            <a:avLst>
              <a:gd name="adj" fmla="val 41176"/>
            </a:avLst>
          </a:prstGeom>
          <a:solidFill>
            <a:srgbClr val="FFFFFF"/>
          </a:solidFill>
          <a:ln w="12700">
            <a:solidFill>
              <a:srgbClr val="D7DEE7"/>
            </a:solidFill>
            <a:prstDash val="solid"/>
          </a:ln>
        </p:spPr>
      </p:sp>
      <p:sp>
        <p:nvSpPr>
          <p:cNvPr id="12" name="Text 13">
            <a:extLst>
              <a:ext uri="{FF2B5EF4-FFF2-40B4-BE49-F238E27FC236}">
                <a16:creationId xmlns:a16="http://schemas.microsoft.com/office/drawing/2014/main" id="{F43D7D5A-8E57-87DA-6C80-3BF2EDC3E2BB}"/>
              </a:ext>
            </a:extLst>
          </p:cNvPr>
          <p:cNvSpPr/>
          <p:nvPr/>
        </p:nvSpPr>
        <p:spPr>
          <a:xfrm>
            <a:off x="1508760" y="6194528"/>
            <a:ext cx="9555480" cy="182880"/>
          </a:xfrm>
          <a:prstGeom prst="rect">
            <a:avLst/>
          </a:prstGeom>
          <a:noFill/>
          <a:ln/>
        </p:spPr>
        <p:txBody>
          <a:bodyPr wrap="square" lIns="0" tIns="0" rIns="0" bIns="0" rtlCol="0" anchor="ctr"/>
          <a:lstStyle/>
          <a:p>
            <a:pPr marL="0" indent="0" algn="ctr">
              <a:buNone/>
            </a:pPr>
            <a:r>
              <a:rPr lang="en-US" sz="1100" b="1" dirty="0">
                <a:solidFill>
                  <a:srgbClr val="243447"/>
                </a:solidFill>
              </a:rPr>
              <a:t>Outputs: verified results, compliance insights, funding implications, corrective action tracking</a:t>
            </a:r>
            <a:endParaRPr lang="en-US" sz="1100" dirty="0"/>
          </a:p>
        </p:txBody>
      </p:sp>
      <p:sp>
        <p:nvSpPr>
          <p:cNvPr id="13" name="Shape 2">
            <a:extLst>
              <a:ext uri="{FF2B5EF4-FFF2-40B4-BE49-F238E27FC236}">
                <a16:creationId xmlns:a16="http://schemas.microsoft.com/office/drawing/2014/main" id="{6A9284A7-5043-D03B-FFBA-492C41B67ECE}"/>
              </a:ext>
            </a:extLst>
          </p:cNvPr>
          <p:cNvSpPr/>
          <p:nvPr/>
        </p:nvSpPr>
        <p:spPr>
          <a:xfrm>
            <a:off x="685800" y="1204881"/>
            <a:ext cx="10789920" cy="502920"/>
          </a:xfrm>
          <a:prstGeom prst="roundRect">
            <a:avLst>
              <a:gd name="adj" fmla="val 18182"/>
            </a:avLst>
          </a:prstGeom>
          <a:solidFill>
            <a:srgbClr val="103B66"/>
          </a:solidFill>
          <a:ln w="12700">
            <a:solidFill>
              <a:srgbClr val="103B66"/>
            </a:solidFill>
            <a:prstDash val="solid"/>
          </a:ln>
        </p:spPr>
      </p:sp>
      <p:sp>
        <p:nvSpPr>
          <p:cNvPr id="14" name="Text 3">
            <a:extLst>
              <a:ext uri="{FF2B5EF4-FFF2-40B4-BE49-F238E27FC236}">
                <a16:creationId xmlns:a16="http://schemas.microsoft.com/office/drawing/2014/main" id="{1EF82171-5DAA-31B7-FB97-8AD83C41048C}"/>
              </a:ext>
            </a:extLst>
          </p:cNvPr>
          <p:cNvSpPr/>
          <p:nvPr/>
        </p:nvSpPr>
        <p:spPr>
          <a:xfrm>
            <a:off x="868680" y="1369473"/>
            <a:ext cx="10424160" cy="164592"/>
          </a:xfrm>
          <a:prstGeom prst="rect">
            <a:avLst/>
          </a:prstGeom>
          <a:noFill/>
          <a:ln/>
        </p:spPr>
        <p:txBody>
          <a:bodyPr wrap="square" lIns="0" tIns="0" rIns="0" bIns="0" rtlCol="0" anchor="ctr"/>
          <a:lstStyle/>
          <a:p>
            <a:pPr marL="0" indent="0" algn="ctr">
              <a:buNone/>
            </a:pPr>
            <a:r>
              <a:rPr lang="en-US" sz="1500" b="1" dirty="0">
                <a:solidFill>
                  <a:srgbClr val="FFFFFF"/>
                </a:solidFill>
              </a:rPr>
              <a:t>Common platform: mobilization • tools &amp; templates • evidence registers • QA protocols • dashboard reporting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4">
            <a:extLst>
              <a:ext uri="{FF2B5EF4-FFF2-40B4-BE49-F238E27FC236}">
                <a16:creationId xmlns:a16="http://schemas.microsoft.com/office/drawing/2014/main" id="{D09925CA-36B4-5491-DB6C-CAEEDA8612AF}"/>
              </a:ext>
            </a:extLst>
          </p:cNvPr>
          <p:cNvSpPr/>
          <p:nvPr/>
        </p:nvSpPr>
        <p:spPr>
          <a:xfrm>
            <a:off x="3515478" y="2113044"/>
            <a:ext cx="0" cy="100584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2" name="Text 0"/>
          <p:cNvSpPr/>
          <p:nvPr/>
        </p:nvSpPr>
        <p:spPr>
          <a:xfrm>
            <a:off x="621792" y="438912"/>
            <a:ext cx="10332720" cy="310896"/>
          </a:xfrm>
          <a:prstGeom prst="rect">
            <a:avLst/>
          </a:prstGeom>
          <a:noFill/>
          <a:ln/>
        </p:spPr>
        <p:txBody>
          <a:bodyPr wrap="square" lIns="0" tIns="0" rIns="0" bIns="0" rtlCol="0" anchor="ctr"/>
          <a:lstStyle/>
          <a:p>
            <a:pPr marL="0" indent="0">
              <a:buNone/>
            </a:pPr>
            <a:r>
              <a:rPr lang="en-US" sz="2400" b="1" dirty="0">
                <a:solidFill>
                  <a:srgbClr val="103B73"/>
                </a:solidFill>
                <a:latin typeface="Aptos Display" pitchFamily="34" charset="0"/>
                <a:ea typeface="Aptos Display" pitchFamily="34" charset="-122"/>
                <a:cs typeface="Aptos Display" pitchFamily="34" charset="-120"/>
              </a:rPr>
              <a:t> Overall technical approach for IVA and E&amp;S third-party monitoring</a:t>
            </a:r>
            <a:endParaRPr lang="en-US" sz="2400" dirty="0"/>
          </a:p>
        </p:txBody>
      </p:sp>
      <p:sp>
        <p:nvSpPr>
          <p:cNvPr id="4" name="Shape 2"/>
          <p:cNvSpPr/>
          <p:nvPr/>
        </p:nvSpPr>
        <p:spPr>
          <a:xfrm>
            <a:off x="2011680" y="1874520"/>
            <a:ext cx="731520" cy="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5" name="Shape 3"/>
          <p:cNvSpPr/>
          <p:nvPr/>
        </p:nvSpPr>
        <p:spPr>
          <a:xfrm>
            <a:off x="4297680" y="1874520"/>
            <a:ext cx="594360" cy="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6" name="Shape 4"/>
          <p:cNvSpPr/>
          <p:nvPr/>
        </p:nvSpPr>
        <p:spPr>
          <a:xfrm>
            <a:off x="6126480" y="2240280"/>
            <a:ext cx="0" cy="54864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7" name="Shape 5"/>
          <p:cNvSpPr/>
          <p:nvPr/>
        </p:nvSpPr>
        <p:spPr>
          <a:xfrm>
            <a:off x="9361170" y="2240280"/>
            <a:ext cx="0" cy="54864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8" name="Shape 6"/>
          <p:cNvSpPr/>
          <p:nvPr/>
        </p:nvSpPr>
        <p:spPr>
          <a:xfrm>
            <a:off x="6126479" y="4633725"/>
            <a:ext cx="0" cy="54864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9" name="Shape 7"/>
          <p:cNvSpPr/>
          <p:nvPr/>
        </p:nvSpPr>
        <p:spPr>
          <a:xfrm>
            <a:off x="9372599" y="4633725"/>
            <a:ext cx="0" cy="54864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10" name="Shape 8"/>
          <p:cNvSpPr/>
          <p:nvPr/>
        </p:nvSpPr>
        <p:spPr>
          <a:xfrm>
            <a:off x="7315199" y="5593845"/>
            <a:ext cx="822960" cy="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11" name="Text 9"/>
          <p:cNvSpPr/>
          <p:nvPr/>
        </p:nvSpPr>
        <p:spPr>
          <a:xfrm>
            <a:off x="868680" y="1463040"/>
            <a:ext cx="1143000" cy="68580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400" b="1" dirty="0">
                <a:solidFill>
                  <a:srgbClr val="103B73"/>
                </a:solidFill>
              </a:rPr>
              <a:t>Mobilization</a:t>
            </a:r>
            <a:endParaRPr lang="en-US" sz="1400" dirty="0"/>
          </a:p>
        </p:txBody>
      </p:sp>
      <p:sp>
        <p:nvSpPr>
          <p:cNvPr id="12" name="Text 10"/>
          <p:cNvSpPr/>
          <p:nvPr/>
        </p:nvSpPr>
        <p:spPr>
          <a:xfrm>
            <a:off x="2743200" y="1463040"/>
            <a:ext cx="1554480" cy="68580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400" b="1" dirty="0">
                <a:solidFill>
                  <a:srgbClr val="103B73"/>
                </a:solidFill>
              </a:rPr>
              <a:t>Inception and</a:t>
            </a:r>
            <a:endParaRPr lang="en-US" sz="1400" dirty="0"/>
          </a:p>
          <a:p>
            <a:pPr marL="0" indent="0" algn="ctr">
              <a:buNone/>
            </a:pPr>
            <a:r>
              <a:rPr lang="en-US" sz="1400" b="1" dirty="0">
                <a:solidFill>
                  <a:srgbClr val="103B73"/>
                </a:solidFill>
              </a:rPr>
              <a:t>tool finalization</a:t>
            </a:r>
            <a:endParaRPr lang="en-US" sz="1400" dirty="0"/>
          </a:p>
        </p:txBody>
      </p:sp>
      <p:sp>
        <p:nvSpPr>
          <p:cNvPr id="13" name="Text 11"/>
          <p:cNvSpPr/>
          <p:nvPr/>
        </p:nvSpPr>
        <p:spPr>
          <a:xfrm>
            <a:off x="4892040" y="1234440"/>
            <a:ext cx="2468880" cy="100584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600" b="1" dirty="0">
                <a:solidFill>
                  <a:srgbClr val="103B73"/>
                </a:solidFill>
              </a:rPr>
              <a:t>Stream A</a:t>
            </a:r>
            <a:endParaRPr lang="en-US" sz="1600" dirty="0"/>
          </a:p>
          <a:p>
            <a:pPr marL="0" indent="0" algn="ctr">
              <a:buNone/>
            </a:pPr>
            <a:r>
              <a:rPr lang="en-US" sz="1600" b="1" dirty="0">
                <a:solidFill>
                  <a:srgbClr val="103B73"/>
                </a:solidFill>
              </a:rPr>
              <a:t>IVA / APA / DLI verification</a:t>
            </a:r>
            <a:endParaRPr lang="en-US" sz="1600" dirty="0"/>
          </a:p>
        </p:txBody>
      </p:sp>
      <p:sp>
        <p:nvSpPr>
          <p:cNvPr id="14" name="Text 12"/>
          <p:cNvSpPr/>
          <p:nvPr/>
        </p:nvSpPr>
        <p:spPr>
          <a:xfrm>
            <a:off x="8126730" y="1234440"/>
            <a:ext cx="2468880" cy="1005840"/>
          </a:xfrm>
          <a:prstGeom prst="roundRect">
            <a:avLst/>
          </a:prstGeom>
          <a:solidFill>
            <a:srgbClr val="EEF9F8"/>
          </a:solidFill>
          <a:ln>
            <a:solidFill>
              <a:srgbClr val="148F97"/>
            </a:solidFill>
          </a:ln>
        </p:spPr>
        <p:txBody>
          <a:bodyPr wrap="square" lIns="762" tIns="762" rIns="762" bIns="762" rtlCol="0" anchor="ctr"/>
          <a:lstStyle/>
          <a:p>
            <a:pPr marL="0" indent="0" algn="ctr">
              <a:buNone/>
            </a:pPr>
            <a:r>
              <a:rPr lang="en-US" sz="1600" b="1" dirty="0">
                <a:solidFill>
                  <a:srgbClr val="103B73"/>
                </a:solidFill>
              </a:rPr>
              <a:t>Stream B</a:t>
            </a:r>
            <a:endParaRPr lang="en-US" sz="1600" dirty="0"/>
          </a:p>
          <a:p>
            <a:pPr marL="0" indent="0" algn="ctr">
              <a:buNone/>
            </a:pPr>
            <a:r>
              <a:rPr lang="en-US" sz="1600" b="1" dirty="0">
                <a:solidFill>
                  <a:srgbClr val="103B73"/>
                </a:solidFill>
              </a:rPr>
              <a:t>Quarterly E&amp;S TPM</a:t>
            </a:r>
            <a:endParaRPr lang="en-US" sz="1600" dirty="0"/>
          </a:p>
        </p:txBody>
      </p:sp>
      <p:sp>
        <p:nvSpPr>
          <p:cNvPr id="15" name="Text 13"/>
          <p:cNvSpPr/>
          <p:nvPr/>
        </p:nvSpPr>
        <p:spPr>
          <a:xfrm>
            <a:off x="4613911" y="2788919"/>
            <a:ext cx="3032757" cy="1844805"/>
          </a:xfrm>
          <a:prstGeom prst="roundRect">
            <a:avLst/>
          </a:prstGeom>
          <a:solidFill>
            <a:srgbClr val="FFFFFF"/>
          </a:solidFill>
          <a:ln>
            <a:solidFill>
              <a:srgbClr val="D7E2EF"/>
            </a:solidFill>
          </a:ln>
        </p:spPr>
        <p:txBody>
          <a:bodyPr wrap="square" lIns="762" tIns="762" rIns="762" bIns="762" rtlCol="0" anchor="ctr"/>
          <a:lstStyle/>
          <a:p>
            <a:pPr marL="171450" indent="-171450">
              <a:buFont typeface="Arial" panose="020B0604020202020204" pitchFamily="34" charset="0"/>
              <a:buChar char="•"/>
            </a:pPr>
            <a:r>
              <a:rPr lang="en-US" sz="1300" dirty="0">
                <a:solidFill>
                  <a:srgbClr val="1F2937"/>
                </a:solidFill>
              </a:rPr>
              <a:t>Desk review &amp; Secondary data collection form </a:t>
            </a:r>
            <a:r>
              <a:rPr lang="en-US" sz="1300" dirty="0"/>
              <a:t>PMDFC records , Supervision firm monitoring reports  and MIS/dashboard data (where available) </a:t>
            </a:r>
            <a:endParaRPr lang="en-US" sz="1300" dirty="0">
              <a:solidFill>
                <a:srgbClr val="1F2937"/>
              </a:solidFill>
            </a:endParaRPr>
          </a:p>
          <a:p>
            <a:pPr marL="171450" indent="-171450">
              <a:buFont typeface="Arial" panose="020B0604020202020204" pitchFamily="34" charset="0"/>
              <a:buChar char="•"/>
            </a:pPr>
            <a:r>
              <a:rPr lang="en-US" sz="1300" dirty="0">
                <a:solidFill>
                  <a:srgbClr val="1F2937"/>
                </a:solidFill>
              </a:rPr>
              <a:t>Data validation &amp; reconciliation Field verification &amp; Spot Check  </a:t>
            </a:r>
          </a:p>
          <a:p>
            <a:pPr marL="171450" indent="-171450">
              <a:buFont typeface="Arial" panose="020B0604020202020204" pitchFamily="34" charset="0"/>
              <a:buChar char="•"/>
            </a:pPr>
            <a:r>
              <a:rPr lang="en-US" sz="1300" dirty="0">
                <a:solidFill>
                  <a:srgbClr val="1F2937"/>
                </a:solidFill>
              </a:rPr>
              <a:t>MAC / PM scoring</a:t>
            </a:r>
          </a:p>
        </p:txBody>
      </p:sp>
      <p:sp>
        <p:nvSpPr>
          <p:cNvPr id="16" name="Text 14"/>
          <p:cNvSpPr/>
          <p:nvPr/>
        </p:nvSpPr>
        <p:spPr>
          <a:xfrm>
            <a:off x="7863839" y="2788920"/>
            <a:ext cx="3032751" cy="1844804"/>
          </a:xfrm>
          <a:prstGeom prst="roundRect">
            <a:avLst/>
          </a:prstGeom>
          <a:solidFill>
            <a:srgbClr val="FFFFFF"/>
          </a:solidFill>
          <a:ln>
            <a:solidFill>
              <a:srgbClr val="D7E2EF"/>
            </a:solidFill>
          </a:ln>
        </p:spPr>
        <p:txBody>
          <a:bodyPr wrap="square" lIns="762" tIns="762" rIns="762" bIns="762" rtlCol="0" anchor="ctr"/>
          <a:lstStyle/>
          <a:p>
            <a:pPr marL="171450" indent="-171450" algn="just">
              <a:buFont typeface="Arial" panose="020B0604020202020204" pitchFamily="34" charset="0"/>
              <a:buChar char="•"/>
            </a:pPr>
            <a:r>
              <a:rPr lang="en-US" sz="1400" dirty="0">
                <a:solidFill>
                  <a:srgbClr val="1F2937"/>
                </a:solidFill>
              </a:rPr>
              <a:t>ESCF review</a:t>
            </a:r>
            <a:endParaRPr lang="en-US" sz="1400" dirty="0"/>
          </a:p>
          <a:p>
            <a:pPr marL="171450" indent="-171450" algn="just">
              <a:buFont typeface="Arial" panose="020B0604020202020204" pitchFamily="34" charset="0"/>
              <a:buChar char="•"/>
            </a:pPr>
            <a:r>
              <a:rPr lang="en-US" sz="1400" dirty="0">
                <a:solidFill>
                  <a:srgbClr val="1F2937"/>
                </a:solidFill>
              </a:rPr>
              <a:t>Site inspections</a:t>
            </a:r>
            <a:endParaRPr lang="en-US" sz="1400" dirty="0"/>
          </a:p>
          <a:p>
            <a:pPr marL="171450" indent="-171450" algn="just">
              <a:buFont typeface="Arial" panose="020B0604020202020204" pitchFamily="34" charset="0"/>
              <a:buChar char="•"/>
            </a:pPr>
            <a:r>
              <a:rPr lang="en-US" sz="1400" dirty="0">
                <a:solidFill>
                  <a:srgbClr val="1F2937"/>
                </a:solidFill>
              </a:rPr>
              <a:t>Stakeholder Consultation and Ground validation</a:t>
            </a:r>
            <a:endParaRPr lang="en-US" sz="1400" dirty="0"/>
          </a:p>
          <a:p>
            <a:pPr marL="171450" indent="-171450" algn="just">
              <a:buFont typeface="Arial" panose="020B0604020202020204" pitchFamily="34" charset="0"/>
              <a:buChar char="•"/>
            </a:pPr>
            <a:r>
              <a:rPr lang="en-US" sz="1400" dirty="0">
                <a:solidFill>
                  <a:srgbClr val="1F2937"/>
                </a:solidFill>
              </a:rPr>
              <a:t>Quarterly findings</a:t>
            </a:r>
            <a:endParaRPr lang="en-US" sz="1400" dirty="0"/>
          </a:p>
        </p:txBody>
      </p:sp>
      <p:sp>
        <p:nvSpPr>
          <p:cNvPr id="17" name="Text 15"/>
          <p:cNvSpPr/>
          <p:nvPr/>
        </p:nvSpPr>
        <p:spPr>
          <a:xfrm>
            <a:off x="4937759" y="5182365"/>
            <a:ext cx="2377440" cy="73152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200" b="1" dirty="0">
                <a:solidFill>
                  <a:srgbClr val="1F5AA6"/>
                </a:solidFill>
              </a:rPr>
              <a:t>Draft IVA report +</a:t>
            </a:r>
            <a:endParaRPr lang="en-US" sz="1200" dirty="0"/>
          </a:p>
          <a:p>
            <a:pPr marL="0" indent="0" algn="ctr">
              <a:buNone/>
            </a:pPr>
            <a:r>
              <a:rPr lang="en-US" sz="1200" b="1" dirty="0">
                <a:solidFill>
                  <a:srgbClr val="1F5AA6"/>
                </a:solidFill>
              </a:rPr>
              <a:t>reconciliation</a:t>
            </a:r>
            <a:endParaRPr lang="en-US" sz="1200" dirty="0"/>
          </a:p>
        </p:txBody>
      </p:sp>
      <p:sp>
        <p:nvSpPr>
          <p:cNvPr id="18" name="Text 16"/>
          <p:cNvSpPr/>
          <p:nvPr/>
        </p:nvSpPr>
        <p:spPr>
          <a:xfrm>
            <a:off x="8149589" y="5182365"/>
            <a:ext cx="2377440" cy="731520"/>
          </a:xfrm>
          <a:prstGeom prst="roundRect">
            <a:avLst/>
          </a:prstGeom>
          <a:solidFill>
            <a:srgbClr val="EEF9F8"/>
          </a:solidFill>
          <a:ln>
            <a:solidFill>
              <a:srgbClr val="148F97"/>
            </a:solidFill>
          </a:ln>
        </p:spPr>
        <p:txBody>
          <a:bodyPr wrap="square" lIns="762" tIns="762" rIns="762" bIns="762" rtlCol="0" anchor="ctr"/>
          <a:lstStyle/>
          <a:p>
            <a:pPr marL="0" indent="0" algn="ctr">
              <a:buNone/>
            </a:pPr>
            <a:r>
              <a:rPr lang="en-US" sz="1200" b="1" dirty="0">
                <a:solidFill>
                  <a:srgbClr val="148F97"/>
                </a:solidFill>
              </a:rPr>
              <a:t>Quarterly TPM reports</a:t>
            </a:r>
            <a:endParaRPr lang="en-US" sz="1200" dirty="0"/>
          </a:p>
        </p:txBody>
      </p:sp>
      <p:sp>
        <p:nvSpPr>
          <p:cNvPr id="19" name="Text 17"/>
          <p:cNvSpPr/>
          <p:nvPr/>
        </p:nvSpPr>
        <p:spPr>
          <a:xfrm>
            <a:off x="10664189" y="5182365"/>
            <a:ext cx="868680" cy="731520"/>
          </a:xfrm>
          <a:prstGeom prst="roundRect">
            <a:avLst/>
          </a:prstGeom>
          <a:solidFill>
            <a:srgbClr val="FFF5EA"/>
          </a:solidFill>
          <a:ln>
            <a:solidFill>
              <a:srgbClr val="C7782A"/>
            </a:solidFill>
          </a:ln>
        </p:spPr>
        <p:txBody>
          <a:bodyPr wrap="square" lIns="762" tIns="762" rIns="762" bIns="762" rtlCol="0" anchor="ctr"/>
          <a:lstStyle/>
          <a:p>
            <a:pPr marL="0" indent="0" algn="ctr">
              <a:buNone/>
            </a:pPr>
            <a:r>
              <a:rPr lang="en-US" sz="1200" b="1" dirty="0">
                <a:solidFill>
                  <a:srgbClr val="1F2937"/>
                </a:solidFill>
              </a:rPr>
              <a:t>Final</a:t>
            </a:r>
            <a:endParaRPr lang="en-US" sz="1200" dirty="0"/>
          </a:p>
          <a:p>
            <a:pPr marL="0" indent="0" algn="ctr">
              <a:buNone/>
            </a:pPr>
            <a:r>
              <a:rPr lang="en-US" sz="1200" b="1" dirty="0">
                <a:solidFill>
                  <a:srgbClr val="1F2937"/>
                </a:solidFill>
              </a:rPr>
              <a:t>reco.</a:t>
            </a:r>
            <a:endParaRPr lang="en-US" sz="1200" dirty="0"/>
          </a:p>
        </p:txBody>
      </p:sp>
      <p:sp>
        <p:nvSpPr>
          <p:cNvPr id="20" name="Text 18"/>
          <p:cNvSpPr/>
          <p:nvPr/>
        </p:nvSpPr>
        <p:spPr>
          <a:xfrm>
            <a:off x="2139271" y="6110506"/>
            <a:ext cx="9519329" cy="347463"/>
          </a:xfrm>
          <a:prstGeom prst="rect">
            <a:avLst/>
          </a:prstGeom>
          <a:noFill/>
          <a:ln/>
        </p:spPr>
        <p:txBody>
          <a:bodyPr wrap="square" lIns="0" tIns="0" rIns="0" bIns="0" rtlCol="0" anchor="ctr"/>
          <a:lstStyle/>
          <a:p>
            <a:pPr marL="0" indent="0">
              <a:buNone/>
            </a:pPr>
            <a:r>
              <a:rPr lang="en-US" sz="1600" dirty="0">
                <a:solidFill>
                  <a:srgbClr val="667085"/>
                </a:solidFill>
              </a:rPr>
              <a:t>Outputs support verified results, budget-linked allocations, and corrective action tracking.</a:t>
            </a:r>
            <a:endParaRPr lang="en-US" sz="1600" dirty="0"/>
          </a:p>
        </p:txBody>
      </p:sp>
      <p:sp>
        <p:nvSpPr>
          <p:cNvPr id="25" name="Slide Number Placeholder 0"/>
          <p:cNvSpPr>
            <a:spLocks noGrp="1"/>
          </p:cNvSpPr>
          <p:nvPr>
            <p:ph type="sldNum" sz="quarter" idx="4294967295"/>
          </p:nvPr>
        </p:nvSpPr>
        <p:spPr>
          <a:xfrm>
            <a:off x="11292840" y="6437376"/>
            <a:ext cx="365760" cy="18288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7</a:t>
            </a:fld>
            <a:endParaRPr lang="en-US"/>
          </a:p>
        </p:txBody>
      </p:sp>
      <p:sp>
        <p:nvSpPr>
          <p:cNvPr id="22" name="TextBox 21">
            <a:extLst>
              <a:ext uri="{FF2B5EF4-FFF2-40B4-BE49-F238E27FC236}">
                <a16:creationId xmlns:a16="http://schemas.microsoft.com/office/drawing/2014/main" id="{95C27295-1650-6BF9-B4FF-AA576DB0B731}"/>
              </a:ext>
            </a:extLst>
          </p:cNvPr>
          <p:cNvSpPr txBox="1"/>
          <p:nvPr/>
        </p:nvSpPr>
        <p:spPr>
          <a:xfrm>
            <a:off x="412284" y="3151996"/>
            <a:ext cx="3855185" cy="2800767"/>
          </a:xfrm>
          <a:prstGeom prst="rect">
            <a:avLst/>
          </a:prstGeom>
          <a:noFill/>
          <a:ln>
            <a:solidFill>
              <a:schemeClr val="tx1"/>
            </a:solidFill>
            <a:prstDash val="sysDot"/>
          </a:ln>
        </p:spPr>
        <p:txBody>
          <a:bodyPr wrap="square">
            <a:spAutoFit/>
          </a:bodyPr>
          <a:lstStyle/>
          <a:p>
            <a:pPr algn="just"/>
            <a:r>
              <a:rPr lang="en-US" sz="1600" i="1" dirty="0">
                <a:solidFill>
                  <a:srgbClr val="002060"/>
                </a:solidFill>
              </a:rPr>
              <a:t>The Consultant will develop sampling method and standardized verification instruments including DLI verification sheets, field inspection checklists, MAC compliance tools, PM scoring matrices, financial verification formats, and E&amp;S/GRM assessment templates in line with POM requirements in </a:t>
            </a:r>
            <a:r>
              <a:rPr lang="en-US" sz="1600" dirty="0">
                <a:solidFill>
                  <a:srgbClr val="002060"/>
                </a:solidFill>
              </a:rPr>
              <a:t>consultation with client and to World Bank satisfaction.</a:t>
            </a:r>
          </a:p>
          <a:p>
            <a:pPr algn="just"/>
            <a:endParaRPr lang="en-US" sz="1600" i="1" dirty="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277C4-FD41-3D60-3A68-CE524B585146}"/>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D7C6E877-55C5-1DD5-5285-A603E0EB6475}"/>
              </a:ext>
            </a:extLst>
          </p:cNvPr>
          <p:cNvSpPr>
            <a:spLocks noGrp="1"/>
          </p:cNvSpPr>
          <p:nvPr>
            <p:ph type="sldNum" sz="quarter" idx="4294967295"/>
          </p:nvPr>
        </p:nvSpPr>
        <p:spPr>
          <a:xfrm>
            <a:off x="11292840" y="6437376"/>
            <a:ext cx="365760" cy="18288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8</a:t>
            </a:fld>
            <a:endParaRPr lang="en-US"/>
          </a:p>
        </p:txBody>
      </p:sp>
      <p:sp>
        <p:nvSpPr>
          <p:cNvPr id="3" name="TextBox 2">
            <a:extLst>
              <a:ext uri="{FF2B5EF4-FFF2-40B4-BE49-F238E27FC236}">
                <a16:creationId xmlns:a16="http://schemas.microsoft.com/office/drawing/2014/main" id="{D0D80120-5819-8C75-05D8-D3838776E609}"/>
              </a:ext>
            </a:extLst>
          </p:cNvPr>
          <p:cNvSpPr txBox="1"/>
          <p:nvPr/>
        </p:nvSpPr>
        <p:spPr>
          <a:xfrm>
            <a:off x="621792" y="402336"/>
            <a:ext cx="10332720" cy="365760"/>
          </a:xfrm>
          <a:prstGeom prst="rect">
            <a:avLst/>
          </a:prstGeom>
          <a:noFill/>
        </p:spPr>
        <p:txBody>
          <a:bodyPr wrap="square" lIns="0" tIns="0" rIns="0" bIns="0">
            <a:spAutoFit/>
          </a:bodyPr>
          <a:lstStyle/>
          <a:p>
            <a:pPr algn="l"/>
            <a:r>
              <a:rPr sz="2800" b="1" i="0" dirty="0">
                <a:solidFill>
                  <a:srgbClr val="103B66"/>
                </a:solidFill>
                <a:latin typeface="Aptos"/>
              </a:rPr>
              <a:t>Verification Instruments &amp; Tools</a:t>
            </a:r>
          </a:p>
        </p:txBody>
      </p:sp>
      <p:sp>
        <p:nvSpPr>
          <p:cNvPr id="21" name="TextBox 20">
            <a:extLst>
              <a:ext uri="{FF2B5EF4-FFF2-40B4-BE49-F238E27FC236}">
                <a16:creationId xmlns:a16="http://schemas.microsoft.com/office/drawing/2014/main" id="{1C8ED938-364D-C65C-EF6A-221866BF174C}"/>
              </a:ext>
            </a:extLst>
          </p:cNvPr>
          <p:cNvSpPr txBox="1"/>
          <p:nvPr/>
        </p:nvSpPr>
        <p:spPr>
          <a:xfrm>
            <a:off x="640080" y="786384"/>
            <a:ext cx="10607040" cy="246221"/>
          </a:xfrm>
          <a:prstGeom prst="rect">
            <a:avLst/>
          </a:prstGeom>
          <a:noFill/>
        </p:spPr>
        <p:txBody>
          <a:bodyPr wrap="square" lIns="0" tIns="0" rIns="0" bIns="0">
            <a:spAutoFit/>
          </a:bodyPr>
          <a:lstStyle/>
          <a:p>
            <a:pPr algn="l"/>
            <a:r>
              <a:rPr sz="1600" b="0" i="0" dirty="0">
                <a:solidFill>
                  <a:srgbClr val="5E6B78"/>
                </a:solidFill>
                <a:latin typeface="Aptos"/>
              </a:rPr>
              <a:t>TOR-based instruments that structure data collection, assessment, scoring, and reporting across all workstreams.</a:t>
            </a:r>
          </a:p>
        </p:txBody>
      </p:sp>
      <p:sp>
        <p:nvSpPr>
          <p:cNvPr id="24" name="Rectangle 23">
            <a:extLst>
              <a:ext uri="{FF2B5EF4-FFF2-40B4-BE49-F238E27FC236}">
                <a16:creationId xmlns:a16="http://schemas.microsoft.com/office/drawing/2014/main" id="{3CAB79B4-3632-C754-997B-1A8EE93FB02D}"/>
              </a:ext>
            </a:extLst>
          </p:cNvPr>
          <p:cNvSpPr/>
          <p:nvPr/>
        </p:nvSpPr>
        <p:spPr>
          <a:xfrm>
            <a:off x="731520" y="1152143"/>
            <a:ext cx="10744200" cy="580963"/>
          </a:xfrm>
          <a:prstGeom prst="rect">
            <a:avLst/>
          </a:prstGeom>
          <a:noFill/>
          <a:ln w="3175">
            <a:noFill/>
          </a:ln>
        </p:spPr>
        <p:style>
          <a:lnRef idx="1">
            <a:schemeClr val="accent1"/>
          </a:lnRef>
          <a:fillRef idx="3">
            <a:schemeClr val="accent1"/>
          </a:fillRef>
          <a:effectRef idx="2">
            <a:schemeClr val="accent1"/>
          </a:effectRef>
          <a:fontRef idx="minor">
            <a:schemeClr val="lt1"/>
          </a:fontRef>
        </p:style>
        <p:txBody>
          <a:bodyPr lIns="152400" tIns="50800" rIns="127000" bIns="25400" rtlCol="0" anchor="ctr"/>
          <a:lstStyle/>
          <a:p>
            <a:pPr algn="just"/>
            <a:r>
              <a:rPr dirty="0">
                <a:solidFill>
                  <a:srgbClr val="002060"/>
                </a:solidFill>
                <a:latin typeface="Aptos"/>
              </a:rPr>
              <a:t>Standardized </a:t>
            </a:r>
            <a:r>
              <a:rPr lang="en-US" dirty="0">
                <a:solidFill>
                  <a:srgbClr val="002060"/>
                </a:solidFill>
                <a:latin typeface="Aptos"/>
              </a:rPr>
              <a:t> </a:t>
            </a:r>
            <a:r>
              <a:rPr dirty="0">
                <a:solidFill>
                  <a:srgbClr val="002060"/>
                </a:solidFill>
                <a:latin typeface="Aptos"/>
              </a:rPr>
              <a:t>tools ensure consistency, traceability, and auditable verification across DLI, MAC, PM, financial, and E&amp;S assessments</a:t>
            </a:r>
            <a:r>
              <a:rPr lang="en-US" dirty="0">
                <a:solidFill>
                  <a:srgbClr val="002060"/>
                </a:solidFill>
                <a:latin typeface="Aptos"/>
              </a:rPr>
              <a:t>  - Compliance with POM protocols.</a:t>
            </a:r>
            <a:endParaRPr dirty="0">
              <a:solidFill>
                <a:srgbClr val="002060"/>
              </a:solidFill>
              <a:latin typeface="Aptos"/>
            </a:endParaRPr>
          </a:p>
        </p:txBody>
      </p:sp>
      <p:sp>
        <p:nvSpPr>
          <p:cNvPr id="26" name="Rectangle 25">
            <a:extLst>
              <a:ext uri="{FF2B5EF4-FFF2-40B4-BE49-F238E27FC236}">
                <a16:creationId xmlns:a16="http://schemas.microsoft.com/office/drawing/2014/main" id="{D51C46F4-3109-11AD-9786-0ED3FBB095CD}"/>
              </a:ext>
            </a:extLst>
          </p:cNvPr>
          <p:cNvSpPr/>
          <p:nvPr/>
        </p:nvSpPr>
        <p:spPr>
          <a:xfrm>
            <a:off x="731519" y="2087808"/>
            <a:ext cx="5303519" cy="2707476"/>
          </a:xfrm>
          <a:prstGeom prst="rect">
            <a:avLst/>
          </a:prstGeom>
          <a:solidFill>
            <a:schemeClr val="bg1"/>
          </a:solidFill>
          <a:ln w="12700">
            <a:solidFill>
              <a:srgbClr val="1F6FB2"/>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2000" b="1" dirty="0">
                <a:solidFill>
                  <a:schemeClr val="tx1"/>
                </a:solidFill>
                <a:latin typeface="Aptos"/>
              </a:rPr>
              <a:t>Field Data Collection Tools</a:t>
            </a:r>
            <a:endParaRPr lang="en-US" sz="2000" b="1" dirty="0">
              <a:solidFill>
                <a:schemeClr val="tx1"/>
              </a:solidFill>
              <a:latin typeface="Aptos"/>
            </a:endParaRPr>
          </a:p>
          <a:p>
            <a:pPr algn="l"/>
            <a:endParaRPr sz="2000" b="1" dirty="0">
              <a:solidFill>
                <a:schemeClr val="tx1"/>
              </a:solidFill>
              <a:latin typeface="Aptos"/>
            </a:endParaRPr>
          </a:p>
          <a:p>
            <a:pPr marL="285750" indent="-285750">
              <a:spcBef>
                <a:spcPts val="0"/>
              </a:spcBef>
              <a:spcAft>
                <a:spcPts val="0"/>
              </a:spcAft>
              <a:buFont typeface="Arial" panose="020B0604020202020204" pitchFamily="34" charset="0"/>
              <a:buChar char="•"/>
              <a:defRPr sz="1150">
                <a:solidFill>
                  <a:srgbClr val="FFFFFF"/>
                </a:solidFill>
                <a:latin typeface="Aptos"/>
              </a:defRPr>
            </a:pPr>
            <a:r>
              <a:rPr sz="2000" dirty="0">
                <a:solidFill>
                  <a:schemeClr val="tx1"/>
                </a:solidFill>
              </a:rPr>
              <a:t>DLI verification sheets for DLI 1–6</a:t>
            </a:r>
          </a:p>
          <a:p>
            <a:pPr marL="285750" indent="-285750">
              <a:spcBef>
                <a:spcPts val="0"/>
              </a:spcBef>
              <a:spcAft>
                <a:spcPts val="0"/>
              </a:spcAft>
              <a:buFont typeface="Arial" panose="020B0604020202020204" pitchFamily="34" charset="0"/>
              <a:buChar char="•"/>
              <a:defRPr sz="1150">
                <a:solidFill>
                  <a:srgbClr val="FFFFFF"/>
                </a:solidFill>
                <a:latin typeface="Aptos"/>
              </a:defRPr>
            </a:pPr>
            <a:r>
              <a:rPr sz="2000" dirty="0">
                <a:solidFill>
                  <a:schemeClr val="tx1"/>
                </a:solidFill>
              </a:rPr>
              <a:t>Field inspection and spot-check checklists</a:t>
            </a:r>
          </a:p>
          <a:p>
            <a:pPr marL="285750" indent="-285750">
              <a:spcBef>
                <a:spcPts val="0"/>
              </a:spcBef>
              <a:spcAft>
                <a:spcPts val="0"/>
              </a:spcAft>
              <a:buFont typeface="Arial" panose="020B0604020202020204" pitchFamily="34" charset="0"/>
              <a:buChar char="•"/>
              <a:defRPr sz="1150">
                <a:solidFill>
                  <a:srgbClr val="FFFFFF"/>
                </a:solidFill>
                <a:latin typeface="Aptos"/>
              </a:defRPr>
            </a:pPr>
            <a:r>
              <a:rPr sz="2000" dirty="0">
                <a:solidFill>
                  <a:schemeClr val="tx1"/>
                </a:solidFill>
              </a:rPr>
              <a:t>Household / connection verification forms</a:t>
            </a:r>
          </a:p>
          <a:p>
            <a:pPr marL="285750" indent="-285750">
              <a:spcBef>
                <a:spcPts val="0"/>
              </a:spcBef>
              <a:spcAft>
                <a:spcPts val="0"/>
              </a:spcAft>
              <a:buFont typeface="Arial" panose="020B0604020202020204" pitchFamily="34" charset="0"/>
              <a:buChar char="•"/>
              <a:defRPr sz="1150">
                <a:solidFill>
                  <a:srgbClr val="FFFFFF"/>
                </a:solidFill>
                <a:latin typeface="Aptos"/>
              </a:defRPr>
            </a:pPr>
            <a:r>
              <a:rPr sz="2000" dirty="0">
                <a:solidFill>
                  <a:schemeClr val="tx1"/>
                </a:solidFill>
              </a:rPr>
              <a:t>Water and wastewater test recording formats</a:t>
            </a:r>
          </a:p>
        </p:txBody>
      </p:sp>
      <p:sp>
        <p:nvSpPr>
          <p:cNvPr id="27" name="Rectangle 26">
            <a:extLst>
              <a:ext uri="{FF2B5EF4-FFF2-40B4-BE49-F238E27FC236}">
                <a16:creationId xmlns:a16="http://schemas.microsoft.com/office/drawing/2014/main" id="{5B36548A-A1A5-F73C-E344-9E985EDE1D62}"/>
              </a:ext>
            </a:extLst>
          </p:cNvPr>
          <p:cNvSpPr/>
          <p:nvPr/>
        </p:nvSpPr>
        <p:spPr>
          <a:xfrm>
            <a:off x="6355080" y="2087808"/>
            <a:ext cx="5303519" cy="2707476"/>
          </a:xfrm>
          <a:prstGeom prst="rect">
            <a:avLst/>
          </a:prstGeom>
          <a:solidFill>
            <a:schemeClr val="bg1"/>
          </a:solidFill>
          <a:ln w="12700">
            <a:solidFill>
              <a:srgbClr val="1C8C7A"/>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2000" b="1" dirty="0">
                <a:solidFill>
                  <a:schemeClr val="tx1"/>
                </a:solidFill>
                <a:latin typeface="Aptos"/>
              </a:rPr>
              <a:t>Assessment, Scoring &amp; Reporting Tools</a:t>
            </a:r>
          </a:p>
          <a:p>
            <a:pPr marL="285750" indent="-285750" algn="just">
              <a:spcBef>
                <a:spcPts val="0"/>
              </a:spcBef>
              <a:spcAft>
                <a:spcPts val="0"/>
              </a:spcAft>
              <a:buFont typeface="Arial" panose="020B0604020202020204" pitchFamily="34" charset="0"/>
              <a:buChar char="•"/>
              <a:defRPr sz="1120">
                <a:solidFill>
                  <a:srgbClr val="FFFFFF"/>
                </a:solidFill>
                <a:latin typeface="Aptos"/>
              </a:defRPr>
            </a:pPr>
            <a:r>
              <a:rPr sz="2000" dirty="0">
                <a:solidFill>
                  <a:schemeClr val="tx1"/>
                </a:solidFill>
              </a:rPr>
              <a:t>MAC compliance assessment tools</a:t>
            </a:r>
          </a:p>
          <a:p>
            <a:pPr marL="285750" indent="-285750" algn="just">
              <a:spcBef>
                <a:spcPts val="0"/>
              </a:spcBef>
              <a:spcAft>
                <a:spcPts val="0"/>
              </a:spcAft>
              <a:buFont typeface="Arial" panose="020B0604020202020204" pitchFamily="34" charset="0"/>
              <a:buChar char="•"/>
              <a:defRPr sz="1120">
                <a:solidFill>
                  <a:srgbClr val="FFFFFF"/>
                </a:solidFill>
                <a:latin typeface="Aptos"/>
              </a:defRPr>
            </a:pPr>
            <a:r>
              <a:rPr sz="2000" dirty="0">
                <a:solidFill>
                  <a:schemeClr val="tx1"/>
                </a:solidFill>
              </a:rPr>
              <a:t>PM scoring matrices and scoring logs</a:t>
            </a:r>
          </a:p>
          <a:p>
            <a:pPr marL="285750" indent="-285750" algn="just">
              <a:spcBef>
                <a:spcPts val="0"/>
              </a:spcBef>
              <a:spcAft>
                <a:spcPts val="0"/>
              </a:spcAft>
              <a:buFont typeface="Arial" panose="020B0604020202020204" pitchFamily="34" charset="0"/>
              <a:buChar char="•"/>
              <a:defRPr sz="1120">
                <a:solidFill>
                  <a:srgbClr val="FFFFFF"/>
                </a:solidFill>
                <a:latin typeface="Aptos"/>
              </a:defRPr>
            </a:pPr>
            <a:r>
              <a:rPr sz="2000" dirty="0">
                <a:solidFill>
                  <a:schemeClr val="tx1"/>
                </a:solidFill>
              </a:rPr>
              <a:t>Financial verification templates for taxes, fees, and tariffs</a:t>
            </a:r>
          </a:p>
          <a:p>
            <a:pPr marL="285750" indent="-285750" algn="just">
              <a:spcBef>
                <a:spcPts val="0"/>
              </a:spcBef>
              <a:spcAft>
                <a:spcPts val="0"/>
              </a:spcAft>
              <a:buFont typeface="Arial" panose="020B0604020202020204" pitchFamily="34" charset="0"/>
              <a:buChar char="•"/>
              <a:defRPr sz="1120">
                <a:solidFill>
                  <a:srgbClr val="FFFFFF"/>
                </a:solidFill>
                <a:latin typeface="Aptos"/>
              </a:defRPr>
            </a:pPr>
            <a:r>
              <a:rPr sz="2000" dirty="0">
                <a:solidFill>
                  <a:schemeClr val="tx1"/>
                </a:solidFill>
              </a:rPr>
              <a:t>E&amp;S and GRM assessment formats, evidence registers, and reporting templates</a:t>
            </a:r>
          </a:p>
        </p:txBody>
      </p:sp>
      <p:graphicFrame>
        <p:nvGraphicFramePr>
          <p:cNvPr id="2" name="Diagram 1">
            <a:extLst>
              <a:ext uri="{FF2B5EF4-FFF2-40B4-BE49-F238E27FC236}">
                <a16:creationId xmlns:a16="http://schemas.microsoft.com/office/drawing/2014/main" id="{3E7A03CD-21BD-995E-060E-A6DEFFD9C6BA}"/>
              </a:ext>
            </a:extLst>
          </p:cNvPr>
          <p:cNvGraphicFramePr/>
          <p:nvPr>
            <p:extLst>
              <p:ext uri="{D42A27DB-BD31-4B8C-83A1-F6EECF244321}">
                <p14:modId xmlns:p14="http://schemas.microsoft.com/office/powerpoint/2010/main" val="2402859514"/>
              </p:ext>
            </p:extLst>
          </p:nvPr>
        </p:nvGraphicFramePr>
        <p:xfrm>
          <a:off x="1599550" y="3429000"/>
          <a:ext cx="9511060" cy="44717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48505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B40F5-FB8A-0C2D-E826-DC060F901B8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71E96F5-E60F-2AE8-92EF-D1579EBF053F}"/>
              </a:ext>
            </a:extLst>
          </p:cNvPr>
          <p:cNvSpPr txBox="1"/>
          <p:nvPr/>
        </p:nvSpPr>
        <p:spPr>
          <a:xfrm>
            <a:off x="621792" y="402336"/>
            <a:ext cx="10332720" cy="430887"/>
          </a:xfrm>
          <a:prstGeom prst="rect">
            <a:avLst/>
          </a:prstGeom>
          <a:noFill/>
        </p:spPr>
        <p:txBody>
          <a:bodyPr wrap="square" lIns="0" tIns="0" rIns="0" bIns="0">
            <a:spAutoFit/>
          </a:bodyPr>
          <a:lstStyle/>
          <a:p>
            <a:pPr algn="l"/>
            <a:r>
              <a:rPr sz="2800" b="1" i="0" dirty="0">
                <a:solidFill>
                  <a:srgbClr val="103B66"/>
                </a:solidFill>
                <a:latin typeface="Aptos"/>
              </a:rPr>
              <a:t>Technology-Enabled Verification Framework</a:t>
            </a:r>
            <a:r>
              <a:rPr lang="en-US" sz="2800" b="1" i="0" dirty="0">
                <a:solidFill>
                  <a:srgbClr val="103B66"/>
                </a:solidFill>
                <a:latin typeface="Aptos"/>
              </a:rPr>
              <a:t> – Innovation </a:t>
            </a:r>
            <a:endParaRPr sz="2800" b="1" i="0" dirty="0">
              <a:solidFill>
                <a:srgbClr val="103B66"/>
              </a:solidFill>
              <a:latin typeface="Aptos"/>
            </a:endParaRPr>
          </a:p>
        </p:txBody>
      </p:sp>
      <p:grpSp>
        <p:nvGrpSpPr>
          <p:cNvPr id="16" name="Group 15">
            <a:extLst>
              <a:ext uri="{FF2B5EF4-FFF2-40B4-BE49-F238E27FC236}">
                <a16:creationId xmlns:a16="http://schemas.microsoft.com/office/drawing/2014/main" id="{E18450E0-5246-250A-95D2-74B254FB2079}"/>
              </a:ext>
            </a:extLst>
          </p:cNvPr>
          <p:cNvGrpSpPr/>
          <p:nvPr/>
        </p:nvGrpSpPr>
        <p:grpSpPr>
          <a:xfrm>
            <a:off x="830509" y="4393731"/>
            <a:ext cx="10808208" cy="1194957"/>
            <a:chOff x="830509" y="4041647"/>
            <a:chExt cx="10808208" cy="1194957"/>
          </a:xfrm>
        </p:grpSpPr>
        <p:sp>
          <p:nvSpPr>
            <p:cNvPr id="17" name="Rounded Rectangle 4">
              <a:extLst>
                <a:ext uri="{FF2B5EF4-FFF2-40B4-BE49-F238E27FC236}">
                  <a16:creationId xmlns:a16="http://schemas.microsoft.com/office/drawing/2014/main" id="{0F268C9B-FB87-1B3C-5631-0EDDE051C08A}"/>
                </a:ext>
              </a:extLst>
            </p:cNvPr>
            <p:cNvSpPr/>
            <p:nvPr/>
          </p:nvSpPr>
          <p:spPr>
            <a:xfrm>
              <a:off x="830509" y="4048150"/>
              <a:ext cx="2138561" cy="1168946"/>
            </a:xfrm>
            <a:prstGeom prst="roundRect">
              <a:avLst/>
            </a:prstGeom>
            <a:solidFill>
              <a:srgbClr val="1F6FB2"/>
            </a:solidFill>
            <a:ln>
              <a:solidFill>
                <a:srgbClr val="1F6F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b="1" dirty="0">
                  <a:solidFill>
                    <a:srgbClr val="FFFFFF"/>
                  </a:solidFill>
                  <a:latin typeface="Aptos"/>
                </a:rPr>
                <a:t>Data Collection – Field Teams  ( Kobo toolbox / Custom Mobile </a:t>
              </a:r>
              <a:endParaRPr sz="1400" b="1" dirty="0">
                <a:solidFill>
                  <a:srgbClr val="FFFFFF"/>
                </a:solidFill>
                <a:latin typeface="Aptos"/>
              </a:endParaRPr>
            </a:p>
          </p:txBody>
        </p:sp>
        <p:sp>
          <p:nvSpPr>
            <p:cNvPr id="18" name="Chevron 5">
              <a:extLst>
                <a:ext uri="{FF2B5EF4-FFF2-40B4-BE49-F238E27FC236}">
                  <a16:creationId xmlns:a16="http://schemas.microsoft.com/office/drawing/2014/main" id="{09515CDF-2E3E-7632-D110-03AF8EF64C64}"/>
                </a:ext>
              </a:extLst>
            </p:cNvPr>
            <p:cNvSpPr/>
            <p:nvPr/>
          </p:nvSpPr>
          <p:spPr>
            <a:xfrm>
              <a:off x="3141033" y="4424374"/>
              <a:ext cx="384048" cy="475488"/>
            </a:xfrm>
            <a:prstGeom prst="chevron">
              <a:avLst/>
            </a:prstGeom>
            <a:solidFill>
              <a:srgbClr val="9EB7CE"/>
            </a:solidFill>
            <a:ln>
              <a:solidFill>
                <a:srgbClr val="9EB7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8">
              <a:extLst>
                <a:ext uri="{FF2B5EF4-FFF2-40B4-BE49-F238E27FC236}">
                  <a16:creationId xmlns:a16="http://schemas.microsoft.com/office/drawing/2014/main" id="{EE37BFD6-62EC-C1F2-57D5-CC77394BEEFC}"/>
                </a:ext>
              </a:extLst>
            </p:cNvPr>
            <p:cNvSpPr/>
            <p:nvPr/>
          </p:nvSpPr>
          <p:spPr>
            <a:xfrm>
              <a:off x="3691058" y="4041647"/>
              <a:ext cx="2266826" cy="1194957"/>
            </a:xfrm>
            <a:prstGeom prst="roundRect">
              <a:avLst/>
            </a:prstGeom>
            <a:solidFill>
              <a:srgbClr val="3E90D0"/>
            </a:solidFill>
            <a:ln>
              <a:solidFill>
                <a:srgbClr val="3E90D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FFFFFF"/>
                  </a:solidFill>
                  <a:latin typeface="Aptos"/>
                </a:rPr>
                <a:t>Geo-tagged</a:t>
              </a:r>
              <a:r>
                <a:rPr lang="en-US" sz="1400" b="1" dirty="0">
                  <a:solidFill>
                    <a:srgbClr val="FFFFFF"/>
                  </a:solidFill>
                  <a:latin typeface="Aptos"/>
                </a:rPr>
                <a:t> Data Capture &amp; Field Verification </a:t>
              </a:r>
              <a:endParaRPr sz="1400" b="1" dirty="0">
                <a:solidFill>
                  <a:srgbClr val="FFFFFF"/>
                </a:solidFill>
                <a:latin typeface="Aptos"/>
              </a:endParaRPr>
            </a:p>
          </p:txBody>
        </p:sp>
        <p:sp>
          <p:nvSpPr>
            <p:cNvPr id="20" name="Chevron 9">
              <a:extLst>
                <a:ext uri="{FF2B5EF4-FFF2-40B4-BE49-F238E27FC236}">
                  <a16:creationId xmlns:a16="http://schemas.microsoft.com/office/drawing/2014/main" id="{37B981D2-6814-323A-6180-E36B423BC27F}"/>
                </a:ext>
              </a:extLst>
            </p:cNvPr>
            <p:cNvSpPr/>
            <p:nvPr/>
          </p:nvSpPr>
          <p:spPr>
            <a:xfrm>
              <a:off x="6129345" y="4424374"/>
              <a:ext cx="384048" cy="475488"/>
            </a:xfrm>
            <a:prstGeom prst="chevron">
              <a:avLst/>
            </a:prstGeom>
            <a:solidFill>
              <a:srgbClr val="9EB7CE"/>
            </a:solidFill>
            <a:ln>
              <a:solidFill>
                <a:srgbClr val="9EB7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10">
              <a:extLst>
                <a:ext uri="{FF2B5EF4-FFF2-40B4-BE49-F238E27FC236}">
                  <a16:creationId xmlns:a16="http://schemas.microsoft.com/office/drawing/2014/main" id="{200E587F-E9A7-9295-BC80-9C91FB08E592}"/>
                </a:ext>
              </a:extLst>
            </p:cNvPr>
            <p:cNvSpPr/>
            <p:nvPr/>
          </p:nvSpPr>
          <p:spPr>
            <a:xfrm>
              <a:off x="6679863" y="4061156"/>
              <a:ext cx="2141351" cy="1175448"/>
            </a:xfrm>
            <a:prstGeom prst="roundRect">
              <a:avLst/>
            </a:prstGeom>
            <a:solidFill>
              <a:srgbClr val="2A7EC4"/>
            </a:solidFill>
            <a:ln>
              <a:solidFill>
                <a:srgbClr val="2A7E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FFFFFF"/>
                  </a:solidFill>
                  <a:latin typeface="Aptos"/>
                </a:rPr>
                <a:t>Central</a:t>
              </a:r>
              <a:r>
                <a:rPr lang="en-US" sz="1400" b="1" dirty="0">
                  <a:solidFill>
                    <a:srgbClr val="FFFFFF"/>
                  </a:solidFill>
                  <a:latin typeface="Aptos"/>
                </a:rPr>
                <a:t> server </a:t>
              </a:r>
              <a:r>
                <a:rPr sz="1400" b="1" dirty="0">
                  <a:solidFill>
                    <a:srgbClr val="FFFFFF"/>
                  </a:solidFill>
                  <a:latin typeface="Aptos"/>
                </a:rPr>
                <a:t>
Database</a:t>
              </a:r>
              <a:r>
                <a:rPr lang="en-US" sz="1400" b="1" dirty="0">
                  <a:solidFill>
                    <a:srgbClr val="FFFFFF"/>
                  </a:solidFill>
                  <a:latin typeface="Aptos"/>
                </a:rPr>
                <a:t> ( kobo tool box/Custom Database)</a:t>
              </a:r>
              <a:endParaRPr sz="1400" b="1" dirty="0">
                <a:solidFill>
                  <a:srgbClr val="FFFFFF"/>
                </a:solidFill>
                <a:latin typeface="Aptos"/>
              </a:endParaRPr>
            </a:p>
          </p:txBody>
        </p:sp>
        <p:sp>
          <p:nvSpPr>
            <p:cNvPr id="23" name="Chevron 11">
              <a:extLst>
                <a:ext uri="{FF2B5EF4-FFF2-40B4-BE49-F238E27FC236}">
                  <a16:creationId xmlns:a16="http://schemas.microsoft.com/office/drawing/2014/main" id="{A365B569-5F97-DCC1-AA1E-B9382D6128E4}"/>
                </a:ext>
              </a:extLst>
            </p:cNvPr>
            <p:cNvSpPr/>
            <p:nvPr/>
          </p:nvSpPr>
          <p:spPr>
            <a:xfrm>
              <a:off x="8960197" y="4464330"/>
              <a:ext cx="384048" cy="475488"/>
            </a:xfrm>
            <a:prstGeom prst="chevron">
              <a:avLst/>
            </a:prstGeom>
            <a:solidFill>
              <a:srgbClr val="9EB7CE"/>
            </a:solidFill>
            <a:ln>
              <a:solidFill>
                <a:srgbClr val="9EB7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12">
              <a:extLst>
                <a:ext uri="{FF2B5EF4-FFF2-40B4-BE49-F238E27FC236}">
                  <a16:creationId xmlns:a16="http://schemas.microsoft.com/office/drawing/2014/main" id="{C6477FCC-AA5A-F03B-ED17-6BD24C62340C}"/>
                </a:ext>
              </a:extLst>
            </p:cNvPr>
            <p:cNvSpPr/>
            <p:nvPr/>
          </p:nvSpPr>
          <p:spPr>
            <a:xfrm>
              <a:off x="9502207" y="4041647"/>
              <a:ext cx="2136510" cy="1175449"/>
            </a:xfrm>
            <a:prstGeom prst="roundRect">
              <a:avLst/>
            </a:prstGeom>
            <a:solidFill>
              <a:srgbClr val="1F6FB2"/>
            </a:solidFill>
            <a:ln>
              <a:solidFill>
                <a:srgbClr val="1F6F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sz="1400" b="1" dirty="0">
                <a:solidFill>
                  <a:srgbClr val="FFFFFF"/>
                </a:solidFill>
                <a:latin typeface="Aptos"/>
              </a:endParaRPr>
            </a:p>
            <a:p>
              <a:pPr algn="ctr"/>
              <a:r>
                <a:rPr sz="1400" b="1" dirty="0">
                  <a:solidFill>
                    <a:srgbClr val="FFFFFF"/>
                  </a:solidFill>
                  <a:latin typeface="Aptos"/>
                </a:rPr>
                <a:t>Dashboard 
Reporting</a:t>
              </a:r>
              <a:r>
                <a:rPr lang="en-US" sz="1400" b="1" dirty="0">
                  <a:solidFill>
                    <a:srgbClr val="FFFFFF"/>
                  </a:solidFill>
                  <a:latin typeface="Aptos"/>
                </a:rPr>
                <a:t> and verification</a:t>
              </a:r>
            </a:p>
            <a:p>
              <a:pPr algn="ctr"/>
              <a:endParaRPr sz="1400" b="1" dirty="0">
                <a:solidFill>
                  <a:srgbClr val="FFFFFF"/>
                </a:solidFill>
                <a:latin typeface="Aptos"/>
              </a:endParaRPr>
            </a:p>
          </p:txBody>
        </p:sp>
      </p:grpSp>
      <p:sp>
        <p:nvSpPr>
          <p:cNvPr id="30" name="TextBox 29">
            <a:extLst>
              <a:ext uri="{FF2B5EF4-FFF2-40B4-BE49-F238E27FC236}">
                <a16:creationId xmlns:a16="http://schemas.microsoft.com/office/drawing/2014/main" id="{B136619E-6BA2-E81B-E017-1245218B663C}"/>
              </a:ext>
            </a:extLst>
          </p:cNvPr>
          <p:cNvSpPr txBox="1"/>
          <p:nvPr/>
        </p:nvSpPr>
        <p:spPr>
          <a:xfrm>
            <a:off x="2259399" y="5797916"/>
            <a:ext cx="8123939" cy="369332"/>
          </a:xfrm>
          <a:prstGeom prst="rect">
            <a:avLst/>
          </a:prstGeom>
          <a:noFill/>
        </p:spPr>
        <p:txBody>
          <a:bodyPr wrap="square">
            <a:spAutoFit/>
          </a:bodyPr>
          <a:lstStyle/>
          <a:p>
            <a:pPr>
              <a:buNone/>
            </a:pPr>
            <a:r>
              <a:rPr lang="en-US" b="1" dirty="0"/>
              <a:t>Every verification will be geo-tagged, time-stamped, and fully auditable.</a:t>
            </a:r>
            <a:endParaRPr lang="en-US" dirty="0"/>
          </a:p>
        </p:txBody>
      </p:sp>
      <p:sp>
        <p:nvSpPr>
          <p:cNvPr id="31" name="TextBox 30">
            <a:extLst>
              <a:ext uri="{FF2B5EF4-FFF2-40B4-BE49-F238E27FC236}">
                <a16:creationId xmlns:a16="http://schemas.microsoft.com/office/drawing/2014/main" id="{84C035D1-2D47-2D6F-03F9-637FE114A17B}"/>
              </a:ext>
            </a:extLst>
          </p:cNvPr>
          <p:cNvSpPr txBox="1"/>
          <p:nvPr/>
        </p:nvSpPr>
        <p:spPr>
          <a:xfrm>
            <a:off x="725734" y="875418"/>
            <a:ext cx="10332720" cy="923330"/>
          </a:xfrm>
          <a:prstGeom prst="rect">
            <a:avLst/>
          </a:prstGeom>
          <a:noFill/>
        </p:spPr>
        <p:txBody>
          <a:bodyPr wrap="square">
            <a:spAutoFit/>
          </a:bodyPr>
          <a:lstStyle/>
          <a:p>
            <a:pPr algn="just"/>
            <a:r>
              <a:rPr lang="en-US" dirty="0"/>
              <a:t>The TOR requires development of verification tools and instruments, the Consultant proposes a technology-enabled digital verification system to enhance efficiency, transparency, and accuracy of the verification process.</a:t>
            </a:r>
          </a:p>
        </p:txBody>
      </p:sp>
      <p:sp>
        <p:nvSpPr>
          <p:cNvPr id="32" name="TextBox 31">
            <a:extLst>
              <a:ext uri="{FF2B5EF4-FFF2-40B4-BE49-F238E27FC236}">
                <a16:creationId xmlns:a16="http://schemas.microsoft.com/office/drawing/2014/main" id="{38359BEF-3784-5B4E-FC39-F9E8B7D0F39A}"/>
              </a:ext>
            </a:extLst>
          </p:cNvPr>
          <p:cNvSpPr txBox="1"/>
          <p:nvPr/>
        </p:nvSpPr>
        <p:spPr>
          <a:xfrm>
            <a:off x="1516425" y="1852856"/>
            <a:ext cx="9675449" cy="2031325"/>
          </a:xfrm>
          <a:prstGeom prst="rect">
            <a:avLst/>
          </a:prstGeom>
          <a:noFill/>
        </p:spPr>
        <p:txBody>
          <a:bodyPr wrap="square">
            <a:spAutoFit/>
          </a:bodyPr>
          <a:lstStyle/>
          <a:p>
            <a:pPr marL="285750" indent="-285750">
              <a:buFont typeface="Arial" panose="020B0604020202020204" pitchFamily="34" charset="0"/>
              <a:buChar char="•"/>
              <a:defRPr sz="1800"/>
            </a:pPr>
            <a:r>
              <a:rPr lang="en-US" dirty="0"/>
              <a:t>Field Efficiency - Offline data collection forms with Synchronized upload geotagged photo evidence and GPS  tagging at each verified site  </a:t>
            </a:r>
          </a:p>
          <a:p>
            <a:pPr marL="285750" indent="-285750">
              <a:buFont typeface="Arial" panose="020B0604020202020204" pitchFamily="34" charset="0"/>
              <a:buChar char="•"/>
              <a:defRPr sz="1800"/>
            </a:pPr>
            <a:r>
              <a:rPr lang="en-US" dirty="0"/>
              <a:t>Data integrity - Central evidence repository and version-controlled records </a:t>
            </a:r>
          </a:p>
          <a:p>
            <a:pPr marL="285750" indent="-285750">
              <a:buFont typeface="Arial" panose="020B0604020202020204" pitchFamily="34" charset="0"/>
              <a:buChar char="•"/>
              <a:defRPr sz="1800"/>
            </a:pPr>
            <a:r>
              <a:rPr lang="en-US" dirty="0"/>
              <a:t>Automated checks, validation logs, QA checks and audit trail, flagged issues</a:t>
            </a:r>
          </a:p>
          <a:p>
            <a:pPr marL="285750" indent="-285750">
              <a:buFont typeface="Arial" panose="020B0604020202020204" pitchFamily="34" charset="0"/>
              <a:buChar char="•"/>
              <a:defRPr sz="1800"/>
            </a:pPr>
            <a:r>
              <a:rPr lang="en-US" dirty="0"/>
              <a:t>Real-time data sync and Dashboard-based progress tracking by ULG / indicator, teams and verification status </a:t>
            </a:r>
          </a:p>
          <a:p>
            <a:pPr marL="285750" indent="-285750">
              <a:buFont typeface="Arial" panose="020B0604020202020204" pitchFamily="34" charset="0"/>
              <a:buChar char="•"/>
              <a:defRPr sz="1800"/>
            </a:pPr>
            <a:r>
              <a:rPr lang="en-US" dirty="0"/>
              <a:t>Integration with MIS / MRV systems</a:t>
            </a:r>
          </a:p>
        </p:txBody>
      </p:sp>
    </p:spTree>
    <p:extLst>
      <p:ext uri="{BB962C8B-B14F-4D97-AF65-F5344CB8AC3E}">
        <p14:creationId xmlns:p14="http://schemas.microsoft.com/office/powerpoint/2010/main" val="2262675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1792" y="438912"/>
            <a:ext cx="10332720" cy="310896"/>
          </a:xfrm>
          <a:prstGeom prst="rect">
            <a:avLst/>
          </a:prstGeom>
          <a:noFill/>
          <a:ln/>
        </p:spPr>
        <p:txBody>
          <a:bodyPr wrap="square" lIns="0" tIns="0" rIns="0" bIns="0" rtlCol="0" anchor="ctr"/>
          <a:lstStyle/>
          <a:p>
            <a:pPr marL="0" indent="0">
              <a:buNone/>
            </a:pPr>
            <a:r>
              <a:rPr lang="en-US" sz="2400" b="1" dirty="0">
                <a:solidFill>
                  <a:srgbClr val="103B73"/>
                </a:solidFill>
                <a:latin typeface="Aptos Display" pitchFamily="34" charset="0"/>
                <a:ea typeface="Aptos Display" pitchFamily="34" charset="-122"/>
                <a:cs typeface="Aptos Display" pitchFamily="34" charset="-120"/>
              </a:rPr>
              <a:t>Internal quality assurance and review process</a:t>
            </a:r>
            <a:endParaRPr lang="en-US" sz="2400" dirty="0"/>
          </a:p>
        </p:txBody>
      </p:sp>
      <p:sp>
        <p:nvSpPr>
          <p:cNvPr id="4" name="Shape 2"/>
          <p:cNvSpPr/>
          <p:nvPr/>
        </p:nvSpPr>
        <p:spPr>
          <a:xfrm>
            <a:off x="1984248" y="2743200"/>
            <a:ext cx="539496" cy="0"/>
          </a:xfrm>
          <a:prstGeom prst="line">
            <a:avLst/>
          </a:prstGeom>
          <a:ln w="12700">
            <a:tailEnd type="triangle"/>
          </a:ln>
        </p:spPr>
        <p:style>
          <a:lnRef idx="1">
            <a:schemeClr val="accent1"/>
          </a:lnRef>
          <a:fillRef idx="0">
            <a:schemeClr val="accent1"/>
          </a:fillRef>
          <a:effectRef idx="0">
            <a:schemeClr val="accent1"/>
          </a:effectRef>
          <a:fontRef idx="minor">
            <a:schemeClr val="tx1"/>
          </a:fontRef>
        </p:style>
      </p:sp>
      <p:sp>
        <p:nvSpPr>
          <p:cNvPr id="5" name="Shape 3"/>
          <p:cNvSpPr/>
          <p:nvPr/>
        </p:nvSpPr>
        <p:spPr>
          <a:xfrm>
            <a:off x="3867912" y="2743200"/>
            <a:ext cx="539496" cy="0"/>
          </a:xfrm>
          <a:prstGeom prst="line">
            <a:avLst/>
          </a:prstGeom>
          <a:ln w="12700">
            <a:tailEnd type="triangle"/>
          </a:ln>
        </p:spPr>
        <p:style>
          <a:lnRef idx="1">
            <a:schemeClr val="accent1"/>
          </a:lnRef>
          <a:fillRef idx="0">
            <a:schemeClr val="accent1"/>
          </a:fillRef>
          <a:effectRef idx="0">
            <a:schemeClr val="accent1"/>
          </a:effectRef>
          <a:fontRef idx="minor">
            <a:schemeClr val="tx1"/>
          </a:fontRef>
        </p:style>
      </p:sp>
      <p:sp>
        <p:nvSpPr>
          <p:cNvPr id="6" name="Shape 4"/>
          <p:cNvSpPr/>
          <p:nvPr/>
        </p:nvSpPr>
        <p:spPr>
          <a:xfrm>
            <a:off x="5751576" y="2743200"/>
            <a:ext cx="539496" cy="0"/>
          </a:xfrm>
          <a:prstGeom prst="line">
            <a:avLst/>
          </a:prstGeom>
          <a:ln w="12700">
            <a:tailEnd type="triangle"/>
          </a:ln>
        </p:spPr>
        <p:style>
          <a:lnRef idx="1">
            <a:schemeClr val="accent1"/>
          </a:lnRef>
          <a:fillRef idx="0">
            <a:schemeClr val="accent1"/>
          </a:fillRef>
          <a:effectRef idx="0">
            <a:schemeClr val="accent1"/>
          </a:effectRef>
          <a:fontRef idx="minor">
            <a:schemeClr val="tx1"/>
          </a:fontRef>
        </p:style>
      </p:sp>
      <p:sp>
        <p:nvSpPr>
          <p:cNvPr id="7" name="Shape 5"/>
          <p:cNvSpPr/>
          <p:nvPr/>
        </p:nvSpPr>
        <p:spPr>
          <a:xfrm>
            <a:off x="7635240" y="2743200"/>
            <a:ext cx="539496" cy="0"/>
          </a:xfrm>
          <a:prstGeom prst="line">
            <a:avLst/>
          </a:prstGeom>
          <a:ln w="12700">
            <a:tailEnd type="triangle"/>
          </a:ln>
        </p:spPr>
        <p:style>
          <a:lnRef idx="1">
            <a:schemeClr val="accent1"/>
          </a:lnRef>
          <a:fillRef idx="0">
            <a:schemeClr val="accent1"/>
          </a:fillRef>
          <a:effectRef idx="0">
            <a:schemeClr val="accent1"/>
          </a:effectRef>
          <a:fontRef idx="minor">
            <a:schemeClr val="tx1"/>
          </a:fontRef>
        </p:style>
      </p:sp>
      <p:sp>
        <p:nvSpPr>
          <p:cNvPr id="8" name="Shape 6"/>
          <p:cNvSpPr/>
          <p:nvPr/>
        </p:nvSpPr>
        <p:spPr>
          <a:xfrm>
            <a:off x="9518904" y="2743200"/>
            <a:ext cx="539496" cy="0"/>
          </a:xfrm>
          <a:prstGeom prst="line">
            <a:avLst/>
          </a:prstGeom>
          <a:ln w="12700">
            <a:tailEnd type="triangle"/>
          </a:ln>
        </p:spPr>
        <p:style>
          <a:lnRef idx="1">
            <a:schemeClr val="accent1"/>
          </a:lnRef>
          <a:fillRef idx="0">
            <a:schemeClr val="accent1"/>
          </a:fillRef>
          <a:effectRef idx="0">
            <a:schemeClr val="accent1"/>
          </a:effectRef>
          <a:fontRef idx="minor">
            <a:schemeClr val="tx1"/>
          </a:fontRef>
        </p:style>
      </p:sp>
      <p:sp>
        <p:nvSpPr>
          <p:cNvPr id="9" name="Text 7"/>
          <p:cNvSpPr/>
          <p:nvPr/>
        </p:nvSpPr>
        <p:spPr>
          <a:xfrm>
            <a:off x="749808" y="2057400"/>
            <a:ext cx="1325880" cy="1325880"/>
          </a:xfrm>
          <a:prstGeom prst="roundRect">
            <a:avLst/>
          </a:prstGeom>
          <a:solidFill>
            <a:srgbClr val="FFFFFF"/>
          </a:solidFill>
          <a:ln>
            <a:solidFill>
              <a:srgbClr val="1F5AA6"/>
            </a:solidFill>
          </a:ln>
        </p:spPr>
        <p:txBody>
          <a:bodyPr wrap="square" lIns="762" tIns="762" rIns="762" bIns="762" rtlCol="0" anchor="ctr"/>
          <a:lstStyle/>
          <a:p>
            <a:pPr marL="0" indent="0" algn="ctr">
              <a:buNone/>
            </a:pPr>
            <a:r>
              <a:rPr lang="en-US" sz="1400" b="1" dirty="0">
                <a:solidFill>
                  <a:srgbClr val="1F2937"/>
                </a:solidFill>
              </a:rPr>
              <a:t>Field data</a:t>
            </a:r>
            <a:endParaRPr lang="en-US" sz="1400" dirty="0"/>
          </a:p>
          <a:p>
            <a:pPr marL="0" indent="0" algn="ctr">
              <a:buNone/>
            </a:pPr>
            <a:r>
              <a:rPr lang="en-US" sz="1400" b="1" dirty="0">
                <a:solidFill>
                  <a:srgbClr val="1F2937"/>
                </a:solidFill>
              </a:rPr>
              <a:t>collection</a:t>
            </a:r>
            <a:endParaRPr lang="en-US" sz="1400" dirty="0"/>
          </a:p>
        </p:txBody>
      </p:sp>
      <p:sp>
        <p:nvSpPr>
          <p:cNvPr id="10" name="Text 8"/>
          <p:cNvSpPr/>
          <p:nvPr/>
        </p:nvSpPr>
        <p:spPr>
          <a:xfrm>
            <a:off x="2633472" y="2057400"/>
            <a:ext cx="1325880" cy="1325880"/>
          </a:xfrm>
          <a:prstGeom prst="roundRect">
            <a:avLst/>
          </a:prstGeom>
          <a:solidFill>
            <a:srgbClr val="FFFFFF"/>
          </a:solidFill>
          <a:ln>
            <a:solidFill>
              <a:srgbClr val="1F5AA6"/>
            </a:solidFill>
          </a:ln>
        </p:spPr>
        <p:txBody>
          <a:bodyPr wrap="square" lIns="762" tIns="762" rIns="762" bIns="762" rtlCol="0" anchor="ctr"/>
          <a:lstStyle/>
          <a:p>
            <a:pPr marL="0" indent="0" algn="ctr">
              <a:buNone/>
            </a:pPr>
            <a:r>
              <a:rPr lang="en-US" sz="1400" b="1" dirty="0">
                <a:solidFill>
                  <a:srgbClr val="1F2937"/>
                </a:solidFill>
              </a:rPr>
              <a:t>Supervisor</a:t>
            </a:r>
            <a:endParaRPr lang="en-US" sz="1400" dirty="0"/>
          </a:p>
          <a:p>
            <a:pPr marL="0" indent="0" algn="ctr">
              <a:buNone/>
            </a:pPr>
            <a:r>
              <a:rPr lang="en-US" sz="1400" b="1" dirty="0">
                <a:solidFill>
                  <a:srgbClr val="1F2937"/>
                </a:solidFill>
              </a:rPr>
              <a:t>review</a:t>
            </a:r>
            <a:endParaRPr lang="en-US" sz="1400" dirty="0"/>
          </a:p>
        </p:txBody>
      </p:sp>
      <p:sp>
        <p:nvSpPr>
          <p:cNvPr id="11" name="Text 9"/>
          <p:cNvSpPr/>
          <p:nvPr/>
        </p:nvSpPr>
        <p:spPr>
          <a:xfrm>
            <a:off x="4517136" y="2057400"/>
            <a:ext cx="1325880" cy="1325880"/>
          </a:xfrm>
          <a:prstGeom prst="roundRect">
            <a:avLst/>
          </a:prstGeom>
          <a:solidFill>
            <a:srgbClr val="FFFFFF"/>
          </a:solidFill>
          <a:ln>
            <a:solidFill>
              <a:srgbClr val="1F5AA6"/>
            </a:solidFill>
          </a:ln>
        </p:spPr>
        <p:txBody>
          <a:bodyPr wrap="square" lIns="762" tIns="762" rIns="762" bIns="762" rtlCol="0" anchor="ctr"/>
          <a:lstStyle/>
          <a:p>
            <a:pPr marL="0" indent="0" algn="ctr">
              <a:buNone/>
            </a:pPr>
            <a:r>
              <a:rPr lang="en-US" sz="1400" b="1" dirty="0">
                <a:solidFill>
                  <a:srgbClr val="1F2937"/>
                </a:solidFill>
              </a:rPr>
              <a:t>Technical</a:t>
            </a:r>
            <a:endParaRPr lang="en-US" sz="1400" dirty="0"/>
          </a:p>
          <a:p>
            <a:pPr marL="0" indent="0" algn="ctr">
              <a:buNone/>
            </a:pPr>
            <a:r>
              <a:rPr lang="en-US" sz="1400" b="1" dirty="0">
                <a:solidFill>
                  <a:srgbClr val="1F2937"/>
                </a:solidFill>
              </a:rPr>
              <a:t>validation</a:t>
            </a:r>
            <a:endParaRPr lang="en-US" sz="1400" dirty="0"/>
          </a:p>
        </p:txBody>
      </p:sp>
      <p:sp>
        <p:nvSpPr>
          <p:cNvPr id="12" name="Text 10"/>
          <p:cNvSpPr/>
          <p:nvPr/>
        </p:nvSpPr>
        <p:spPr>
          <a:xfrm>
            <a:off x="6400800" y="2057400"/>
            <a:ext cx="1325880" cy="1325880"/>
          </a:xfrm>
          <a:prstGeom prst="roundRect">
            <a:avLst/>
          </a:prstGeom>
          <a:solidFill>
            <a:srgbClr val="FDF2F2"/>
          </a:solidFill>
          <a:ln>
            <a:solidFill>
              <a:srgbClr val="C05656"/>
            </a:solidFill>
          </a:ln>
        </p:spPr>
        <p:txBody>
          <a:bodyPr wrap="square" lIns="762" tIns="762" rIns="762" bIns="762" rtlCol="0" anchor="ctr"/>
          <a:lstStyle/>
          <a:p>
            <a:pPr marL="0" indent="0" algn="ctr">
              <a:buNone/>
            </a:pPr>
            <a:r>
              <a:rPr lang="en-US" sz="1400" b="1" dirty="0">
                <a:solidFill>
                  <a:srgbClr val="1F2937"/>
                </a:solidFill>
              </a:rPr>
              <a:t>Back-checks and</a:t>
            </a:r>
            <a:endParaRPr lang="en-US" sz="1400" dirty="0"/>
          </a:p>
          <a:p>
            <a:pPr marL="0" indent="0" algn="ctr">
              <a:buNone/>
            </a:pPr>
            <a:r>
              <a:rPr lang="en-US" sz="1400" b="1" dirty="0">
                <a:solidFill>
                  <a:srgbClr val="1F2937"/>
                </a:solidFill>
              </a:rPr>
              <a:t>QA review</a:t>
            </a:r>
            <a:endParaRPr lang="en-US" sz="1400" dirty="0"/>
          </a:p>
        </p:txBody>
      </p:sp>
      <p:sp>
        <p:nvSpPr>
          <p:cNvPr id="13" name="Text 11"/>
          <p:cNvSpPr/>
          <p:nvPr/>
        </p:nvSpPr>
        <p:spPr>
          <a:xfrm>
            <a:off x="8284464" y="2057400"/>
            <a:ext cx="1325880" cy="1325880"/>
          </a:xfrm>
          <a:prstGeom prst="roundRect">
            <a:avLst/>
          </a:prstGeom>
          <a:solidFill>
            <a:srgbClr val="FFFFFF"/>
          </a:solidFill>
          <a:ln>
            <a:solidFill>
              <a:srgbClr val="1F5AA6"/>
            </a:solidFill>
          </a:ln>
        </p:spPr>
        <p:txBody>
          <a:bodyPr wrap="square" lIns="762" tIns="762" rIns="762" bIns="762" rtlCol="0" anchor="ctr"/>
          <a:lstStyle/>
          <a:p>
            <a:pPr marL="0" indent="0" algn="ctr">
              <a:buNone/>
            </a:pPr>
            <a:r>
              <a:rPr lang="en-US" sz="1400" b="1" dirty="0">
                <a:solidFill>
                  <a:srgbClr val="1F2937"/>
                </a:solidFill>
              </a:rPr>
              <a:t>Evidence</a:t>
            </a:r>
            <a:endParaRPr lang="en-US" sz="1400" dirty="0"/>
          </a:p>
          <a:p>
            <a:pPr marL="0" indent="0" algn="ctr">
              <a:buNone/>
            </a:pPr>
            <a:r>
              <a:rPr lang="en-US" sz="1400" b="1" dirty="0">
                <a:solidFill>
                  <a:srgbClr val="1F2937"/>
                </a:solidFill>
              </a:rPr>
              <a:t>reconciliation</a:t>
            </a:r>
            <a:endParaRPr lang="en-US" sz="1400" dirty="0"/>
          </a:p>
        </p:txBody>
      </p:sp>
      <p:sp>
        <p:nvSpPr>
          <p:cNvPr id="14" name="Text 12"/>
          <p:cNvSpPr/>
          <p:nvPr/>
        </p:nvSpPr>
        <p:spPr>
          <a:xfrm>
            <a:off x="10168128" y="2057400"/>
            <a:ext cx="1325880" cy="1325880"/>
          </a:xfrm>
          <a:prstGeom prst="roundRect">
            <a:avLst/>
          </a:prstGeom>
          <a:solidFill>
            <a:srgbClr val="FFF5EA"/>
          </a:solidFill>
          <a:ln>
            <a:solidFill>
              <a:srgbClr val="C7782A"/>
            </a:solidFill>
          </a:ln>
        </p:spPr>
        <p:txBody>
          <a:bodyPr wrap="square" lIns="762" tIns="762" rIns="762" bIns="762" rtlCol="0" anchor="ctr"/>
          <a:lstStyle/>
          <a:p>
            <a:pPr marL="0" indent="0" algn="ctr">
              <a:buNone/>
            </a:pPr>
            <a:r>
              <a:rPr lang="en-US" sz="1400" b="1" dirty="0">
                <a:solidFill>
                  <a:srgbClr val="1F2937"/>
                </a:solidFill>
              </a:rPr>
              <a:t>Final sign-off</a:t>
            </a:r>
            <a:endParaRPr lang="en-US" sz="1400" dirty="0"/>
          </a:p>
          <a:p>
            <a:pPr marL="0" indent="0" algn="ctr">
              <a:buNone/>
            </a:pPr>
            <a:r>
              <a:rPr lang="en-US" sz="1400" b="1" dirty="0">
                <a:solidFill>
                  <a:srgbClr val="1F2937"/>
                </a:solidFill>
              </a:rPr>
              <a:t>and reporting</a:t>
            </a:r>
            <a:endParaRPr lang="en-US" sz="1400" dirty="0"/>
          </a:p>
        </p:txBody>
      </p:sp>
      <p:sp>
        <p:nvSpPr>
          <p:cNvPr id="15" name="Text 13"/>
          <p:cNvSpPr/>
          <p:nvPr/>
        </p:nvSpPr>
        <p:spPr>
          <a:xfrm>
            <a:off x="1005840" y="4297680"/>
            <a:ext cx="10488168" cy="731504"/>
          </a:xfrm>
          <a:prstGeom prst="roundRect">
            <a:avLst/>
          </a:prstGeom>
          <a:solidFill>
            <a:srgbClr val="FFFFFF"/>
          </a:solidFill>
          <a:ln>
            <a:solidFill>
              <a:srgbClr val="D7E2EF"/>
            </a:solidFill>
          </a:ln>
        </p:spPr>
        <p:txBody>
          <a:bodyPr wrap="square" lIns="1905" tIns="1905" rIns="1905" bIns="1905" rtlCol="0" anchor="t"/>
          <a:lstStyle/>
          <a:p>
            <a:pPr marL="0" indent="0" algn="l">
              <a:buNone/>
            </a:pPr>
            <a:endParaRPr lang="en-US" sz="1600" dirty="0"/>
          </a:p>
          <a:p>
            <a:pPr marL="0" indent="0" algn="l">
              <a:buNone/>
            </a:pPr>
            <a:r>
              <a:rPr lang="en-US" sz="1600" dirty="0">
                <a:solidFill>
                  <a:srgbClr val="1F2937"/>
                </a:solidFill>
              </a:rPr>
              <a:t>No finding is reported without documentary support, specialist validation, and internal QA review before submission.</a:t>
            </a:r>
            <a:endParaRPr lang="en-US" sz="1600" dirty="0"/>
          </a:p>
        </p:txBody>
      </p:sp>
      <p:sp>
        <p:nvSpPr>
          <p:cNvPr id="25" name="Slide Number Placeholder 0"/>
          <p:cNvSpPr>
            <a:spLocks noGrp="1"/>
          </p:cNvSpPr>
          <p:nvPr>
            <p:ph type="sldNum" sz="quarter" idx="4294967295"/>
          </p:nvPr>
        </p:nvSpPr>
        <p:spPr>
          <a:xfrm>
            <a:off x="11292840" y="6437376"/>
            <a:ext cx="365760" cy="18288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1510" y="395478"/>
            <a:ext cx="7132320" cy="502920"/>
          </a:xfrm>
          <a:prstGeom prst="rect">
            <a:avLst/>
          </a:prstGeom>
          <a:noFill/>
          <a:ln/>
        </p:spPr>
        <p:txBody>
          <a:bodyPr wrap="square" lIns="0" tIns="0" rIns="0" bIns="0" rtlCol="0" anchor="ctr"/>
          <a:lstStyle/>
          <a:p>
            <a:pPr marL="0" indent="0">
              <a:buNone/>
            </a:pPr>
            <a:r>
              <a:rPr lang="en-US" sz="2800" b="1" dirty="0">
                <a:solidFill>
                  <a:srgbClr val="103B66"/>
                </a:solidFill>
              </a:rPr>
              <a:t>Annual IVA / APA Verification Cycle</a:t>
            </a:r>
            <a:endParaRPr lang="en-US" sz="2800" dirty="0"/>
          </a:p>
        </p:txBody>
      </p:sp>
      <p:sp>
        <p:nvSpPr>
          <p:cNvPr id="3" name="Shape 1"/>
          <p:cNvSpPr/>
          <p:nvPr/>
        </p:nvSpPr>
        <p:spPr>
          <a:xfrm>
            <a:off x="2133600" y="2235708"/>
            <a:ext cx="8046720" cy="45720"/>
          </a:xfrm>
          <a:prstGeom prst="line">
            <a:avLst/>
          </a:prstGeom>
          <a:noFill/>
          <a:ln w="12700">
            <a:solidFill>
              <a:srgbClr val="D7DEE7"/>
            </a:solidFill>
            <a:prstDash val="solid"/>
          </a:ln>
        </p:spPr>
      </p:sp>
      <p:sp>
        <p:nvSpPr>
          <p:cNvPr id="4" name="Shape 2"/>
          <p:cNvSpPr/>
          <p:nvPr/>
        </p:nvSpPr>
        <p:spPr>
          <a:xfrm>
            <a:off x="1474470" y="1885950"/>
            <a:ext cx="605790" cy="594361"/>
          </a:xfrm>
          <a:prstGeom prst="ellipse">
            <a:avLst/>
          </a:prstGeom>
          <a:solidFill>
            <a:srgbClr val="1F6FB2"/>
          </a:solidFill>
          <a:ln w="12700">
            <a:solidFill>
              <a:srgbClr val="FFFFFF"/>
            </a:solidFill>
            <a:prstDash val="solid"/>
          </a:ln>
        </p:spPr>
      </p:sp>
      <p:sp>
        <p:nvSpPr>
          <p:cNvPr id="5" name="Text 3"/>
          <p:cNvSpPr/>
          <p:nvPr/>
        </p:nvSpPr>
        <p:spPr>
          <a:xfrm>
            <a:off x="1417320" y="2125980"/>
            <a:ext cx="731520" cy="109728"/>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6" name="Text 4"/>
          <p:cNvSpPr/>
          <p:nvPr/>
        </p:nvSpPr>
        <p:spPr>
          <a:xfrm>
            <a:off x="1143000" y="1257300"/>
            <a:ext cx="1280160" cy="457200"/>
          </a:xfrm>
          <a:prstGeom prst="rect">
            <a:avLst/>
          </a:prstGeom>
          <a:noFill/>
          <a:ln/>
        </p:spPr>
        <p:txBody>
          <a:bodyPr wrap="square" lIns="0" tIns="0" rIns="0" bIns="0" rtlCol="0" anchor="ctr"/>
          <a:lstStyle/>
          <a:p>
            <a:pPr marL="0" indent="0" algn="ctr">
              <a:buNone/>
            </a:pPr>
            <a:r>
              <a:rPr lang="en-US" sz="1400" b="1" dirty="0">
                <a:solidFill>
                  <a:srgbClr val="103B66"/>
                </a:solidFill>
              </a:rPr>
              <a:t>Verification planning</a:t>
            </a:r>
            <a:endParaRPr lang="en-US" sz="1400" dirty="0"/>
          </a:p>
        </p:txBody>
      </p:sp>
      <p:sp>
        <p:nvSpPr>
          <p:cNvPr id="7" name="Text 5"/>
          <p:cNvSpPr/>
          <p:nvPr/>
        </p:nvSpPr>
        <p:spPr>
          <a:xfrm>
            <a:off x="685800" y="2743201"/>
            <a:ext cx="2377440" cy="685799"/>
          </a:xfrm>
          <a:prstGeom prst="rect">
            <a:avLst/>
          </a:prstGeom>
          <a:noFill/>
          <a:ln/>
        </p:spPr>
        <p:txBody>
          <a:bodyPr wrap="square" lIns="254" tIns="254" rIns="254" bIns="254" rtlCol="0" anchor="t"/>
          <a:lstStyle/>
          <a:p>
            <a:pPr marL="0" indent="0" algn="ctr">
              <a:buNone/>
            </a:pPr>
            <a:r>
              <a:rPr lang="en-US" sz="1400" dirty="0">
                <a:solidFill>
                  <a:srgbClr val="243447"/>
                </a:solidFill>
              </a:rPr>
              <a:t>Map each DLI, DLR, MAC and PM to evidence, sources, field checks and outputs.</a:t>
            </a:r>
            <a:endParaRPr lang="en-US" sz="1400" dirty="0"/>
          </a:p>
        </p:txBody>
      </p:sp>
      <p:sp>
        <p:nvSpPr>
          <p:cNvPr id="8" name="Shape 6"/>
          <p:cNvSpPr/>
          <p:nvPr/>
        </p:nvSpPr>
        <p:spPr>
          <a:xfrm>
            <a:off x="4400550" y="1897380"/>
            <a:ext cx="605790" cy="582930"/>
          </a:xfrm>
          <a:prstGeom prst="ellipse">
            <a:avLst/>
          </a:prstGeom>
          <a:solidFill>
            <a:srgbClr val="1C8C7A"/>
          </a:solidFill>
          <a:ln w="12700">
            <a:solidFill>
              <a:srgbClr val="FFFFFF"/>
            </a:solidFill>
            <a:prstDash val="solid"/>
          </a:ln>
        </p:spPr>
      </p:sp>
      <p:sp>
        <p:nvSpPr>
          <p:cNvPr id="9" name="Text 7"/>
          <p:cNvSpPr/>
          <p:nvPr/>
        </p:nvSpPr>
        <p:spPr>
          <a:xfrm>
            <a:off x="4354830" y="2125980"/>
            <a:ext cx="731520" cy="109728"/>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0" name="Text 8"/>
          <p:cNvSpPr/>
          <p:nvPr/>
        </p:nvSpPr>
        <p:spPr>
          <a:xfrm>
            <a:off x="4080510" y="1257300"/>
            <a:ext cx="1280160" cy="457200"/>
          </a:xfrm>
          <a:prstGeom prst="rect">
            <a:avLst/>
          </a:prstGeom>
          <a:noFill/>
          <a:ln/>
        </p:spPr>
        <p:txBody>
          <a:bodyPr wrap="square" lIns="0" tIns="0" rIns="0" bIns="0" rtlCol="0" anchor="ctr"/>
          <a:lstStyle/>
          <a:p>
            <a:pPr marL="0" indent="0" algn="ctr">
              <a:buNone/>
            </a:pPr>
            <a:r>
              <a:rPr lang="en-US" sz="1400" b="1" dirty="0">
                <a:solidFill>
                  <a:srgbClr val="103B66"/>
                </a:solidFill>
              </a:rPr>
              <a:t>Desk review</a:t>
            </a:r>
            <a:endParaRPr lang="en-US" sz="1400" dirty="0"/>
          </a:p>
        </p:txBody>
      </p:sp>
      <p:sp>
        <p:nvSpPr>
          <p:cNvPr id="11" name="Text 9"/>
          <p:cNvSpPr/>
          <p:nvPr/>
        </p:nvSpPr>
        <p:spPr>
          <a:xfrm>
            <a:off x="3554730" y="2708910"/>
            <a:ext cx="2628900" cy="720090"/>
          </a:xfrm>
          <a:prstGeom prst="rect">
            <a:avLst/>
          </a:prstGeom>
          <a:noFill/>
          <a:ln/>
        </p:spPr>
        <p:txBody>
          <a:bodyPr wrap="square" lIns="254" tIns="254" rIns="254" bIns="254" rtlCol="0" anchor="t"/>
          <a:lstStyle/>
          <a:p>
            <a:pPr marL="0" indent="0" algn="ctr">
              <a:buNone/>
            </a:pPr>
            <a:r>
              <a:rPr lang="en-US" sz="1400" dirty="0">
                <a:solidFill>
                  <a:srgbClr val="243447"/>
                </a:solidFill>
              </a:rPr>
              <a:t>Collect reports, contracts, audits, revenue data, procurement records and MIS outputs.</a:t>
            </a:r>
            <a:endParaRPr lang="en-US" sz="1400" dirty="0"/>
          </a:p>
        </p:txBody>
      </p:sp>
      <p:sp>
        <p:nvSpPr>
          <p:cNvPr id="12" name="Shape 10"/>
          <p:cNvSpPr/>
          <p:nvPr/>
        </p:nvSpPr>
        <p:spPr>
          <a:xfrm>
            <a:off x="7178040" y="1897380"/>
            <a:ext cx="605790" cy="594361"/>
          </a:xfrm>
          <a:prstGeom prst="ellipse">
            <a:avLst/>
          </a:prstGeom>
          <a:solidFill>
            <a:srgbClr val="1F6FB2"/>
          </a:solidFill>
          <a:ln w="12700">
            <a:solidFill>
              <a:srgbClr val="FFFFFF"/>
            </a:solidFill>
            <a:prstDash val="solid"/>
          </a:ln>
        </p:spPr>
      </p:sp>
      <p:sp>
        <p:nvSpPr>
          <p:cNvPr id="13" name="Text 11"/>
          <p:cNvSpPr/>
          <p:nvPr/>
        </p:nvSpPr>
        <p:spPr>
          <a:xfrm>
            <a:off x="7132320" y="2125980"/>
            <a:ext cx="731520" cy="109728"/>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4" name="Text 12"/>
          <p:cNvSpPr/>
          <p:nvPr/>
        </p:nvSpPr>
        <p:spPr>
          <a:xfrm>
            <a:off x="6858000" y="1257300"/>
            <a:ext cx="1280160" cy="457200"/>
          </a:xfrm>
          <a:prstGeom prst="rect">
            <a:avLst/>
          </a:prstGeom>
          <a:noFill/>
          <a:ln/>
        </p:spPr>
        <p:txBody>
          <a:bodyPr wrap="square" lIns="0" tIns="0" rIns="0" bIns="0" rtlCol="0" anchor="ctr"/>
          <a:lstStyle/>
          <a:p>
            <a:pPr marL="0" indent="0" algn="ctr">
              <a:buNone/>
            </a:pPr>
            <a:r>
              <a:rPr lang="en-US" sz="1400" b="1" dirty="0">
                <a:solidFill>
                  <a:srgbClr val="103B66"/>
                </a:solidFill>
              </a:rPr>
              <a:t>Validation</a:t>
            </a:r>
            <a:endParaRPr lang="en-US" sz="1400" dirty="0"/>
          </a:p>
        </p:txBody>
      </p:sp>
      <p:sp>
        <p:nvSpPr>
          <p:cNvPr id="15" name="Text 13"/>
          <p:cNvSpPr/>
          <p:nvPr/>
        </p:nvSpPr>
        <p:spPr>
          <a:xfrm>
            <a:off x="6435090" y="2720341"/>
            <a:ext cx="2228850" cy="761237"/>
          </a:xfrm>
          <a:prstGeom prst="rect">
            <a:avLst/>
          </a:prstGeom>
          <a:noFill/>
          <a:ln/>
        </p:spPr>
        <p:txBody>
          <a:bodyPr wrap="square" lIns="254" tIns="254" rIns="254" bIns="254" rtlCol="0" anchor="t"/>
          <a:lstStyle/>
          <a:p>
            <a:pPr marL="0" indent="0" algn="ctr">
              <a:buNone/>
            </a:pPr>
            <a:r>
              <a:rPr lang="en-US" sz="1400" dirty="0">
                <a:solidFill>
                  <a:srgbClr val="243447"/>
                </a:solidFill>
              </a:rPr>
              <a:t>Cross-check, reconcile discrepancies and issue clarification sheets.</a:t>
            </a:r>
            <a:endParaRPr lang="en-US" sz="1400" dirty="0"/>
          </a:p>
        </p:txBody>
      </p:sp>
      <p:sp>
        <p:nvSpPr>
          <p:cNvPr id="16" name="Shape 14"/>
          <p:cNvSpPr/>
          <p:nvPr/>
        </p:nvSpPr>
        <p:spPr>
          <a:xfrm>
            <a:off x="9646920" y="1897380"/>
            <a:ext cx="579120" cy="582930"/>
          </a:xfrm>
          <a:prstGeom prst="ellipse">
            <a:avLst/>
          </a:prstGeom>
          <a:solidFill>
            <a:srgbClr val="1C8C7A"/>
          </a:solidFill>
          <a:ln w="12700">
            <a:solidFill>
              <a:srgbClr val="FFFFFF"/>
            </a:solidFill>
            <a:prstDash val="solid"/>
          </a:ln>
        </p:spPr>
      </p:sp>
      <p:sp>
        <p:nvSpPr>
          <p:cNvPr id="17" name="Text 15"/>
          <p:cNvSpPr/>
          <p:nvPr/>
        </p:nvSpPr>
        <p:spPr>
          <a:xfrm>
            <a:off x="9589770" y="2091690"/>
            <a:ext cx="731520" cy="109728"/>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8" name="Text 16"/>
          <p:cNvSpPr/>
          <p:nvPr/>
        </p:nvSpPr>
        <p:spPr>
          <a:xfrm>
            <a:off x="9315450" y="1223010"/>
            <a:ext cx="1280160" cy="457200"/>
          </a:xfrm>
          <a:prstGeom prst="rect">
            <a:avLst/>
          </a:prstGeom>
          <a:noFill/>
          <a:ln/>
        </p:spPr>
        <p:txBody>
          <a:bodyPr wrap="square" lIns="0" tIns="0" rIns="0" bIns="0" rtlCol="0" anchor="ctr"/>
          <a:lstStyle/>
          <a:p>
            <a:pPr marL="0" indent="0" algn="ctr">
              <a:buNone/>
            </a:pPr>
            <a:r>
              <a:rPr lang="en-US" sz="1400" b="1" dirty="0">
                <a:solidFill>
                  <a:srgbClr val="103B66"/>
                </a:solidFill>
              </a:rPr>
              <a:t>Field verification</a:t>
            </a:r>
            <a:endParaRPr lang="en-US" sz="1400" dirty="0"/>
          </a:p>
        </p:txBody>
      </p:sp>
      <p:sp>
        <p:nvSpPr>
          <p:cNvPr id="19" name="Text 17"/>
          <p:cNvSpPr/>
          <p:nvPr/>
        </p:nvSpPr>
        <p:spPr>
          <a:xfrm>
            <a:off x="8846820" y="2720340"/>
            <a:ext cx="2743200" cy="838961"/>
          </a:xfrm>
          <a:prstGeom prst="rect">
            <a:avLst/>
          </a:prstGeom>
          <a:noFill/>
          <a:ln/>
        </p:spPr>
        <p:txBody>
          <a:bodyPr wrap="square" lIns="254" tIns="254" rIns="254" bIns="254" rtlCol="0" anchor="t"/>
          <a:lstStyle/>
          <a:p>
            <a:pPr marL="0" indent="0" algn="ctr">
              <a:buNone/>
            </a:pPr>
            <a:r>
              <a:rPr lang="en-US" sz="1400" dirty="0">
                <a:solidFill>
                  <a:srgbClr val="243447"/>
                </a:solidFill>
              </a:rPr>
              <a:t>Observe assets, verify connections, inspect records, conduct spot checks and interviews.</a:t>
            </a:r>
            <a:endParaRPr lang="en-US" sz="1400" dirty="0"/>
          </a:p>
        </p:txBody>
      </p:sp>
      <p:sp>
        <p:nvSpPr>
          <p:cNvPr id="20" name="Shape 18"/>
          <p:cNvSpPr/>
          <p:nvPr/>
        </p:nvSpPr>
        <p:spPr>
          <a:xfrm>
            <a:off x="2837572" y="4163035"/>
            <a:ext cx="691368" cy="656539"/>
          </a:xfrm>
          <a:prstGeom prst="ellipse">
            <a:avLst/>
          </a:prstGeom>
          <a:solidFill>
            <a:srgbClr val="1F6FB2"/>
          </a:solidFill>
          <a:ln w="12700">
            <a:solidFill>
              <a:srgbClr val="FFFFFF"/>
            </a:solidFill>
            <a:prstDash val="solid"/>
          </a:ln>
        </p:spPr>
      </p:sp>
      <p:sp>
        <p:nvSpPr>
          <p:cNvPr id="21" name="Text 19"/>
          <p:cNvSpPr/>
          <p:nvPr/>
        </p:nvSpPr>
        <p:spPr>
          <a:xfrm>
            <a:off x="2628754" y="4437240"/>
            <a:ext cx="1109003" cy="98481"/>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22" name="Text 20"/>
          <p:cNvSpPr/>
          <p:nvPr/>
        </p:nvSpPr>
        <p:spPr>
          <a:xfrm>
            <a:off x="2212878" y="3657600"/>
            <a:ext cx="1940755" cy="410337"/>
          </a:xfrm>
          <a:prstGeom prst="rect">
            <a:avLst/>
          </a:prstGeom>
          <a:noFill/>
          <a:ln/>
        </p:spPr>
        <p:txBody>
          <a:bodyPr wrap="square" lIns="0" tIns="0" rIns="0" bIns="0" rtlCol="0" anchor="ctr"/>
          <a:lstStyle/>
          <a:p>
            <a:pPr marL="0" indent="0" algn="ctr">
              <a:buNone/>
            </a:pPr>
            <a:r>
              <a:rPr lang="en-US" sz="1400" b="1" dirty="0">
                <a:solidFill>
                  <a:srgbClr val="103B66"/>
                </a:solidFill>
              </a:rPr>
              <a:t>Indicator assessment</a:t>
            </a:r>
            <a:endParaRPr lang="en-US" sz="1400" dirty="0"/>
          </a:p>
        </p:txBody>
      </p:sp>
      <p:sp>
        <p:nvSpPr>
          <p:cNvPr id="23" name="Text 21"/>
          <p:cNvSpPr/>
          <p:nvPr/>
        </p:nvSpPr>
        <p:spPr>
          <a:xfrm>
            <a:off x="2004940" y="5052746"/>
            <a:ext cx="2356632" cy="1066876"/>
          </a:xfrm>
          <a:prstGeom prst="rect">
            <a:avLst/>
          </a:prstGeom>
          <a:noFill/>
          <a:ln/>
        </p:spPr>
        <p:txBody>
          <a:bodyPr wrap="square" lIns="254" tIns="254" rIns="254" bIns="254" rtlCol="0" anchor="t"/>
          <a:lstStyle/>
          <a:p>
            <a:pPr marL="0" indent="0" algn="ctr">
              <a:buNone/>
            </a:pPr>
            <a:r>
              <a:rPr lang="en-US" sz="1400" dirty="0">
                <a:solidFill>
                  <a:srgbClr val="243447"/>
                </a:solidFill>
              </a:rPr>
              <a:t>Apply protocols for DLI 1–6 including SWM, revenue and PPP verification.</a:t>
            </a:r>
            <a:endParaRPr lang="en-US" sz="1400" dirty="0"/>
          </a:p>
        </p:txBody>
      </p:sp>
      <p:sp>
        <p:nvSpPr>
          <p:cNvPr id="24" name="Shape 22"/>
          <p:cNvSpPr/>
          <p:nvPr/>
        </p:nvSpPr>
        <p:spPr>
          <a:xfrm>
            <a:off x="5415035" y="4163036"/>
            <a:ext cx="691368" cy="656538"/>
          </a:xfrm>
          <a:prstGeom prst="ellipse">
            <a:avLst/>
          </a:prstGeom>
          <a:solidFill>
            <a:srgbClr val="1C8C7A"/>
          </a:solidFill>
          <a:ln w="12700">
            <a:solidFill>
              <a:srgbClr val="FFFFFF"/>
            </a:solidFill>
            <a:prstDash val="solid"/>
          </a:ln>
        </p:spPr>
      </p:sp>
      <p:sp>
        <p:nvSpPr>
          <p:cNvPr id="25" name="Text 23"/>
          <p:cNvSpPr/>
          <p:nvPr/>
        </p:nvSpPr>
        <p:spPr>
          <a:xfrm>
            <a:off x="5415035" y="4335000"/>
            <a:ext cx="768595" cy="367932"/>
          </a:xfrm>
          <a:prstGeom prst="rect">
            <a:avLst/>
          </a:prstGeom>
          <a:noFill/>
          <a:ln/>
        </p:spPr>
        <p:txBody>
          <a:bodyPr wrap="square" lIns="0" tIns="0" rIns="0" bIns="0" rtlCol="0" anchor="ctr"/>
          <a:lstStyle/>
          <a:p>
            <a:pPr marL="0" indent="0" algn="ctr">
              <a:buNone/>
            </a:pPr>
            <a:r>
              <a:rPr lang="en-US" b="1" dirty="0">
                <a:solidFill>
                  <a:srgbClr val="FFFFFF"/>
                </a:solidFill>
              </a:rPr>
              <a:t>6</a:t>
            </a:r>
            <a:endParaRPr lang="en-US" dirty="0"/>
          </a:p>
        </p:txBody>
      </p:sp>
      <p:sp>
        <p:nvSpPr>
          <p:cNvPr id="26" name="Text 24"/>
          <p:cNvSpPr/>
          <p:nvPr/>
        </p:nvSpPr>
        <p:spPr>
          <a:xfrm>
            <a:off x="4999159" y="3657600"/>
            <a:ext cx="1940755" cy="410337"/>
          </a:xfrm>
          <a:prstGeom prst="rect">
            <a:avLst/>
          </a:prstGeom>
          <a:noFill/>
          <a:ln/>
        </p:spPr>
        <p:txBody>
          <a:bodyPr wrap="square" lIns="0" tIns="0" rIns="0" bIns="0" rtlCol="0" anchor="ctr"/>
          <a:lstStyle/>
          <a:p>
            <a:pPr marL="0" indent="0" algn="ctr">
              <a:buNone/>
            </a:pPr>
            <a:r>
              <a:rPr lang="en-US" sz="1400" b="1" dirty="0">
                <a:solidFill>
                  <a:srgbClr val="103B66"/>
                </a:solidFill>
              </a:rPr>
              <a:t>Scoring &amp; allocation</a:t>
            </a:r>
            <a:endParaRPr lang="en-US" sz="1400" dirty="0"/>
          </a:p>
        </p:txBody>
      </p:sp>
      <p:sp>
        <p:nvSpPr>
          <p:cNvPr id="27" name="Text 25"/>
          <p:cNvSpPr/>
          <p:nvPr/>
        </p:nvSpPr>
        <p:spPr>
          <a:xfrm>
            <a:off x="4791221" y="5052746"/>
            <a:ext cx="2356632" cy="1066876"/>
          </a:xfrm>
          <a:prstGeom prst="rect">
            <a:avLst/>
          </a:prstGeom>
          <a:noFill/>
          <a:ln/>
        </p:spPr>
        <p:txBody>
          <a:bodyPr wrap="square" lIns="254" tIns="254" rIns="254" bIns="254" rtlCol="0" anchor="t"/>
          <a:lstStyle/>
          <a:p>
            <a:pPr marL="0" indent="0" algn="ctr">
              <a:buNone/>
            </a:pPr>
            <a:r>
              <a:rPr lang="en-US" sz="1400" dirty="0">
                <a:solidFill>
                  <a:srgbClr val="243447"/>
                </a:solidFill>
              </a:rPr>
              <a:t>Determine achievement, MAC compliance, PM scores and funding implications.</a:t>
            </a:r>
            <a:endParaRPr lang="en-US" sz="1400" dirty="0"/>
          </a:p>
        </p:txBody>
      </p:sp>
      <p:sp>
        <p:nvSpPr>
          <p:cNvPr id="29" name="Text 27"/>
          <p:cNvSpPr/>
          <p:nvPr/>
        </p:nvSpPr>
        <p:spPr>
          <a:xfrm>
            <a:off x="8384051" y="4402377"/>
            <a:ext cx="1109003" cy="98481"/>
          </a:xfrm>
          <a:prstGeom prst="rect">
            <a:avLst/>
          </a:prstGeom>
          <a:noFill/>
          <a:ln/>
        </p:spPr>
        <p:txBody>
          <a:bodyPr wrap="square" lIns="0" tIns="0" rIns="0" bIns="0" rtlCol="0" anchor="ctr"/>
          <a:lstStyle/>
          <a:p>
            <a:pPr marL="0" indent="0" algn="ctr">
              <a:buNone/>
            </a:pPr>
            <a:r>
              <a:rPr lang="en-US" sz="1200" b="1" dirty="0">
                <a:solidFill>
                  <a:srgbClr val="FFFFFF"/>
                </a:solidFill>
              </a:rPr>
              <a:t>7</a:t>
            </a:r>
            <a:endParaRPr lang="en-US" sz="1200" dirty="0"/>
          </a:p>
        </p:txBody>
      </p:sp>
      <p:sp>
        <p:nvSpPr>
          <p:cNvPr id="30" name="Text 28"/>
          <p:cNvSpPr/>
          <p:nvPr/>
        </p:nvSpPr>
        <p:spPr>
          <a:xfrm>
            <a:off x="7968175" y="3622737"/>
            <a:ext cx="1940755" cy="410337"/>
          </a:xfrm>
          <a:prstGeom prst="rect">
            <a:avLst/>
          </a:prstGeom>
          <a:noFill/>
          <a:ln/>
        </p:spPr>
        <p:txBody>
          <a:bodyPr wrap="square" lIns="0" tIns="0" rIns="0" bIns="0" rtlCol="0" anchor="ctr"/>
          <a:lstStyle/>
          <a:p>
            <a:pPr marL="0" indent="0" algn="ctr">
              <a:buNone/>
            </a:pPr>
            <a:r>
              <a:rPr lang="en-US" sz="1400" b="1" dirty="0">
                <a:solidFill>
                  <a:srgbClr val="103B66"/>
                </a:solidFill>
              </a:rPr>
              <a:t>Reporting</a:t>
            </a:r>
            <a:endParaRPr lang="en-US" sz="1400" dirty="0"/>
          </a:p>
        </p:txBody>
      </p:sp>
      <p:sp>
        <p:nvSpPr>
          <p:cNvPr id="31" name="Text 29"/>
          <p:cNvSpPr/>
          <p:nvPr/>
        </p:nvSpPr>
        <p:spPr>
          <a:xfrm>
            <a:off x="7760236" y="5017883"/>
            <a:ext cx="2356632" cy="1066876"/>
          </a:xfrm>
          <a:prstGeom prst="rect">
            <a:avLst/>
          </a:prstGeom>
          <a:noFill/>
          <a:ln/>
        </p:spPr>
        <p:txBody>
          <a:bodyPr wrap="square" lIns="254" tIns="254" rIns="254" bIns="254" rtlCol="0" anchor="t"/>
          <a:lstStyle/>
          <a:p>
            <a:pPr marL="0" indent="0" algn="ctr">
              <a:buNone/>
            </a:pPr>
            <a:r>
              <a:rPr lang="en-US" sz="1400" dirty="0">
                <a:solidFill>
                  <a:srgbClr val="243447"/>
                </a:solidFill>
              </a:rPr>
              <a:t>Submit draft, reconciled and final reports to the Client and World Bank.</a:t>
            </a:r>
            <a:endParaRPr lang="en-US" sz="1400" dirty="0"/>
          </a:p>
        </p:txBody>
      </p:sp>
      <p:sp>
        <p:nvSpPr>
          <p:cNvPr id="32" name="Shape 30"/>
          <p:cNvSpPr/>
          <p:nvPr/>
        </p:nvSpPr>
        <p:spPr>
          <a:xfrm>
            <a:off x="171450" y="5991444"/>
            <a:ext cx="11578590" cy="361350"/>
          </a:xfrm>
          <a:prstGeom prst="roundRect">
            <a:avLst>
              <a:gd name="adj" fmla="val 41176"/>
            </a:avLst>
          </a:prstGeom>
          <a:solidFill>
            <a:srgbClr val="FFFFFF"/>
          </a:solidFill>
          <a:ln w="12700">
            <a:solidFill>
              <a:srgbClr val="D7DEE7"/>
            </a:solidFill>
            <a:prstDash val="solid"/>
          </a:ln>
        </p:spPr>
      </p:sp>
      <p:sp>
        <p:nvSpPr>
          <p:cNvPr id="33" name="Text 31"/>
          <p:cNvSpPr/>
          <p:nvPr/>
        </p:nvSpPr>
        <p:spPr>
          <a:xfrm>
            <a:off x="171450" y="6037163"/>
            <a:ext cx="11578590" cy="212559"/>
          </a:xfrm>
          <a:prstGeom prst="rect">
            <a:avLst/>
          </a:prstGeom>
          <a:noFill/>
          <a:ln/>
        </p:spPr>
        <p:txBody>
          <a:bodyPr wrap="square" lIns="0" tIns="0" rIns="0" bIns="0" rtlCol="0" anchor="ctr"/>
          <a:lstStyle/>
          <a:p>
            <a:pPr marL="0" indent="0" algn="ctr">
              <a:buNone/>
            </a:pPr>
            <a:r>
              <a:rPr lang="en-US" sz="1600" b="1" dirty="0">
                <a:solidFill>
                  <a:srgbClr val="243447"/>
                </a:solidFill>
              </a:rPr>
              <a:t>Deep-dive verification areas: WASH connections • SWM performance • MAC/PM scoring • revenue growth • PPP transactions</a:t>
            </a:r>
            <a:endParaRPr lang="en-US" sz="1600" dirty="0"/>
          </a:p>
        </p:txBody>
      </p:sp>
      <p:sp>
        <p:nvSpPr>
          <p:cNvPr id="35" name="Shape 18">
            <a:extLst>
              <a:ext uri="{FF2B5EF4-FFF2-40B4-BE49-F238E27FC236}">
                <a16:creationId xmlns:a16="http://schemas.microsoft.com/office/drawing/2014/main" id="{7D10BE20-1F0F-1F5F-90C5-2F27A504C29E}"/>
              </a:ext>
            </a:extLst>
          </p:cNvPr>
          <p:cNvSpPr/>
          <p:nvPr/>
        </p:nvSpPr>
        <p:spPr>
          <a:xfrm>
            <a:off x="8581439" y="4128173"/>
            <a:ext cx="691368" cy="656539"/>
          </a:xfrm>
          <a:prstGeom prst="ellipse">
            <a:avLst/>
          </a:prstGeom>
          <a:solidFill>
            <a:srgbClr val="1F6FB2"/>
          </a:solidFill>
          <a:ln w="12700">
            <a:solidFill>
              <a:srgbClr val="FFFFFF"/>
            </a:solidFill>
            <a:prstDash val="solid"/>
          </a:ln>
        </p:spPr>
      </p:sp>
      <p:sp>
        <p:nvSpPr>
          <p:cNvPr id="36" name="Text 19">
            <a:extLst>
              <a:ext uri="{FF2B5EF4-FFF2-40B4-BE49-F238E27FC236}">
                <a16:creationId xmlns:a16="http://schemas.microsoft.com/office/drawing/2014/main" id="{3DD880E2-EF9F-3F19-B805-A593AC2FA7A7}"/>
              </a:ext>
            </a:extLst>
          </p:cNvPr>
          <p:cNvSpPr/>
          <p:nvPr/>
        </p:nvSpPr>
        <p:spPr>
          <a:xfrm>
            <a:off x="8372621" y="4402378"/>
            <a:ext cx="1109003" cy="98481"/>
          </a:xfrm>
          <a:prstGeom prst="rect">
            <a:avLst/>
          </a:prstGeom>
          <a:noFill/>
          <a:ln/>
        </p:spPr>
        <p:txBody>
          <a:bodyPr wrap="square" lIns="0" tIns="0" rIns="0" bIns="0" rtlCol="0" anchor="ctr"/>
          <a:lstStyle/>
          <a:p>
            <a:pPr marL="0" indent="0" algn="ctr">
              <a:buNone/>
            </a:pPr>
            <a:r>
              <a:rPr lang="en-US" sz="1600" b="1" dirty="0">
                <a:solidFill>
                  <a:srgbClr val="FFFFFF"/>
                </a:solidFill>
              </a:rPr>
              <a:t>7</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39" y="411480"/>
            <a:ext cx="10636811" cy="502920"/>
          </a:xfrm>
          <a:prstGeom prst="rect">
            <a:avLst/>
          </a:prstGeom>
          <a:noFill/>
          <a:ln/>
        </p:spPr>
        <p:txBody>
          <a:bodyPr wrap="square" lIns="0" tIns="0" rIns="0" bIns="0" rtlCol="0" anchor="ctr"/>
          <a:lstStyle/>
          <a:p>
            <a:pPr marL="0" indent="0">
              <a:buNone/>
            </a:pPr>
            <a:r>
              <a:rPr lang="en-US" sz="2800" b="1" dirty="0">
                <a:solidFill>
                  <a:srgbClr val="103B66"/>
                </a:solidFill>
              </a:rPr>
              <a:t>Quarterly Environmental &amp; Social Monitoring Cycle</a:t>
            </a:r>
            <a:endParaRPr lang="en-US" sz="2800" dirty="0"/>
          </a:p>
        </p:txBody>
      </p:sp>
      <p:sp>
        <p:nvSpPr>
          <p:cNvPr id="3" name="Shape 1"/>
          <p:cNvSpPr/>
          <p:nvPr/>
        </p:nvSpPr>
        <p:spPr>
          <a:xfrm>
            <a:off x="502920" y="1965960"/>
            <a:ext cx="1527048" cy="2839956"/>
          </a:xfrm>
          <a:prstGeom prst="roundRect">
            <a:avLst>
              <a:gd name="adj" fmla="val 5161"/>
            </a:avLst>
          </a:prstGeom>
          <a:solidFill>
            <a:srgbClr val="FFFFFF"/>
          </a:solidFill>
          <a:ln w="12700">
            <a:solidFill>
              <a:srgbClr val="1F6FB2"/>
            </a:solidFill>
            <a:prstDash val="solid"/>
          </a:ln>
          <a:effectLst>
            <a:outerShdw blurRad="12700" dist="5080" dir="2700000" algn="bl" rotWithShape="0">
              <a:srgbClr val="000000">
                <a:alpha val="10000"/>
              </a:srgbClr>
            </a:outerShdw>
          </a:effectLst>
        </p:spPr>
      </p:sp>
      <p:sp>
        <p:nvSpPr>
          <p:cNvPr id="4" name="Shape 2"/>
          <p:cNvSpPr/>
          <p:nvPr/>
        </p:nvSpPr>
        <p:spPr>
          <a:xfrm>
            <a:off x="960120" y="1417320"/>
            <a:ext cx="502920" cy="384048"/>
          </a:xfrm>
          <a:prstGeom prst="roundRect">
            <a:avLst>
              <a:gd name="adj" fmla="val 19048"/>
            </a:avLst>
          </a:prstGeom>
          <a:solidFill>
            <a:srgbClr val="1F6FB2"/>
          </a:solidFill>
          <a:ln w="12700">
            <a:solidFill>
              <a:srgbClr val="1F6FB2"/>
            </a:solidFill>
            <a:prstDash val="solid"/>
          </a:ln>
        </p:spPr>
      </p:sp>
      <p:sp>
        <p:nvSpPr>
          <p:cNvPr id="5" name="Text 3"/>
          <p:cNvSpPr/>
          <p:nvPr/>
        </p:nvSpPr>
        <p:spPr>
          <a:xfrm>
            <a:off x="960120" y="1527048"/>
            <a:ext cx="502920" cy="109728"/>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6" name="Text 4"/>
          <p:cNvSpPr/>
          <p:nvPr/>
        </p:nvSpPr>
        <p:spPr>
          <a:xfrm>
            <a:off x="612648" y="2148840"/>
            <a:ext cx="1197864" cy="365760"/>
          </a:xfrm>
          <a:prstGeom prst="rect">
            <a:avLst/>
          </a:prstGeom>
          <a:noFill/>
          <a:ln/>
        </p:spPr>
        <p:txBody>
          <a:bodyPr wrap="square" lIns="0" tIns="0" rIns="0" bIns="0" rtlCol="0" anchor="ctr"/>
          <a:lstStyle/>
          <a:p>
            <a:pPr marL="0" indent="0" algn="ctr">
              <a:buNone/>
            </a:pPr>
            <a:r>
              <a:rPr lang="en-US" sz="1600" b="1" dirty="0">
                <a:solidFill>
                  <a:srgbClr val="103B66"/>
                </a:solidFill>
              </a:rPr>
              <a:t>Framework review</a:t>
            </a:r>
            <a:endParaRPr lang="en-US" sz="1600" dirty="0"/>
          </a:p>
        </p:txBody>
      </p:sp>
      <p:sp>
        <p:nvSpPr>
          <p:cNvPr id="7" name="Text 5"/>
          <p:cNvSpPr/>
          <p:nvPr/>
        </p:nvSpPr>
        <p:spPr>
          <a:xfrm>
            <a:off x="612648" y="2578607"/>
            <a:ext cx="1307592" cy="2057187"/>
          </a:xfrm>
          <a:prstGeom prst="rect">
            <a:avLst/>
          </a:prstGeom>
          <a:noFill/>
          <a:ln/>
        </p:spPr>
        <p:txBody>
          <a:bodyPr wrap="square" lIns="254" tIns="254" rIns="254" bIns="254" rtlCol="0" anchor="ctr"/>
          <a:lstStyle/>
          <a:p>
            <a:pPr marL="0" indent="0" algn="ctr">
              <a:buNone/>
            </a:pPr>
            <a:r>
              <a:rPr lang="en-US" sz="1400" dirty="0">
                <a:solidFill>
                  <a:srgbClr val="243447"/>
                </a:solidFill>
              </a:rPr>
              <a:t>Review ESCF, ESMPs, ESIAs, RAP/ARAP, RPF, LMP, SEP and applicable legal / WB requirements.</a:t>
            </a:r>
            <a:endParaRPr lang="en-US" sz="1400" dirty="0"/>
          </a:p>
        </p:txBody>
      </p:sp>
      <p:sp>
        <p:nvSpPr>
          <p:cNvPr id="8" name="Shape 6"/>
          <p:cNvSpPr/>
          <p:nvPr/>
        </p:nvSpPr>
        <p:spPr>
          <a:xfrm>
            <a:off x="2423160" y="1965960"/>
            <a:ext cx="1417320" cy="2839956"/>
          </a:xfrm>
          <a:prstGeom prst="roundRect">
            <a:avLst>
              <a:gd name="adj" fmla="val 5161"/>
            </a:avLst>
          </a:prstGeom>
          <a:solidFill>
            <a:srgbClr val="FFFFFF"/>
          </a:solidFill>
          <a:ln w="12700">
            <a:solidFill>
              <a:srgbClr val="1C8C7A"/>
            </a:solidFill>
            <a:prstDash val="solid"/>
          </a:ln>
          <a:effectLst>
            <a:outerShdw blurRad="12700" dist="5080" dir="2700000" algn="bl" rotWithShape="0">
              <a:srgbClr val="000000">
                <a:alpha val="10000"/>
              </a:srgbClr>
            </a:outerShdw>
          </a:effectLst>
        </p:spPr>
      </p:sp>
      <p:sp>
        <p:nvSpPr>
          <p:cNvPr id="9" name="Shape 7"/>
          <p:cNvSpPr/>
          <p:nvPr/>
        </p:nvSpPr>
        <p:spPr>
          <a:xfrm>
            <a:off x="2880360" y="1417320"/>
            <a:ext cx="502920" cy="384048"/>
          </a:xfrm>
          <a:prstGeom prst="roundRect">
            <a:avLst>
              <a:gd name="adj" fmla="val 19048"/>
            </a:avLst>
          </a:prstGeom>
          <a:solidFill>
            <a:srgbClr val="1C8C7A"/>
          </a:solidFill>
          <a:ln w="12700">
            <a:solidFill>
              <a:srgbClr val="1C8C7A"/>
            </a:solidFill>
            <a:prstDash val="solid"/>
          </a:ln>
        </p:spPr>
      </p:sp>
      <p:sp>
        <p:nvSpPr>
          <p:cNvPr id="10" name="Text 8"/>
          <p:cNvSpPr/>
          <p:nvPr/>
        </p:nvSpPr>
        <p:spPr>
          <a:xfrm>
            <a:off x="2880360" y="1527048"/>
            <a:ext cx="502920" cy="109728"/>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Text 9"/>
          <p:cNvSpPr/>
          <p:nvPr/>
        </p:nvSpPr>
        <p:spPr>
          <a:xfrm>
            <a:off x="2532888" y="2148840"/>
            <a:ext cx="1197864" cy="365760"/>
          </a:xfrm>
          <a:prstGeom prst="rect">
            <a:avLst/>
          </a:prstGeom>
          <a:noFill/>
          <a:ln/>
        </p:spPr>
        <p:txBody>
          <a:bodyPr wrap="square" lIns="0" tIns="0" rIns="0" bIns="0" rtlCol="0" anchor="ctr"/>
          <a:lstStyle/>
          <a:p>
            <a:pPr marL="0" indent="0" algn="ctr">
              <a:buNone/>
            </a:pPr>
            <a:r>
              <a:rPr lang="en-US" sz="1600" b="1" dirty="0">
                <a:solidFill>
                  <a:srgbClr val="103B66"/>
                </a:solidFill>
              </a:rPr>
              <a:t>Systems review</a:t>
            </a:r>
            <a:endParaRPr lang="en-US" sz="1600" dirty="0"/>
          </a:p>
        </p:txBody>
      </p:sp>
      <p:sp>
        <p:nvSpPr>
          <p:cNvPr id="12" name="Text 10"/>
          <p:cNvSpPr/>
          <p:nvPr/>
        </p:nvSpPr>
        <p:spPr>
          <a:xfrm>
            <a:off x="2532888" y="2578608"/>
            <a:ext cx="1197864" cy="2057186"/>
          </a:xfrm>
          <a:prstGeom prst="rect">
            <a:avLst/>
          </a:prstGeom>
          <a:noFill/>
          <a:ln/>
        </p:spPr>
        <p:txBody>
          <a:bodyPr wrap="square" lIns="254" tIns="254" rIns="254" bIns="254" rtlCol="0" anchor="ctr"/>
          <a:lstStyle/>
          <a:p>
            <a:pPr marL="0" indent="0" algn="ctr">
              <a:buNone/>
            </a:pPr>
            <a:r>
              <a:rPr lang="en-US" sz="1400" dirty="0">
                <a:solidFill>
                  <a:srgbClr val="243447"/>
                </a:solidFill>
              </a:rPr>
              <a:t>Assess staffing, screening, safeguards in bidding documents, internal reporting and GRM systems.</a:t>
            </a:r>
            <a:endParaRPr lang="en-US" sz="1400" dirty="0"/>
          </a:p>
        </p:txBody>
      </p:sp>
      <p:sp>
        <p:nvSpPr>
          <p:cNvPr id="13" name="Shape 11"/>
          <p:cNvSpPr/>
          <p:nvPr/>
        </p:nvSpPr>
        <p:spPr>
          <a:xfrm>
            <a:off x="4343400" y="1965960"/>
            <a:ext cx="1417320" cy="2839956"/>
          </a:xfrm>
          <a:prstGeom prst="roundRect">
            <a:avLst>
              <a:gd name="adj" fmla="val 5161"/>
            </a:avLst>
          </a:prstGeom>
          <a:solidFill>
            <a:srgbClr val="FFFFFF"/>
          </a:solidFill>
          <a:ln w="12700">
            <a:solidFill>
              <a:srgbClr val="E3A008"/>
            </a:solidFill>
            <a:prstDash val="solid"/>
          </a:ln>
          <a:effectLst>
            <a:outerShdw blurRad="12700" dist="5080" dir="2700000" algn="bl" rotWithShape="0">
              <a:srgbClr val="000000">
                <a:alpha val="10000"/>
              </a:srgbClr>
            </a:outerShdw>
          </a:effectLst>
        </p:spPr>
      </p:sp>
      <p:sp>
        <p:nvSpPr>
          <p:cNvPr id="14" name="Shape 12"/>
          <p:cNvSpPr/>
          <p:nvPr/>
        </p:nvSpPr>
        <p:spPr>
          <a:xfrm>
            <a:off x="4800600" y="1417320"/>
            <a:ext cx="502920" cy="384048"/>
          </a:xfrm>
          <a:prstGeom prst="roundRect">
            <a:avLst>
              <a:gd name="adj" fmla="val 19048"/>
            </a:avLst>
          </a:prstGeom>
          <a:solidFill>
            <a:srgbClr val="E3A008"/>
          </a:solidFill>
          <a:ln w="12700">
            <a:solidFill>
              <a:srgbClr val="E3A008"/>
            </a:solidFill>
            <a:prstDash val="solid"/>
          </a:ln>
        </p:spPr>
      </p:sp>
      <p:sp>
        <p:nvSpPr>
          <p:cNvPr id="15" name="Text 13"/>
          <p:cNvSpPr/>
          <p:nvPr/>
        </p:nvSpPr>
        <p:spPr>
          <a:xfrm>
            <a:off x="4800600" y="1527048"/>
            <a:ext cx="502920" cy="109728"/>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6" name="Text 14"/>
          <p:cNvSpPr/>
          <p:nvPr/>
        </p:nvSpPr>
        <p:spPr>
          <a:xfrm>
            <a:off x="4453128" y="2148840"/>
            <a:ext cx="1197864" cy="365760"/>
          </a:xfrm>
          <a:prstGeom prst="rect">
            <a:avLst/>
          </a:prstGeom>
          <a:noFill/>
          <a:ln/>
        </p:spPr>
        <p:txBody>
          <a:bodyPr wrap="square" lIns="0" tIns="0" rIns="0" bIns="0" rtlCol="0" anchor="ctr"/>
          <a:lstStyle/>
          <a:p>
            <a:pPr marL="0" indent="0" algn="ctr">
              <a:buNone/>
            </a:pPr>
            <a:r>
              <a:rPr lang="en-US" sz="1600" b="1" dirty="0">
                <a:solidFill>
                  <a:srgbClr val="103B66"/>
                </a:solidFill>
              </a:rPr>
              <a:t>Site inspections</a:t>
            </a:r>
            <a:endParaRPr lang="en-US" sz="1600" dirty="0"/>
          </a:p>
        </p:txBody>
      </p:sp>
      <p:sp>
        <p:nvSpPr>
          <p:cNvPr id="17" name="Text 15"/>
          <p:cNvSpPr/>
          <p:nvPr/>
        </p:nvSpPr>
        <p:spPr>
          <a:xfrm>
            <a:off x="4418838" y="3118104"/>
            <a:ext cx="1197864" cy="1078992"/>
          </a:xfrm>
          <a:prstGeom prst="rect">
            <a:avLst/>
          </a:prstGeom>
          <a:noFill/>
          <a:ln/>
        </p:spPr>
        <p:txBody>
          <a:bodyPr wrap="square" lIns="254" tIns="254" rIns="254" bIns="254" rtlCol="0" anchor="ctr"/>
          <a:lstStyle/>
          <a:p>
            <a:pPr marL="0" indent="0" algn="ctr">
              <a:buNone/>
            </a:pPr>
            <a:r>
              <a:rPr lang="en-US" sz="1400" dirty="0">
                <a:solidFill>
                  <a:srgbClr val="243447"/>
                </a:solidFill>
              </a:rPr>
              <a:t>Implement risk-based field inspections covering OHS, mitigation measures, community safety and waste/wastewater controls.</a:t>
            </a:r>
            <a:endParaRPr lang="en-US" sz="1400" dirty="0"/>
          </a:p>
        </p:txBody>
      </p:sp>
      <p:sp>
        <p:nvSpPr>
          <p:cNvPr id="18" name="Shape 16"/>
          <p:cNvSpPr/>
          <p:nvPr/>
        </p:nvSpPr>
        <p:spPr>
          <a:xfrm>
            <a:off x="6263640" y="1965960"/>
            <a:ext cx="1417320" cy="2839956"/>
          </a:xfrm>
          <a:prstGeom prst="roundRect">
            <a:avLst>
              <a:gd name="adj" fmla="val 5161"/>
            </a:avLst>
          </a:prstGeom>
          <a:solidFill>
            <a:srgbClr val="FFFFFF"/>
          </a:solidFill>
          <a:ln w="12700">
            <a:solidFill>
              <a:srgbClr val="D9534F"/>
            </a:solidFill>
            <a:prstDash val="solid"/>
          </a:ln>
          <a:effectLst>
            <a:outerShdw blurRad="12700" dist="5080" dir="2700000" algn="bl" rotWithShape="0">
              <a:srgbClr val="000000">
                <a:alpha val="10000"/>
              </a:srgbClr>
            </a:outerShdw>
          </a:effectLst>
        </p:spPr>
      </p:sp>
      <p:sp>
        <p:nvSpPr>
          <p:cNvPr id="19" name="Shape 17"/>
          <p:cNvSpPr/>
          <p:nvPr/>
        </p:nvSpPr>
        <p:spPr>
          <a:xfrm>
            <a:off x="6720840" y="1417320"/>
            <a:ext cx="502920" cy="384048"/>
          </a:xfrm>
          <a:prstGeom prst="roundRect">
            <a:avLst>
              <a:gd name="adj" fmla="val 19048"/>
            </a:avLst>
          </a:prstGeom>
          <a:solidFill>
            <a:srgbClr val="D9534F"/>
          </a:solidFill>
          <a:ln w="12700">
            <a:solidFill>
              <a:srgbClr val="D9534F"/>
            </a:solidFill>
            <a:prstDash val="solid"/>
          </a:ln>
        </p:spPr>
      </p:sp>
      <p:sp>
        <p:nvSpPr>
          <p:cNvPr id="20" name="Text 18"/>
          <p:cNvSpPr/>
          <p:nvPr/>
        </p:nvSpPr>
        <p:spPr>
          <a:xfrm>
            <a:off x="6720840" y="1527048"/>
            <a:ext cx="502920" cy="109728"/>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1" name="Text 19"/>
          <p:cNvSpPr/>
          <p:nvPr/>
        </p:nvSpPr>
        <p:spPr>
          <a:xfrm>
            <a:off x="6373368" y="2148840"/>
            <a:ext cx="1197864" cy="365760"/>
          </a:xfrm>
          <a:prstGeom prst="rect">
            <a:avLst/>
          </a:prstGeom>
          <a:noFill/>
          <a:ln/>
        </p:spPr>
        <p:txBody>
          <a:bodyPr wrap="square" lIns="0" tIns="0" rIns="0" bIns="0" rtlCol="0" anchor="ctr"/>
          <a:lstStyle/>
          <a:p>
            <a:pPr marL="0" indent="0" algn="ctr">
              <a:buNone/>
            </a:pPr>
            <a:r>
              <a:rPr lang="en-US" sz="1600" b="1" dirty="0">
                <a:solidFill>
                  <a:srgbClr val="103B66"/>
                </a:solidFill>
              </a:rPr>
              <a:t>Stakeholder validation</a:t>
            </a:r>
            <a:endParaRPr lang="en-US" sz="1600" dirty="0"/>
          </a:p>
        </p:txBody>
      </p:sp>
      <p:sp>
        <p:nvSpPr>
          <p:cNvPr id="22" name="Text 20"/>
          <p:cNvSpPr/>
          <p:nvPr/>
        </p:nvSpPr>
        <p:spPr>
          <a:xfrm>
            <a:off x="6373368" y="2578608"/>
            <a:ext cx="1197864" cy="2057186"/>
          </a:xfrm>
          <a:prstGeom prst="rect">
            <a:avLst/>
          </a:prstGeom>
          <a:noFill/>
          <a:ln/>
        </p:spPr>
        <p:txBody>
          <a:bodyPr wrap="square" lIns="254" tIns="254" rIns="254" bIns="254" rtlCol="0" anchor="ctr"/>
          <a:lstStyle/>
          <a:p>
            <a:pPr marL="0" indent="0" algn="ctr">
              <a:buNone/>
            </a:pPr>
            <a:r>
              <a:rPr lang="en-US" sz="1400" dirty="0">
                <a:solidFill>
                  <a:srgbClr val="243447"/>
                </a:solidFill>
              </a:rPr>
              <a:t>Consult affected communities, workers, women and other stakeholders to confirm ground realities.</a:t>
            </a:r>
            <a:endParaRPr lang="en-US" sz="1400" dirty="0"/>
          </a:p>
        </p:txBody>
      </p:sp>
      <p:sp>
        <p:nvSpPr>
          <p:cNvPr id="23" name="Shape 21"/>
          <p:cNvSpPr/>
          <p:nvPr/>
        </p:nvSpPr>
        <p:spPr>
          <a:xfrm>
            <a:off x="8183880" y="1965960"/>
            <a:ext cx="1584960" cy="2839956"/>
          </a:xfrm>
          <a:prstGeom prst="roundRect">
            <a:avLst>
              <a:gd name="adj" fmla="val 5161"/>
            </a:avLst>
          </a:prstGeom>
          <a:solidFill>
            <a:srgbClr val="FFFFFF"/>
          </a:solidFill>
          <a:ln w="12700">
            <a:solidFill>
              <a:srgbClr val="2E7D32"/>
            </a:solidFill>
            <a:prstDash val="solid"/>
          </a:ln>
          <a:effectLst>
            <a:outerShdw blurRad="12700" dist="5080" dir="2700000" algn="bl" rotWithShape="0">
              <a:srgbClr val="000000">
                <a:alpha val="10000"/>
              </a:srgbClr>
            </a:outerShdw>
          </a:effectLst>
        </p:spPr>
      </p:sp>
      <p:sp>
        <p:nvSpPr>
          <p:cNvPr id="24" name="Shape 22"/>
          <p:cNvSpPr/>
          <p:nvPr/>
        </p:nvSpPr>
        <p:spPr>
          <a:xfrm>
            <a:off x="8641080" y="1417320"/>
            <a:ext cx="502920" cy="384048"/>
          </a:xfrm>
          <a:prstGeom prst="roundRect">
            <a:avLst>
              <a:gd name="adj" fmla="val 19048"/>
            </a:avLst>
          </a:prstGeom>
          <a:solidFill>
            <a:srgbClr val="2E7D32"/>
          </a:solidFill>
          <a:ln w="12700">
            <a:solidFill>
              <a:srgbClr val="2E7D32"/>
            </a:solidFill>
            <a:prstDash val="solid"/>
          </a:ln>
        </p:spPr>
      </p:sp>
      <p:sp>
        <p:nvSpPr>
          <p:cNvPr id="25" name="Text 23"/>
          <p:cNvSpPr/>
          <p:nvPr/>
        </p:nvSpPr>
        <p:spPr>
          <a:xfrm>
            <a:off x="8641080" y="1527048"/>
            <a:ext cx="502920" cy="109728"/>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26" name="Text 24"/>
          <p:cNvSpPr/>
          <p:nvPr/>
        </p:nvSpPr>
        <p:spPr>
          <a:xfrm>
            <a:off x="8293608" y="2148840"/>
            <a:ext cx="1365504" cy="365760"/>
          </a:xfrm>
          <a:prstGeom prst="rect">
            <a:avLst/>
          </a:prstGeom>
          <a:noFill/>
          <a:ln/>
        </p:spPr>
        <p:txBody>
          <a:bodyPr wrap="square" lIns="0" tIns="0" rIns="0" bIns="0" rtlCol="0" anchor="ctr"/>
          <a:lstStyle/>
          <a:p>
            <a:pPr marL="0" indent="0" algn="ctr">
              <a:buNone/>
            </a:pPr>
            <a:r>
              <a:rPr lang="en-US" sz="1600" b="1" dirty="0">
                <a:solidFill>
                  <a:srgbClr val="103B66"/>
                </a:solidFill>
              </a:rPr>
              <a:t>Compliance classification</a:t>
            </a:r>
            <a:endParaRPr lang="en-US" sz="1600" dirty="0"/>
          </a:p>
        </p:txBody>
      </p:sp>
      <p:sp>
        <p:nvSpPr>
          <p:cNvPr id="27" name="Text 25"/>
          <p:cNvSpPr/>
          <p:nvPr/>
        </p:nvSpPr>
        <p:spPr>
          <a:xfrm>
            <a:off x="8293608" y="2578608"/>
            <a:ext cx="1475232" cy="2057186"/>
          </a:xfrm>
          <a:prstGeom prst="rect">
            <a:avLst/>
          </a:prstGeom>
          <a:noFill/>
          <a:ln/>
        </p:spPr>
        <p:txBody>
          <a:bodyPr wrap="square" lIns="254" tIns="254" rIns="254" bIns="254" rtlCol="0" anchor="ctr"/>
          <a:lstStyle/>
          <a:p>
            <a:pPr marL="0" indent="0" algn="ctr">
              <a:buNone/>
            </a:pPr>
            <a:r>
              <a:rPr lang="en-US" sz="1400" dirty="0">
                <a:solidFill>
                  <a:srgbClr val="243447"/>
                </a:solidFill>
              </a:rPr>
              <a:t>Classify findings as compliant, partially compliant, non-compliant, or critical and assign follow-up actions.</a:t>
            </a:r>
            <a:endParaRPr lang="en-US" sz="1400" dirty="0"/>
          </a:p>
        </p:txBody>
      </p:sp>
      <p:sp>
        <p:nvSpPr>
          <p:cNvPr id="28" name="Shape 26"/>
          <p:cNvSpPr/>
          <p:nvPr/>
        </p:nvSpPr>
        <p:spPr>
          <a:xfrm>
            <a:off x="10104120" y="1965960"/>
            <a:ext cx="1584960" cy="2839956"/>
          </a:xfrm>
          <a:prstGeom prst="roundRect">
            <a:avLst>
              <a:gd name="adj" fmla="val 5161"/>
            </a:avLst>
          </a:prstGeom>
          <a:solidFill>
            <a:srgbClr val="FFFFFF"/>
          </a:solidFill>
          <a:ln w="12700">
            <a:solidFill>
              <a:srgbClr val="103B66"/>
            </a:solidFill>
            <a:prstDash val="solid"/>
          </a:ln>
          <a:effectLst>
            <a:outerShdw blurRad="12700" dist="5080" dir="2700000" algn="bl" rotWithShape="0">
              <a:srgbClr val="000000">
                <a:alpha val="10000"/>
              </a:srgbClr>
            </a:outerShdw>
          </a:effectLst>
        </p:spPr>
      </p:sp>
      <p:sp>
        <p:nvSpPr>
          <p:cNvPr id="29" name="Shape 27"/>
          <p:cNvSpPr/>
          <p:nvPr/>
        </p:nvSpPr>
        <p:spPr>
          <a:xfrm>
            <a:off x="10561320" y="1417320"/>
            <a:ext cx="502920" cy="384048"/>
          </a:xfrm>
          <a:prstGeom prst="roundRect">
            <a:avLst>
              <a:gd name="adj" fmla="val 19048"/>
            </a:avLst>
          </a:prstGeom>
          <a:solidFill>
            <a:srgbClr val="103B66"/>
          </a:solidFill>
          <a:ln w="12700">
            <a:solidFill>
              <a:srgbClr val="103B66"/>
            </a:solidFill>
            <a:prstDash val="solid"/>
          </a:ln>
        </p:spPr>
      </p:sp>
      <p:sp>
        <p:nvSpPr>
          <p:cNvPr id="30" name="Text 28"/>
          <p:cNvSpPr/>
          <p:nvPr/>
        </p:nvSpPr>
        <p:spPr>
          <a:xfrm>
            <a:off x="10561320" y="1527048"/>
            <a:ext cx="502920" cy="109728"/>
          </a:xfrm>
          <a:prstGeom prst="rect">
            <a:avLst/>
          </a:prstGeom>
          <a:noFill/>
          <a:ln/>
        </p:spPr>
        <p:txBody>
          <a:bodyPr wrap="square" lIns="0" tIns="0" rIns="0" bIns="0" rtlCol="0" anchor="ctr"/>
          <a:lstStyle/>
          <a:p>
            <a:pPr marL="0" indent="0" algn="ctr">
              <a:buNone/>
            </a:pPr>
            <a:r>
              <a:rPr lang="en-US" sz="1600" b="1" dirty="0">
                <a:solidFill>
                  <a:srgbClr val="FFFFFF"/>
                </a:solidFill>
              </a:rPr>
              <a:t>6</a:t>
            </a:r>
            <a:endParaRPr lang="en-US" sz="1600" dirty="0"/>
          </a:p>
        </p:txBody>
      </p:sp>
      <p:sp>
        <p:nvSpPr>
          <p:cNvPr id="31" name="Text 29"/>
          <p:cNvSpPr/>
          <p:nvPr/>
        </p:nvSpPr>
        <p:spPr>
          <a:xfrm>
            <a:off x="10213848" y="2148840"/>
            <a:ext cx="1197864" cy="365760"/>
          </a:xfrm>
          <a:prstGeom prst="rect">
            <a:avLst/>
          </a:prstGeom>
          <a:noFill/>
          <a:ln/>
        </p:spPr>
        <p:txBody>
          <a:bodyPr wrap="square" lIns="0" tIns="0" rIns="0" bIns="0" rtlCol="0" anchor="ctr"/>
          <a:lstStyle/>
          <a:p>
            <a:pPr marL="0" indent="0" algn="ctr">
              <a:buNone/>
            </a:pPr>
            <a:r>
              <a:rPr lang="en-US" sz="1600" b="1" dirty="0">
                <a:solidFill>
                  <a:srgbClr val="103B66"/>
                </a:solidFill>
              </a:rPr>
              <a:t>Quarterly reporting</a:t>
            </a:r>
            <a:endParaRPr lang="en-US" sz="1600" dirty="0"/>
          </a:p>
        </p:txBody>
      </p:sp>
      <p:sp>
        <p:nvSpPr>
          <p:cNvPr id="32" name="Text 30"/>
          <p:cNvSpPr/>
          <p:nvPr/>
        </p:nvSpPr>
        <p:spPr>
          <a:xfrm>
            <a:off x="10213848" y="2578607"/>
            <a:ext cx="1475232" cy="2057187"/>
          </a:xfrm>
          <a:prstGeom prst="rect">
            <a:avLst/>
          </a:prstGeom>
          <a:noFill/>
          <a:ln/>
        </p:spPr>
        <p:txBody>
          <a:bodyPr wrap="square" lIns="254" tIns="254" rIns="254" bIns="254" rtlCol="0" anchor="ctr"/>
          <a:lstStyle/>
          <a:p>
            <a:pPr marL="0" indent="0" algn="ctr">
              <a:buNone/>
            </a:pPr>
            <a:r>
              <a:rPr lang="en-US" sz="1400" dirty="0">
                <a:solidFill>
                  <a:srgbClr val="243447"/>
                </a:solidFill>
              </a:rPr>
              <a:t>Submit quarterly monitoring reports and a completion report capturing trends, unresolved issues and systemic recommendations.</a:t>
            </a:r>
            <a:endParaRPr lang="en-US" sz="1400" dirty="0"/>
          </a:p>
        </p:txBody>
      </p:sp>
      <p:sp>
        <p:nvSpPr>
          <p:cNvPr id="33" name="Shape 31"/>
          <p:cNvSpPr/>
          <p:nvPr/>
        </p:nvSpPr>
        <p:spPr>
          <a:xfrm>
            <a:off x="1801368" y="5658966"/>
            <a:ext cx="8412480" cy="310896"/>
          </a:xfrm>
          <a:prstGeom prst="roundRect">
            <a:avLst>
              <a:gd name="adj" fmla="val 41176"/>
            </a:avLst>
          </a:prstGeom>
          <a:solidFill>
            <a:srgbClr val="FFFFFF"/>
          </a:solidFill>
          <a:ln w="12700">
            <a:solidFill>
              <a:srgbClr val="D7DEE7"/>
            </a:solidFill>
            <a:prstDash val="solid"/>
          </a:ln>
        </p:spPr>
      </p:sp>
      <p:sp>
        <p:nvSpPr>
          <p:cNvPr id="34" name="Text 32"/>
          <p:cNvSpPr/>
          <p:nvPr/>
        </p:nvSpPr>
        <p:spPr>
          <a:xfrm>
            <a:off x="1801368" y="5704686"/>
            <a:ext cx="8412480" cy="182880"/>
          </a:xfrm>
          <a:prstGeom prst="rect">
            <a:avLst/>
          </a:prstGeom>
          <a:noFill/>
          <a:ln/>
        </p:spPr>
        <p:txBody>
          <a:bodyPr wrap="square" lIns="0" tIns="0" rIns="0" bIns="0" rtlCol="0" anchor="ctr"/>
          <a:lstStyle/>
          <a:p>
            <a:pPr marL="0" indent="0" algn="ctr">
              <a:buNone/>
            </a:pPr>
            <a:r>
              <a:rPr lang="en-US" sz="1600" b="1" dirty="0">
                <a:solidFill>
                  <a:srgbClr val="243447"/>
                </a:solidFill>
              </a:rPr>
              <a:t>Quarterly cycle repeats across sampled cities and feeds corrective action tracking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1792" y="438912"/>
            <a:ext cx="10332720" cy="310896"/>
          </a:xfrm>
          <a:prstGeom prst="rect">
            <a:avLst/>
          </a:prstGeom>
          <a:noFill/>
          <a:ln/>
        </p:spPr>
        <p:txBody>
          <a:bodyPr wrap="square" lIns="0" tIns="0" rIns="0" bIns="0" rtlCol="0" anchor="ctr"/>
          <a:lstStyle/>
          <a:p>
            <a:pPr marL="0" indent="0">
              <a:buNone/>
            </a:pPr>
            <a:r>
              <a:rPr lang="en-US" sz="2400" b="1" dirty="0">
                <a:solidFill>
                  <a:srgbClr val="103B73"/>
                </a:solidFill>
                <a:latin typeface="Aptos Display" pitchFamily="34" charset="0"/>
                <a:ea typeface="Aptos Display" pitchFamily="34" charset="-122"/>
                <a:cs typeface="Aptos Display" pitchFamily="34" charset="-120"/>
              </a:rPr>
              <a:t>Quarterly environmental and social monitoring cycle</a:t>
            </a:r>
            <a:endParaRPr lang="en-US" sz="2400" dirty="0"/>
          </a:p>
        </p:txBody>
      </p:sp>
      <p:sp>
        <p:nvSpPr>
          <p:cNvPr id="4" name="Shape 2"/>
          <p:cNvSpPr/>
          <p:nvPr/>
        </p:nvSpPr>
        <p:spPr>
          <a:xfrm>
            <a:off x="2697480" y="1965960"/>
            <a:ext cx="1920240" cy="0"/>
          </a:xfrm>
          <a:prstGeom prst="line">
            <a:avLst/>
          </a:prstGeom>
          <a:noFill/>
          <a:ln w="28575">
            <a:solidFill>
              <a:srgbClr val="1C8C7A"/>
            </a:solidFill>
            <a:prstDash val="solid"/>
            <a:tailEnd type="triangle"/>
          </a:ln>
        </p:spPr>
      </p:sp>
      <p:sp>
        <p:nvSpPr>
          <p:cNvPr id="5" name="Shape 3"/>
          <p:cNvSpPr/>
          <p:nvPr/>
        </p:nvSpPr>
        <p:spPr>
          <a:xfrm>
            <a:off x="6355080" y="1965960"/>
            <a:ext cx="2011680" cy="0"/>
          </a:xfrm>
          <a:prstGeom prst="line">
            <a:avLst/>
          </a:prstGeom>
          <a:noFill/>
          <a:ln w="28575">
            <a:solidFill>
              <a:srgbClr val="1C8C7A"/>
            </a:solidFill>
            <a:prstDash val="solid"/>
            <a:tailEnd type="triangle"/>
          </a:ln>
        </p:spPr>
      </p:sp>
      <p:sp>
        <p:nvSpPr>
          <p:cNvPr id="6" name="Shape 4"/>
          <p:cNvSpPr/>
          <p:nvPr/>
        </p:nvSpPr>
        <p:spPr>
          <a:xfrm>
            <a:off x="9372600" y="2377440"/>
            <a:ext cx="0" cy="1463040"/>
          </a:xfrm>
          <a:prstGeom prst="line">
            <a:avLst/>
          </a:prstGeom>
          <a:noFill/>
          <a:ln w="28575">
            <a:solidFill>
              <a:srgbClr val="1C8C7A"/>
            </a:solidFill>
            <a:prstDash val="solid"/>
            <a:tailEnd type="triangle"/>
          </a:ln>
        </p:spPr>
      </p:sp>
      <p:sp>
        <p:nvSpPr>
          <p:cNvPr id="7" name="Shape 5"/>
          <p:cNvSpPr/>
          <p:nvPr/>
        </p:nvSpPr>
        <p:spPr>
          <a:xfrm>
            <a:off x="8321040" y="4663440"/>
            <a:ext cx="0" cy="0"/>
          </a:xfrm>
          <a:prstGeom prst="line">
            <a:avLst/>
          </a:prstGeom>
          <a:noFill/>
          <a:ln w="12700">
            <a:solidFill>
              <a:srgbClr val="D7E2EF"/>
            </a:solidFill>
            <a:prstDash val="solid"/>
            <a:tailEnd type="triangle"/>
          </a:ln>
        </p:spPr>
      </p:sp>
      <p:sp>
        <p:nvSpPr>
          <p:cNvPr id="8" name="Shape 6"/>
          <p:cNvSpPr/>
          <p:nvPr/>
        </p:nvSpPr>
        <p:spPr>
          <a:xfrm>
            <a:off x="1828800" y="4297680"/>
            <a:ext cx="0" cy="0"/>
          </a:xfrm>
          <a:prstGeom prst="line">
            <a:avLst/>
          </a:prstGeom>
          <a:noFill/>
          <a:ln w="12700">
            <a:solidFill>
              <a:srgbClr val="D7E2EF"/>
            </a:solidFill>
            <a:prstDash val="solid"/>
            <a:tailEnd type="triangle"/>
          </a:ln>
        </p:spPr>
      </p:sp>
      <p:sp>
        <p:nvSpPr>
          <p:cNvPr id="9" name="Text 7"/>
          <p:cNvSpPr/>
          <p:nvPr/>
        </p:nvSpPr>
        <p:spPr>
          <a:xfrm>
            <a:off x="868680" y="1508760"/>
            <a:ext cx="1828800" cy="86868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400" b="1" dirty="0">
                <a:solidFill>
                  <a:srgbClr val="1F2937"/>
                </a:solidFill>
              </a:rPr>
              <a:t>Review ESCF and</a:t>
            </a:r>
            <a:endParaRPr lang="en-US" sz="1400" dirty="0"/>
          </a:p>
          <a:p>
            <a:pPr marL="0" indent="0" algn="ctr">
              <a:buNone/>
            </a:pPr>
            <a:r>
              <a:rPr lang="en-US" sz="1400" b="1" dirty="0">
                <a:solidFill>
                  <a:srgbClr val="1F2937"/>
                </a:solidFill>
              </a:rPr>
              <a:t>safeguard instruments</a:t>
            </a:r>
            <a:endParaRPr lang="en-US" sz="1400" dirty="0"/>
          </a:p>
        </p:txBody>
      </p:sp>
      <p:sp>
        <p:nvSpPr>
          <p:cNvPr id="10" name="Text 8"/>
          <p:cNvSpPr/>
          <p:nvPr/>
        </p:nvSpPr>
        <p:spPr>
          <a:xfrm>
            <a:off x="4617720" y="1508760"/>
            <a:ext cx="1737360" cy="868680"/>
          </a:xfrm>
          <a:prstGeom prst="roundRect">
            <a:avLst/>
          </a:prstGeom>
          <a:solidFill>
            <a:srgbClr val="EEF9F8"/>
          </a:solidFill>
          <a:ln>
            <a:solidFill>
              <a:srgbClr val="148F97"/>
            </a:solidFill>
          </a:ln>
        </p:spPr>
        <p:txBody>
          <a:bodyPr wrap="square" lIns="762" tIns="762" rIns="762" bIns="762" rtlCol="0" anchor="ctr"/>
          <a:lstStyle/>
          <a:p>
            <a:pPr marL="0" indent="0" algn="ctr">
              <a:buNone/>
            </a:pPr>
            <a:r>
              <a:rPr lang="en-US" sz="1400" b="1" dirty="0">
                <a:solidFill>
                  <a:srgbClr val="1F2937"/>
                </a:solidFill>
              </a:rPr>
              <a:t>Select sites</a:t>
            </a:r>
            <a:endParaRPr lang="en-US" sz="1400" dirty="0"/>
          </a:p>
          <a:p>
            <a:pPr marL="0" indent="0" algn="ctr">
              <a:buNone/>
            </a:pPr>
            <a:r>
              <a:rPr lang="en-US" sz="1400" b="1" dirty="0">
                <a:solidFill>
                  <a:srgbClr val="1F2937"/>
                </a:solidFill>
              </a:rPr>
              <a:t>and sample</a:t>
            </a:r>
            <a:endParaRPr lang="en-US" sz="1400" dirty="0"/>
          </a:p>
        </p:txBody>
      </p:sp>
      <p:sp>
        <p:nvSpPr>
          <p:cNvPr id="11" name="Text 9"/>
          <p:cNvSpPr/>
          <p:nvPr/>
        </p:nvSpPr>
        <p:spPr>
          <a:xfrm>
            <a:off x="8366760" y="1508760"/>
            <a:ext cx="2011680" cy="868680"/>
          </a:xfrm>
          <a:prstGeom prst="roundRect">
            <a:avLst/>
          </a:prstGeom>
          <a:solidFill>
            <a:srgbClr val="F0FBF5"/>
          </a:solidFill>
          <a:ln>
            <a:solidFill>
              <a:srgbClr val="2F855A"/>
            </a:solidFill>
          </a:ln>
        </p:spPr>
        <p:txBody>
          <a:bodyPr wrap="square" lIns="762" tIns="762" rIns="762" bIns="762" rtlCol="0" anchor="ctr"/>
          <a:lstStyle/>
          <a:p>
            <a:pPr marL="0" indent="0" algn="ctr">
              <a:buNone/>
            </a:pPr>
            <a:r>
              <a:rPr lang="en-US" sz="1400" b="1" dirty="0">
                <a:solidFill>
                  <a:srgbClr val="1F2937"/>
                </a:solidFill>
              </a:rPr>
              <a:t>Inspect field</a:t>
            </a:r>
            <a:endParaRPr lang="en-US" sz="1400" dirty="0"/>
          </a:p>
          <a:p>
            <a:pPr marL="0" indent="0" algn="ctr">
              <a:buNone/>
            </a:pPr>
            <a:r>
              <a:rPr lang="en-US" sz="1400" b="1" dirty="0">
                <a:solidFill>
                  <a:srgbClr val="1F2937"/>
                </a:solidFill>
              </a:rPr>
              <a:t>compliance</a:t>
            </a:r>
            <a:endParaRPr lang="en-US" sz="1400" dirty="0"/>
          </a:p>
        </p:txBody>
      </p:sp>
      <p:sp>
        <p:nvSpPr>
          <p:cNvPr id="12" name="Text 10"/>
          <p:cNvSpPr/>
          <p:nvPr/>
        </p:nvSpPr>
        <p:spPr>
          <a:xfrm>
            <a:off x="8229600" y="4206240"/>
            <a:ext cx="2286000" cy="868680"/>
          </a:xfrm>
          <a:prstGeom prst="roundRect">
            <a:avLst/>
          </a:prstGeom>
          <a:solidFill>
            <a:srgbClr val="FDF2F2"/>
          </a:solidFill>
          <a:ln>
            <a:solidFill>
              <a:srgbClr val="C05656"/>
            </a:solidFill>
          </a:ln>
        </p:spPr>
        <p:txBody>
          <a:bodyPr wrap="square" lIns="762" tIns="762" rIns="762" bIns="762" rtlCol="0" anchor="ctr"/>
          <a:lstStyle/>
          <a:p>
            <a:pPr marL="0" indent="0" algn="ctr">
              <a:buNone/>
            </a:pPr>
            <a:r>
              <a:rPr lang="en-US" sz="1400" b="1" dirty="0">
                <a:solidFill>
                  <a:srgbClr val="1F2937"/>
                </a:solidFill>
              </a:rPr>
              <a:t>Classify issues</a:t>
            </a:r>
            <a:endParaRPr lang="en-US" sz="1400" dirty="0"/>
          </a:p>
          <a:p>
            <a:pPr marL="0" indent="0" algn="ctr">
              <a:buNone/>
            </a:pPr>
            <a:r>
              <a:rPr lang="en-US" sz="1400" b="1" dirty="0">
                <a:solidFill>
                  <a:srgbClr val="1F2937"/>
                </a:solidFill>
              </a:rPr>
              <a:t>and gaps</a:t>
            </a:r>
            <a:endParaRPr lang="en-US" sz="1400" dirty="0"/>
          </a:p>
        </p:txBody>
      </p:sp>
      <p:sp>
        <p:nvSpPr>
          <p:cNvPr id="13" name="Text 11"/>
          <p:cNvSpPr/>
          <p:nvPr/>
        </p:nvSpPr>
        <p:spPr>
          <a:xfrm>
            <a:off x="960120" y="4206240"/>
            <a:ext cx="2468880" cy="868680"/>
          </a:xfrm>
          <a:prstGeom prst="roundRect">
            <a:avLst/>
          </a:prstGeom>
          <a:solidFill>
            <a:srgbClr val="FFF5EA"/>
          </a:solidFill>
          <a:ln>
            <a:solidFill>
              <a:srgbClr val="C7782A"/>
            </a:solidFill>
          </a:ln>
        </p:spPr>
        <p:txBody>
          <a:bodyPr wrap="square" lIns="762" tIns="762" rIns="762" bIns="762" rtlCol="0" anchor="ctr"/>
          <a:lstStyle/>
          <a:p>
            <a:pPr marL="0" indent="0" algn="ctr">
              <a:buNone/>
            </a:pPr>
            <a:r>
              <a:rPr lang="en-US" sz="1400" b="1" dirty="0">
                <a:solidFill>
                  <a:srgbClr val="1F2937"/>
                </a:solidFill>
              </a:rPr>
              <a:t>Quarterly report +</a:t>
            </a:r>
            <a:endParaRPr lang="en-US" sz="1400" dirty="0"/>
          </a:p>
          <a:p>
            <a:pPr marL="0" indent="0" algn="ctr">
              <a:buNone/>
            </a:pPr>
            <a:r>
              <a:rPr lang="en-US" sz="1400" b="1" dirty="0">
                <a:solidFill>
                  <a:srgbClr val="1F2937"/>
                </a:solidFill>
              </a:rPr>
              <a:t>corrective actions</a:t>
            </a:r>
            <a:endParaRPr lang="en-US" sz="1400" dirty="0"/>
          </a:p>
        </p:txBody>
      </p:sp>
      <p:sp>
        <p:nvSpPr>
          <p:cNvPr id="14" name="Text 12"/>
          <p:cNvSpPr/>
          <p:nvPr/>
        </p:nvSpPr>
        <p:spPr>
          <a:xfrm>
            <a:off x="4434840" y="2971800"/>
            <a:ext cx="3291840" cy="960120"/>
          </a:xfrm>
          <a:prstGeom prst="roundRect">
            <a:avLst/>
          </a:prstGeom>
          <a:solidFill>
            <a:srgbClr val="FFFFFF"/>
          </a:solidFill>
          <a:ln>
            <a:solidFill>
              <a:srgbClr val="D7E2EF"/>
            </a:solidFill>
          </a:ln>
        </p:spPr>
        <p:txBody>
          <a:bodyPr wrap="square" lIns="762" tIns="762" rIns="762" bIns="762" rtlCol="0" anchor="ctr"/>
          <a:lstStyle/>
          <a:p>
            <a:pPr marL="0" indent="0" algn="ctr">
              <a:buNone/>
            </a:pPr>
            <a:r>
              <a:rPr lang="en-US" sz="1400" b="1" dirty="0">
                <a:solidFill>
                  <a:srgbClr val="1F2937"/>
                </a:solidFill>
              </a:rPr>
              <a:t>Consult citizens, workers, and end-users</a:t>
            </a:r>
            <a:endParaRPr lang="en-US" sz="1400" dirty="0"/>
          </a:p>
          <a:p>
            <a:pPr marL="0" indent="0" algn="ctr">
              <a:buNone/>
            </a:pPr>
            <a:r>
              <a:rPr lang="en-US" sz="1400" b="1" dirty="0">
                <a:solidFill>
                  <a:srgbClr val="1F2937"/>
                </a:solidFill>
              </a:rPr>
              <a:t>+ confirm GRM / stakeholder engagement</a:t>
            </a:r>
            <a:endParaRPr lang="en-US" sz="1400" dirty="0"/>
          </a:p>
        </p:txBody>
      </p:sp>
      <p:sp>
        <p:nvSpPr>
          <p:cNvPr id="15" name="Text 13"/>
          <p:cNvSpPr/>
          <p:nvPr/>
        </p:nvSpPr>
        <p:spPr>
          <a:xfrm>
            <a:off x="2697480" y="5669280"/>
            <a:ext cx="6972300" cy="438911"/>
          </a:xfrm>
          <a:prstGeom prst="rect">
            <a:avLst/>
          </a:prstGeom>
          <a:noFill/>
          <a:ln/>
        </p:spPr>
        <p:txBody>
          <a:bodyPr wrap="square" lIns="0" tIns="0" rIns="0" bIns="0" rtlCol="0" anchor="ctr"/>
          <a:lstStyle/>
          <a:p>
            <a:pPr marL="0" indent="0" algn="ctr">
              <a:buNone/>
            </a:pPr>
            <a:r>
              <a:rPr lang="en-US" sz="1600" i="1" dirty="0">
                <a:solidFill>
                  <a:srgbClr val="667085"/>
                </a:solidFill>
              </a:rPr>
              <a:t>Repeat every quarter with follow-up on previously flagged issues</a:t>
            </a:r>
            <a:r>
              <a:rPr lang="en-US" sz="1080" i="1" dirty="0">
                <a:solidFill>
                  <a:srgbClr val="667085"/>
                </a:solidFill>
              </a:rPr>
              <a:t>.</a:t>
            </a:r>
            <a:endParaRPr lang="en-US" sz="1080" dirty="0"/>
          </a:p>
        </p:txBody>
      </p:sp>
      <p:sp>
        <p:nvSpPr>
          <p:cNvPr id="25" name="Slide Number Placeholder 0"/>
          <p:cNvSpPr>
            <a:spLocks noGrp="1"/>
          </p:cNvSpPr>
          <p:nvPr>
            <p:ph type="sldNum" sz="quarter" idx="4294967295"/>
          </p:nvPr>
        </p:nvSpPr>
        <p:spPr>
          <a:xfrm>
            <a:off x="11292840" y="6437376"/>
            <a:ext cx="365760" cy="18288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1792" y="438912"/>
            <a:ext cx="10332720" cy="310896"/>
          </a:xfrm>
          <a:prstGeom prst="rect">
            <a:avLst/>
          </a:prstGeom>
          <a:noFill/>
          <a:ln/>
        </p:spPr>
        <p:txBody>
          <a:bodyPr wrap="square" lIns="0" tIns="0" rIns="0" bIns="0" rtlCol="0" anchor="ctr"/>
          <a:lstStyle/>
          <a:p>
            <a:pPr marL="0" indent="0">
              <a:buNone/>
            </a:pPr>
            <a:r>
              <a:rPr lang="en-US" sz="2400" b="1" dirty="0">
                <a:solidFill>
                  <a:srgbClr val="103B73"/>
                </a:solidFill>
                <a:latin typeface="Aptos Display" pitchFamily="34" charset="0"/>
                <a:ea typeface="Aptos Display" pitchFamily="34" charset="-122"/>
                <a:cs typeface="Aptos Display" pitchFamily="34" charset="-120"/>
              </a:rPr>
              <a:t>Team structure and reporting lines</a:t>
            </a:r>
            <a:endParaRPr lang="en-US" sz="2400" dirty="0"/>
          </a:p>
        </p:txBody>
      </p:sp>
      <p:sp>
        <p:nvSpPr>
          <p:cNvPr id="4" name="Shape 2"/>
          <p:cNvSpPr/>
          <p:nvPr/>
        </p:nvSpPr>
        <p:spPr>
          <a:xfrm>
            <a:off x="6080760" y="1965960"/>
            <a:ext cx="0" cy="502920"/>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5" name="Shape 3"/>
          <p:cNvSpPr/>
          <p:nvPr/>
        </p:nvSpPr>
        <p:spPr>
          <a:xfrm flipH="1">
            <a:off x="4069080" y="3154679"/>
            <a:ext cx="548640" cy="502921"/>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6" name="Shape 4"/>
          <p:cNvSpPr/>
          <p:nvPr/>
        </p:nvSpPr>
        <p:spPr>
          <a:xfrm>
            <a:off x="6080760" y="3154680"/>
            <a:ext cx="0" cy="502920"/>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7" name="Shape 5"/>
          <p:cNvSpPr/>
          <p:nvPr/>
        </p:nvSpPr>
        <p:spPr>
          <a:xfrm>
            <a:off x="7543800" y="3154680"/>
            <a:ext cx="640080" cy="594360"/>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8" name="Shape 6"/>
          <p:cNvSpPr/>
          <p:nvPr/>
        </p:nvSpPr>
        <p:spPr>
          <a:xfrm>
            <a:off x="2606040" y="4663440"/>
            <a:ext cx="0" cy="731520"/>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9" name="Shape 7"/>
          <p:cNvSpPr/>
          <p:nvPr/>
        </p:nvSpPr>
        <p:spPr>
          <a:xfrm>
            <a:off x="6080760" y="4663440"/>
            <a:ext cx="0" cy="731520"/>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10" name="Shape 8"/>
          <p:cNvSpPr/>
          <p:nvPr/>
        </p:nvSpPr>
        <p:spPr>
          <a:xfrm>
            <a:off x="9555480" y="4663440"/>
            <a:ext cx="0" cy="731520"/>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11" name="Text 9"/>
          <p:cNvSpPr/>
          <p:nvPr/>
        </p:nvSpPr>
        <p:spPr>
          <a:xfrm>
            <a:off x="3931920" y="1188720"/>
            <a:ext cx="4297680" cy="73152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400" b="1" dirty="0">
                <a:solidFill>
                  <a:srgbClr val="103B73"/>
                </a:solidFill>
              </a:rPr>
              <a:t>Client interface: LG&amp;CDD / PMDFC / PSC / World Bank</a:t>
            </a:r>
            <a:endParaRPr lang="en-US" sz="1400" dirty="0"/>
          </a:p>
        </p:txBody>
      </p:sp>
      <p:sp>
        <p:nvSpPr>
          <p:cNvPr id="12" name="Text 10"/>
          <p:cNvSpPr/>
          <p:nvPr/>
        </p:nvSpPr>
        <p:spPr>
          <a:xfrm>
            <a:off x="4617720" y="2514600"/>
            <a:ext cx="2926080" cy="640080"/>
          </a:xfrm>
          <a:prstGeom prst="roundRect">
            <a:avLst/>
          </a:prstGeom>
          <a:solidFill>
            <a:srgbClr val="FFFFFF"/>
          </a:solidFill>
          <a:ln>
            <a:solidFill>
              <a:srgbClr val="103B73"/>
            </a:solidFill>
          </a:ln>
        </p:spPr>
        <p:txBody>
          <a:bodyPr wrap="square" lIns="762" tIns="762" rIns="762" bIns="762" rtlCol="0" anchor="ctr"/>
          <a:lstStyle/>
          <a:p>
            <a:pPr marL="0" indent="0" algn="ctr">
              <a:buNone/>
            </a:pPr>
            <a:r>
              <a:rPr lang="en-US" sz="1600" b="1" dirty="0">
                <a:solidFill>
                  <a:srgbClr val="103B73"/>
                </a:solidFill>
              </a:rPr>
              <a:t>Team Leader / M&amp;E Specialist</a:t>
            </a:r>
            <a:endParaRPr lang="en-US" sz="1600" dirty="0"/>
          </a:p>
        </p:txBody>
      </p:sp>
      <p:sp>
        <p:nvSpPr>
          <p:cNvPr id="13" name="Text 11"/>
          <p:cNvSpPr/>
          <p:nvPr/>
        </p:nvSpPr>
        <p:spPr>
          <a:xfrm>
            <a:off x="960120" y="3657600"/>
            <a:ext cx="3291840" cy="1005840"/>
          </a:xfrm>
          <a:prstGeom prst="roundRect">
            <a:avLst/>
          </a:prstGeom>
          <a:solidFill>
            <a:srgbClr val="EEF9F8"/>
          </a:solidFill>
          <a:ln>
            <a:solidFill>
              <a:srgbClr val="148F97"/>
            </a:solidFill>
          </a:ln>
        </p:spPr>
        <p:txBody>
          <a:bodyPr wrap="square" lIns="762" tIns="762" rIns="762" bIns="762" rtlCol="0" anchor="ctr"/>
          <a:lstStyle/>
          <a:p>
            <a:pPr marL="0" indent="0" algn="ctr">
              <a:buNone/>
            </a:pPr>
            <a:r>
              <a:rPr lang="en-US" sz="1400" b="1" dirty="0">
                <a:solidFill>
                  <a:srgbClr val="1F2937"/>
                </a:solidFill>
              </a:rPr>
              <a:t>Infrastructure and verification</a:t>
            </a:r>
            <a:endParaRPr lang="en-US" sz="1400" dirty="0"/>
          </a:p>
          <a:p>
            <a:pPr marL="0" indent="0" algn="ctr">
              <a:buNone/>
            </a:pPr>
            <a:r>
              <a:rPr lang="en-US" sz="1400" b="1" dirty="0">
                <a:solidFill>
                  <a:srgbClr val="1F2937"/>
                </a:solidFill>
              </a:rPr>
              <a:t>Infrastructure specialist + field teams</a:t>
            </a:r>
            <a:endParaRPr lang="en-US" sz="1400" dirty="0"/>
          </a:p>
        </p:txBody>
      </p:sp>
      <p:sp>
        <p:nvSpPr>
          <p:cNvPr id="14" name="Text 12"/>
          <p:cNvSpPr/>
          <p:nvPr/>
        </p:nvSpPr>
        <p:spPr>
          <a:xfrm>
            <a:off x="4526280" y="3657600"/>
            <a:ext cx="3108960" cy="100584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400" b="1" dirty="0">
                <a:solidFill>
                  <a:srgbClr val="1F2937"/>
                </a:solidFill>
              </a:rPr>
              <a:t>Finance and institutional</a:t>
            </a:r>
            <a:endParaRPr lang="en-US" sz="1400" dirty="0"/>
          </a:p>
          <a:p>
            <a:pPr marL="0" indent="0" algn="ctr">
              <a:buNone/>
            </a:pPr>
            <a:r>
              <a:rPr lang="en-US" sz="1400" b="1" dirty="0">
                <a:solidFill>
                  <a:srgbClr val="1F2937"/>
                </a:solidFill>
              </a:rPr>
              <a:t>Finance + institutional strengthening</a:t>
            </a:r>
            <a:endParaRPr lang="en-US" sz="1400" dirty="0"/>
          </a:p>
        </p:txBody>
      </p:sp>
      <p:sp>
        <p:nvSpPr>
          <p:cNvPr id="15" name="Text 13"/>
          <p:cNvSpPr/>
          <p:nvPr/>
        </p:nvSpPr>
        <p:spPr>
          <a:xfrm>
            <a:off x="8092440" y="3657600"/>
            <a:ext cx="2926080" cy="1005840"/>
          </a:xfrm>
          <a:prstGeom prst="roundRect">
            <a:avLst/>
          </a:prstGeom>
          <a:solidFill>
            <a:srgbClr val="F0FBF5"/>
          </a:solidFill>
          <a:ln>
            <a:solidFill>
              <a:srgbClr val="2F855A"/>
            </a:solidFill>
          </a:ln>
        </p:spPr>
        <p:txBody>
          <a:bodyPr wrap="square" lIns="762" tIns="762" rIns="762" bIns="762" rtlCol="0" anchor="ctr"/>
          <a:lstStyle/>
          <a:p>
            <a:pPr marL="0" indent="0" algn="ctr">
              <a:buNone/>
            </a:pPr>
            <a:r>
              <a:rPr lang="en-US" sz="1400" b="1" dirty="0">
                <a:solidFill>
                  <a:srgbClr val="1F2937"/>
                </a:solidFill>
              </a:rPr>
              <a:t>E&amp;S and social</a:t>
            </a:r>
            <a:endParaRPr lang="en-US" sz="1400" dirty="0"/>
          </a:p>
          <a:p>
            <a:pPr marL="0" indent="0" algn="ctr">
              <a:buNone/>
            </a:pPr>
            <a:r>
              <a:rPr lang="en-US" sz="1400" b="1" dirty="0">
                <a:solidFill>
                  <a:srgbClr val="1F2937"/>
                </a:solidFill>
              </a:rPr>
              <a:t>E&amp;S, social, OHS, gender</a:t>
            </a:r>
            <a:endParaRPr lang="en-US" sz="1400" dirty="0"/>
          </a:p>
        </p:txBody>
      </p:sp>
      <p:sp>
        <p:nvSpPr>
          <p:cNvPr id="16" name="Text 14"/>
          <p:cNvSpPr/>
          <p:nvPr/>
        </p:nvSpPr>
        <p:spPr>
          <a:xfrm>
            <a:off x="1371600" y="5394960"/>
            <a:ext cx="2468880" cy="685800"/>
          </a:xfrm>
          <a:prstGeom prst="roundRect">
            <a:avLst/>
          </a:prstGeom>
          <a:solidFill>
            <a:srgbClr val="FFFFFF"/>
          </a:solidFill>
          <a:ln>
            <a:solidFill>
              <a:srgbClr val="D7E2EF"/>
            </a:solidFill>
          </a:ln>
        </p:spPr>
        <p:txBody>
          <a:bodyPr wrap="square" lIns="762" tIns="762" rIns="762" bIns="762" rtlCol="0" anchor="ctr"/>
          <a:lstStyle/>
          <a:p>
            <a:pPr marL="0" indent="0" algn="ctr">
              <a:buNone/>
            </a:pPr>
            <a:r>
              <a:rPr lang="en-US" sz="1400" b="1" dirty="0">
                <a:solidFill>
                  <a:srgbClr val="1F2937"/>
                </a:solidFill>
              </a:rPr>
              <a:t>Enumerators / site inspectors</a:t>
            </a:r>
            <a:endParaRPr lang="en-US" sz="1400" dirty="0"/>
          </a:p>
        </p:txBody>
      </p:sp>
      <p:sp>
        <p:nvSpPr>
          <p:cNvPr id="17" name="Text 15"/>
          <p:cNvSpPr/>
          <p:nvPr/>
        </p:nvSpPr>
        <p:spPr>
          <a:xfrm>
            <a:off x="4846320" y="5394960"/>
            <a:ext cx="2468880" cy="685800"/>
          </a:xfrm>
          <a:prstGeom prst="roundRect">
            <a:avLst/>
          </a:prstGeom>
          <a:solidFill>
            <a:srgbClr val="FFFFFF"/>
          </a:solidFill>
          <a:ln>
            <a:solidFill>
              <a:srgbClr val="D7E2EF"/>
            </a:solidFill>
          </a:ln>
        </p:spPr>
        <p:txBody>
          <a:bodyPr wrap="square" lIns="762" tIns="762" rIns="762" bIns="762" rtlCol="0" anchor="ctr"/>
          <a:lstStyle/>
          <a:p>
            <a:pPr marL="0" indent="0" algn="ctr">
              <a:buNone/>
            </a:pPr>
            <a:r>
              <a:rPr lang="en-US" sz="1400" b="1" dirty="0">
                <a:solidFill>
                  <a:srgbClr val="1F2937"/>
                </a:solidFill>
              </a:rPr>
              <a:t>Analysis and report cell</a:t>
            </a:r>
            <a:endParaRPr lang="en-US" sz="1400" dirty="0"/>
          </a:p>
        </p:txBody>
      </p:sp>
      <p:sp>
        <p:nvSpPr>
          <p:cNvPr id="18" name="Text 16"/>
          <p:cNvSpPr/>
          <p:nvPr/>
        </p:nvSpPr>
        <p:spPr>
          <a:xfrm>
            <a:off x="8321040" y="5394960"/>
            <a:ext cx="2468880" cy="685800"/>
          </a:xfrm>
          <a:prstGeom prst="roundRect">
            <a:avLst/>
          </a:prstGeom>
          <a:solidFill>
            <a:srgbClr val="FFFFFF"/>
          </a:solidFill>
          <a:ln>
            <a:solidFill>
              <a:srgbClr val="D7E2EF"/>
            </a:solidFill>
          </a:ln>
        </p:spPr>
        <p:txBody>
          <a:bodyPr wrap="square" lIns="762" tIns="762" rIns="762" bIns="762" rtlCol="0" anchor="ctr"/>
          <a:lstStyle/>
          <a:p>
            <a:pPr marL="0" indent="0" algn="ctr">
              <a:buNone/>
            </a:pPr>
            <a:r>
              <a:rPr lang="en-US" sz="1400" b="1" dirty="0">
                <a:solidFill>
                  <a:srgbClr val="1F2937"/>
                </a:solidFill>
              </a:rPr>
              <a:t>QA / peer review</a:t>
            </a:r>
            <a:endParaRPr lang="en-US" sz="1400" dirty="0"/>
          </a:p>
        </p:txBody>
      </p:sp>
      <p:sp>
        <p:nvSpPr>
          <p:cNvPr id="25" name="Slide Number Placeholder 0"/>
          <p:cNvSpPr>
            <a:spLocks noGrp="1"/>
          </p:cNvSpPr>
          <p:nvPr>
            <p:ph type="sldNum" sz="quarter" idx="4294967295"/>
          </p:nvPr>
        </p:nvSpPr>
        <p:spPr>
          <a:xfrm>
            <a:off x="11292840" y="6437376"/>
            <a:ext cx="365760" cy="18288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z="1000" smtClean="0"/>
              <a:pPr algn="l"/>
              <a:t>14</a:t>
            </a:fld>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2CB24-CD9F-E9C7-4D56-696145D00F75}"/>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262BF2DD-65AF-A16A-393C-2E16E52CA1FB}"/>
              </a:ext>
            </a:extLst>
          </p:cNvPr>
          <p:cNvSpPr>
            <a:spLocks noGrp="1"/>
          </p:cNvSpPr>
          <p:nvPr>
            <p:ph type="sldNum" sz="quarter" idx="4294967295"/>
          </p:nvPr>
        </p:nvSpPr>
        <p:spPr>
          <a:xfrm>
            <a:off x="11292840" y="6437376"/>
            <a:ext cx="365760" cy="18288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15</a:t>
            </a:fld>
            <a:endParaRPr lang="en-US"/>
          </a:p>
        </p:txBody>
      </p:sp>
      <p:pic>
        <p:nvPicPr>
          <p:cNvPr id="3" name="Picture 2">
            <a:extLst>
              <a:ext uri="{FF2B5EF4-FFF2-40B4-BE49-F238E27FC236}">
                <a16:creationId xmlns:a16="http://schemas.microsoft.com/office/drawing/2014/main" id="{B4F01288-6B66-C9C7-F404-05EB068FC988}"/>
              </a:ext>
            </a:extLst>
          </p:cNvPr>
          <p:cNvPicPr>
            <a:picLocks noChangeAspect="1"/>
          </p:cNvPicPr>
          <p:nvPr/>
        </p:nvPicPr>
        <p:blipFill>
          <a:blip r:embed="rId3"/>
          <a:srcRect t="7442"/>
          <a:stretch>
            <a:fillRect/>
          </a:stretch>
        </p:blipFill>
        <p:spPr>
          <a:xfrm>
            <a:off x="6384274" y="331470"/>
            <a:ext cx="5757000" cy="6105906"/>
          </a:xfrm>
          <a:prstGeom prst="rect">
            <a:avLst/>
          </a:prstGeom>
        </p:spPr>
      </p:pic>
      <p:pic>
        <p:nvPicPr>
          <p:cNvPr id="19" name="Picture 18">
            <a:extLst>
              <a:ext uri="{FF2B5EF4-FFF2-40B4-BE49-F238E27FC236}">
                <a16:creationId xmlns:a16="http://schemas.microsoft.com/office/drawing/2014/main" id="{13B1952A-CB80-FF23-AF2F-CEE20D8FC845}"/>
              </a:ext>
            </a:extLst>
          </p:cNvPr>
          <p:cNvPicPr>
            <a:picLocks noChangeAspect="1"/>
          </p:cNvPicPr>
          <p:nvPr/>
        </p:nvPicPr>
        <p:blipFill rotWithShape="1">
          <a:blip r:embed="rId4">
            <a:extLst>
              <a:ext uri="{28A0092B-C50C-407E-A947-70E740481C1C}">
                <a14:useLocalDpi xmlns:a14="http://schemas.microsoft.com/office/drawing/2010/main" val="0"/>
              </a:ext>
            </a:extLst>
          </a:blip>
          <a:srcRect l="9588" r="9625" b="72491"/>
          <a:stretch>
            <a:fillRect/>
          </a:stretch>
        </p:blipFill>
        <p:spPr bwMode="auto">
          <a:xfrm>
            <a:off x="153597" y="858419"/>
            <a:ext cx="6738693" cy="3440191"/>
          </a:xfrm>
          <a:prstGeom prst="rect">
            <a:avLst/>
          </a:prstGeom>
          <a:noFill/>
          <a:ln>
            <a:noFill/>
          </a:ln>
          <a:extLst>
            <a:ext uri="{53640926-AAD7-44D8-BBD7-CCE9431645EC}">
              <a14:shadowObscured xmlns:a14="http://schemas.microsoft.com/office/drawing/2010/main"/>
            </a:ext>
          </a:extLst>
        </p:spPr>
      </p:pic>
      <p:sp>
        <p:nvSpPr>
          <p:cNvPr id="26" name="TextBox 25"/>
          <p:cNvSpPr txBox="1"/>
          <p:nvPr/>
        </p:nvSpPr>
        <p:spPr>
          <a:xfrm>
            <a:off x="548640" y="457200"/>
            <a:ext cx="10972800" cy="731520"/>
          </a:xfrm>
          <a:prstGeom prst="rect">
            <a:avLst/>
          </a:prstGeom>
          <a:noFill/>
        </p:spPr>
        <p:txBody>
          <a:bodyPr wrap="none">
            <a:spAutoFit/>
          </a:bodyPr>
          <a:lstStyle/>
          <a:p>
            <a:r>
              <a:rPr sz="3000" b="1">
                <a:solidFill>
                  <a:srgbClr val="00467F"/>
                </a:solidFill>
              </a:rPr>
              <a:t>Core Team and Staffing (TOR-Aligned)</a:t>
            </a:r>
          </a:p>
        </p:txBody>
      </p:sp>
      <p:sp>
        <p:nvSpPr>
          <p:cNvPr id="27" name="TextBox 26"/>
          <p:cNvSpPr txBox="1"/>
          <p:nvPr/>
        </p:nvSpPr>
        <p:spPr>
          <a:xfrm>
            <a:off x="640080" y="1371600"/>
            <a:ext cx="5394960" cy="4389120"/>
          </a:xfrm>
          <a:prstGeom prst="rect">
            <a:avLst/>
          </a:prstGeom>
          <a:noFill/>
        </p:spPr>
        <p:txBody>
          <a:bodyPr wrap="square">
            <a:spAutoFit/>
          </a:bodyPr>
          <a:lstStyle/>
          <a:p>
            <a:r>
              <a:rPr b="1" sz="2000"/>
              <a:t>Key Experts (34 person-months)</a:t>
            </a:r>
          </a:p>
          <a:p>
            <a:pPr/>
            <a:r>
              <a:rPr sz="1400"/>
              <a:t>- Team Leader / M&amp;E Specialist (01, 2.5 PM)</a:t>
            </a:r>
          </a:p>
          <a:p>
            <a:pPr/>
            <a:r>
              <a:rPr sz="1400"/>
              <a:t>- Infrastructure Specialist (01, 2.5 PM)</a:t>
            </a:r>
          </a:p>
          <a:p>
            <a:pPr/>
            <a:r>
              <a:rPr sz="1400"/>
              <a:t>- Environment and Social Specialist (01, 6 PM)</a:t>
            </a:r>
          </a:p>
          <a:p>
            <a:pPr/>
            <a:r>
              <a:rPr sz="1400"/>
              <a:t>- Finance and Accounts Specialist (01, 2.5 PM)</a:t>
            </a:r>
          </a:p>
          <a:p>
            <a:pPr/>
            <a:r>
              <a:rPr sz="1400"/>
              <a:t>- Institutional Strengthening Specialist (01, 2.5 PM)</a:t>
            </a:r>
          </a:p>
          <a:p>
            <a:pPr/>
            <a:r>
              <a:rPr sz="1400"/>
              <a:t>- Social Development Specialist (01, 6 PM)</a:t>
            </a:r>
          </a:p>
          <a:p>
            <a:pPr/>
            <a:r>
              <a:rPr sz="1400"/>
              <a:t>- OHS Specialist (01, 6 PM)</a:t>
            </a:r>
          </a:p>
          <a:p>
            <a:pPr/>
            <a:r>
              <a:rPr sz="1400"/>
              <a:t>- Gender Specialist (01, 6 PM)</a:t>
            </a:r>
          </a:p>
        </p:txBody>
      </p:sp>
      <p:sp>
        <p:nvSpPr>
          <p:cNvPr id="28" name="TextBox 27"/>
          <p:cNvSpPr txBox="1"/>
          <p:nvPr/>
        </p:nvSpPr>
        <p:spPr>
          <a:xfrm>
            <a:off x="6126480" y="1371600"/>
            <a:ext cx="5303520" cy="4389120"/>
          </a:xfrm>
          <a:prstGeom prst="rect">
            <a:avLst/>
          </a:prstGeom>
          <a:noFill/>
        </p:spPr>
        <p:txBody>
          <a:bodyPr wrap="square">
            <a:spAutoFit/>
          </a:bodyPr>
          <a:lstStyle/>
          <a:p>
            <a:r>
              <a:rPr b="1" sz="2000"/>
              <a:t>Non-Key Experts (16 person-months)</a:t>
            </a:r>
          </a:p>
          <a:p>
            <a:pPr/>
            <a:r>
              <a:rPr sz="1400" b="0"/>
              <a:t>- Assistant Team Member Infrastructure (02, 5 PM)</a:t>
            </a:r>
          </a:p>
          <a:p>
            <a:pPr/>
            <a:r>
              <a:rPr sz="1400" b="0"/>
              <a:t>- Assistant Team Member E&amp;S (01, 6 PM)</a:t>
            </a:r>
          </a:p>
          <a:p>
            <a:pPr/>
            <a:r>
              <a:rPr sz="1400" b="0"/>
              <a:t>- Assistant Team Member Finance and Accounts (01, 2.5 PM)</a:t>
            </a:r>
          </a:p>
          <a:p>
            <a:pPr/>
            <a:r>
              <a:rPr sz="1400" b="0"/>
              <a:t>- Assistant Team Member Institutional Strengthening (01, 2.5 PM)</a:t>
            </a:r>
          </a:p>
          <a:p>
            <a:pPr/>
          </a:p>
          <a:p>
            <a:pPr/>
            <a:r>
              <a:rPr sz="1400" b="1"/>
              <a:t>Total Staffing Input: 50 person-months</a:t>
            </a:r>
          </a:p>
        </p:txBody>
      </p:sp>
    </p:spTree>
    <p:extLst>
      <p:ext uri="{BB962C8B-B14F-4D97-AF65-F5344CB8AC3E}">
        <p14:creationId xmlns:p14="http://schemas.microsoft.com/office/powerpoint/2010/main" val="2066835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11480"/>
            <a:ext cx="9829800" cy="749808"/>
          </a:xfrm>
          <a:prstGeom prst="rect">
            <a:avLst/>
          </a:prstGeom>
          <a:noFill/>
          <a:ln/>
        </p:spPr>
        <p:txBody>
          <a:bodyPr wrap="square" lIns="0" tIns="0" rIns="0" bIns="0" rtlCol="0" anchor="ctr"/>
          <a:lstStyle/>
          <a:p>
            <a:pPr marL="0" indent="0">
              <a:buNone/>
            </a:pPr>
            <a:r>
              <a:rPr lang="en-US" sz="2800" b="1" dirty="0">
                <a:solidFill>
                  <a:srgbClr val="103B66"/>
                </a:solidFill>
              </a:rPr>
              <a:t>Quality Assurance, Team Management and Reporting</a:t>
            </a:r>
            <a:endParaRPr lang="en-US" sz="2800" dirty="0"/>
          </a:p>
        </p:txBody>
      </p:sp>
      <p:sp>
        <p:nvSpPr>
          <p:cNvPr id="3" name="Shape 1"/>
          <p:cNvSpPr/>
          <p:nvPr/>
        </p:nvSpPr>
        <p:spPr>
          <a:xfrm>
            <a:off x="731520" y="1417320"/>
            <a:ext cx="3657600" cy="4389120"/>
          </a:xfrm>
          <a:prstGeom prst="roundRect">
            <a:avLst>
              <a:gd name="adj" fmla="val 2000"/>
            </a:avLst>
          </a:prstGeom>
          <a:solidFill>
            <a:srgbClr val="1F6FB2"/>
          </a:solidFill>
          <a:ln w="12700">
            <a:solidFill>
              <a:srgbClr val="1F6FB2"/>
            </a:solidFill>
            <a:prstDash val="solid"/>
          </a:ln>
          <a:effectLst>
            <a:outerShdw blurRad="12700" dist="6350" dir="2700000" algn="bl" rotWithShape="0">
              <a:srgbClr val="000000">
                <a:alpha val="12000"/>
              </a:srgbClr>
            </a:outerShdw>
          </a:effectLst>
        </p:spPr>
      </p:sp>
      <p:sp>
        <p:nvSpPr>
          <p:cNvPr id="4" name="Text 2"/>
          <p:cNvSpPr/>
          <p:nvPr/>
        </p:nvSpPr>
        <p:spPr>
          <a:xfrm>
            <a:off x="896112" y="1554480"/>
            <a:ext cx="3328416" cy="256032"/>
          </a:xfrm>
          <a:prstGeom prst="rect">
            <a:avLst/>
          </a:prstGeom>
          <a:noFill/>
          <a:ln/>
        </p:spPr>
        <p:txBody>
          <a:bodyPr wrap="square" lIns="0" tIns="0" rIns="0" bIns="0" rtlCol="0" anchor="ctr"/>
          <a:lstStyle/>
          <a:p>
            <a:pPr marL="0" indent="0">
              <a:buNone/>
            </a:pPr>
            <a:r>
              <a:rPr lang="en-US" sz="1600" b="1" dirty="0">
                <a:solidFill>
                  <a:srgbClr val="FFFFFF"/>
                </a:solidFill>
              </a:rPr>
              <a:t>Internal Quality Regime</a:t>
            </a:r>
            <a:endParaRPr lang="en-US" sz="1600" dirty="0"/>
          </a:p>
        </p:txBody>
      </p:sp>
      <p:sp>
        <p:nvSpPr>
          <p:cNvPr id="5" name="Text 3"/>
          <p:cNvSpPr/>
          <p:nvPr/>
        </p:nvSpPr>
        <p:spPr>
          <a:xfrm>
            <a:off x="731520" y="1856232"/>
            <a:ext cx="3493008" cy="3840480"/>
          </a:xfrm>
          <a:prstGeom prst="rect">
            <a:avLst/>
          </a:prstGeom>
          <a:noFill/>
          <a:ln/>
        </p:spPr>
        <p:txBody>
          <a:bodyPr wrap="square" lIns="254" tIns="254" rIns="254" bIns="254" rtlCol="0" anchor="ctr"/>
          <a:lstStyle/>
          <a:p>
            <a:pPr marL="285750" indent="-285750">
              <a:buFont typeface="Arial" panose="020B0604020202020204" pitchFamily="34" charset="0"/>
              <a:buChar char="•"/>
            </a:pPr>
            <a:r>
              <a:rPr lang="en-US" sz="1600" dirty="0">
                <a:solidFill>
                  <a:srgbClr val="FFFFFF"/>
                </a:solidFill>
              </a:rPr>
              <a:t>Standardized tools and protocols</a:t>
            </a:r>
            <a:endParaRPr lang="en-US" sz="1600" dirty="0"/>
          </a:p>
          <a:p>
            <a:pPr marL="285750" indent="-285750">
              <a:buFont typeface="Arial" panose="020B0604020202020204" pitchFamily="34" charset="0"/>
              <a:buChar char="•"/>
            </a:pPr>
            <a:r>
              <a:rPr lang="en-US" sz="1600" dirty="0">
                <a:solidFill>
                  <a:srgbClr val="FFFFFF"/>
                </a:solidFill>
              </a:rPr>
              <a:t>Field-team orientation before deployment</a:t>
            </a:r>
            <a:endParaRPr lang="en-US" sz="1600" dirty="0"/>
          </a:p>
          <a:p>
            <a:pPr marL="285750" indent="-285750">
              <a:buFont typeface="Arial" panose="020B0604020202020204" pitchFamily="34" charset="0"/>
              <a:buChar char="•"/>
            </a:pPr>
            <a:r>
              <a:rPr lang="en-US" sz="1600" dirty="0">
                <a:solidFill>
                  <a:srgbClr val="FFFFFF"/>
                </a:solidFill>
              </a:rPr>
              <a:t>Daily debriefing and issue escalation</a:t>
            </a:r>
            <a:endParaRPr lang="en-US" sz="1600" dirty="0"/>
          </a:p>
          <a:p>
            <a:pPr marL="285750" indent="-285750">
              <a:buFont typeface="Arial" panose="020B0604020202020204" pitchFamily="34" charset="0"/>
              <a:buChar char="•"/>
            </a:pPr>
            <a:r>
              <a:rPr lang="en-US" sz="1600" dirty="0">
                <a:solidFill>
                  <a:srgbClr val="FFFFFF"/>
                </a:solidFill>
              </a:rPr>
              <a:t>Supervisory checks and sample back-checks</a:t>
            </a:r>
            <a:endParaRPr lang="en-US" sz="1600" dirty="0"/>
          </a:p>
          <a:p>
            <a:pPr marL="285750" indent="-285750">
              <a:buFont typeface="Arial" panose="020B0604020202020204" pitchFamily="34" charset="0"/>
              <a:buChar char="•"/>
            </a:pPr>
            <a:r>
              <a:rPr lang="en-US" sz="1600" dirty="0">
                <a:solidFill>
                  <a:srgbClr val="FFFFFF"/>
                </a:solidFill>
              </a:rPr>
              <a:t>Senior expert validation of scores and findings</a:t>
            </a:r>
            <a:endParaRPr lang="en-US" sz="1600" dirty="0"/>
          </a:p>
          <a:p>
            <a:pPr marL="285750" indent="-285750">
              <a:buFont typeface="Arial" panose="020B0604020202020204" pitchFamily="34" charset="0"/>
              <a:buChar char="•"/>
            </a:pPr>
            <a:r>
              <a:rPr lang="en-US" sz="1600" dirty="0">
                <a:solidFill>
                  <a:srgbClr val="FFFFFF"/>
                </a:solidFill>
              </a:rPr>
              <a:t>Document control and evidence archiving</a:t>
            </a:r>
            <a:endParaRPr lang="en-US" sz="1600" dirty="0"/>
          </a:p>
          <a:p>
            <a:pPr marL="285750" indent="-285750">
              <a:buFont typeface="Arial" panose="020B0604020202020204" pitchFamily="34" charset="0"/>
              <a:buChar char="•"/>
            </a:pPr>
            <a:r>
              <a:rPr lang="en-US" sz="1600" dirty="0">
                <a:solidFill>
                  <a:srgbClr val="FFFFFF"/>
                </a:solidFill>
              </a:rPr>
              <a:t>Peer review before every submission</a:t>
            </a:r>
            <a:endParaRPr lang="en-US" sz="1600" dirty="0"/>
          </a:p>
          <a:p>
            <a:pPr marL="285750" indent="-285750">
              <a:buFont typeface="Arial" panose="020B0604020202020204" pitchFamily="34" charset="0"/>
              <a:buChar char="•"/>
            </a:pPr>
            <a:r>
              <a:rPr lang="en-US" sz="1600" dirty="0">
                <a:solidFill>
                  <a:srgbClr val="FFFFFF"/>
                </a:solidFill>
              </a:rPr>
              <a:t>Comment reconciliation matrix for Client / World Bank feedback</a:t>
            </a:r>
            <a:endParaRPr lang="en-US" sz="1600" dirty="0"/>
          </a:p>
        </p:txBody>
      </p:sp>
      <p:sp>
        <p:nvSpPr>
          <p:cNvPr id="6" name="Shape 4"/>
          <p:cNvSpPr/>
          <p:nvPr/>
        </p:nvSpPr>
        <p:spPr>
          <a:xfrm>
            <a:off x="4526280" y="1417320"/>
            <a:ext cx="2926080" cy="4389120"/>
          </a:xfrm>
          <a:prstGeom prst="roundRect">
            <a:avLst>
              <a:gd name="adj" fmla="val 2500"/>
            </a:avLst>
          </a:prstGeom>
          <a:solidFill>
            <a:srgbClr val="103B66"/>
          </a:solidFill>
          <a:ln w="12700">
            <a:solidFill>
              <a:srgbClr val="103B66"/>
            </a:solidFill>
            <a:prstDash val="solid"/>
          </a:ln>
          <a:effectLst>
            <a:outerShdw blurRad="12700" dist="6350" dir="2700000" algn="bl" rotWithShape="0">
              <a:srgbClr val="000000">
                <a:alpha val="12000"/>
              </a:srgbClr>
            </a:outerShdw>
          </a:effectLst>
        </p:spPr>
      </p:sp>
      <p:sp>
        <p:nvSpPr>
          <p:cNvPr id="7" name="Text 5"/>
          <p:cNvSpPr/>
          <p:nvPr/>
        </p:nvSpPr>
        <p:spPr>
          <a:xfrm>
            <a:off x="4690872" y="1554480"/>
            <a:ext cx="2596896" cy="256032"/>
          </a:xfrm>
          <a:prstGeom prst="rect">
            <a:avLst/>
          </a:prstGeom>
          <a:noFill/>
          <a:ln/>
        </p:spPr>
        <p:txBody>
          <a:bodyPr wrap="square" lIns="0" tIns="0" rIns="0" bIns="0" rtlCol="0" anchor="ctr"/>
          <a:lstStyle/>
          <a:p>
            <a:pPr marL="0" indent="0">
              <a:buNone/>
            </a:pPr>
            <a:r>
              <a:rPr lang="en-US" sz="1600" b="1" dirty="0">
                <a:solidFill>
                  <a:srgbClr val="FFFFFF"/>
                </a:solidFill>
              </a:rPr>
              <a:t>Delivery Team Structure</a:t>
            </a:r>
            <a:endParaRPr lang="en-US" sz="1600" dirty="0"/>
          </a:p>
        </p:txBody>
      </p:sp>
      <p:sp>
        <p:nvSpPr>
          <p:cNvPr id="8" name="Text 6"/>
          <p:cNvSpPr/>
          <p:nvPr/>
        </p:nvSpPr>
        <p:spPr>
          <a:xfrm>
            <a:off x="4617720" y="2016252"/>
            <a:ext cx="2791968" cy="3840480"/>
          </a:xfrm>
          <a:prstGeom prst="rect">
            <a:avLst/>
          </a:prstGeom>
          <a:noFill/>
          <a:ln/>
        </p:spPr>
        <p:txBody>
          <a:bodyPr wrap="square" lIns="254" tIns="254" rIns="254" bIns="254" rtlCol="0" anchor="ctr"/>
          <a:lstStyle/>
          <a:p>
            <a:pPr marL="285750" indent="-285750">
              <a:buFont typeface="Arial" panose="020B0604020202020204" pitchFamily="34" charset="0"/>
              <a:buChar char="•"/>
            </a:pPr>
            <a:r>
              <a:rPr lang="en-US" sz="1600" dirty="0">
                <a:solidFill>
                  <a:srgbClr val="FFFFFF"/>
                </a:solidFill>
              </a:rPr>
              <a:t>Team Lead</a:t>
            </a:r>
            <a:endParaRPr lang="en-US" sz="1600" dirty="0"/>
          </a:p>
          <a:p>
            <a:pPr marL="285750" indent="-285750">
              <a:buFont typeface="Arial" panose="020B0604020202020204" pitchFamily="34" charset="0"/>
              <a:buChar char="•"/>
            </a:pPr>
            <a:r>
              <a:rPr lang="en-US" sz="1600" dirty="0">
                <a:solidFill>
                  <a:schemeClr val="bg1"/>
                </a:solidFill>
              </a:rPr>
              <a:t>Verification specialists</a:t>
            </a:r>
          </a:p>
          <a:p>
            <a:pPr marL="285750" indent="-285750">
              <a:buFont typeface="Arial" panose="020B0604020202020204" pitchFamily="34" charset="0"/>
              <a:buChar char="•"/>
            </a:pPr>
            <a:r>
              <a:rPr lang="en-US" sz="1600" dirty="0">
                <a:solidFill>
                  <a:schemeClr val="bg1"/>
                </a:solidFill>
              </a:rPr>
              <a:t>E&amp;S experts</a:t>
            </a:r>
          </a:p>
          <a:p>
            <a:pPr marL="285750" indent="-285750">
              <a:buFont typeface="Arial" panose="020B0604020202020204" pitchFamily="34" charset="0"/>
              <a:buChar char="•"/>
            </a:pPr>
            <a:r>
              <a:rPr lang="en-US" sz="1600" dirty="0">
                <a:solidFill>
                  <a:schemeClr val="bg1"/>
                </a:solidFill>
              </a:rPr>
              <a:t>Financial and procurement reviewers</a:t>
            </a:r>
          </a:p>
          <a:p>
            <a:pPr marL="285750" indent="-285750">
              <a:buFont typeface="Arial" panose="020B0604020202020204" pitchFamily="34" charset="0"/>
              <a:buChar char="•"/>
            </a:pPr>
            <a:r>
              <a:rPr lang="en-US" sz="1600" dirty="0">
                <a:solidFill>
                  <a:schemeClr val="bg1"/>
                </a:solidFill>
              </a:rPr>
              <a:t>Institutional Strengthening Specialist Social Development Specialist </a:t>
            </a:r>
          </a:p>
          <a:p>
            <a:pPr marL="285750" indent="-285750">
              <a:buFont typeface="Arial" panose="020B0604020202020204" pitchFamily="34" charset="0"/>
              <a:buChar char="•"/>
            </a:pPr>
            <a:r>
              <a:rPr lang="en-US" sz="1600" dirty="0">
                <a:solidFill>
                  <a:schemeClr val="bg1"/>
                </a:solidFill>
              </a:rPr>
              <a:t>Occupational Health and Safety Specialist / Central quality control and evidence management</a:t>
            </a:r>
          </a:p>
          <a:p>
            <a:pPr marL="285750" indent="-285750">
              <a:buFont typeface="Arial" panose="020B0604020202020204" pitchFamily="34" charset="0"/>
              <a:buChar char="•"/>
            </a:pPr>
            <a:r>
              <a:rPr lang="en-US" sz="1600" dirty="0">
                <a:solidFill>
                  <a:schemeClr val="bg1"/>
                </a:solidFill>
              </a:rPr>
              <a:t>Gender Specialist </a:t>
            </a:r>
          </a:p>
          <a:p>
            <a:pPr marL="285750" indent="-285750">
              <a:buFont typeface="Arial" panose="020B0604020202020204" pitchFamily="34" charset="0"/>
              <a:buChar char="•"/>
            </a:pPr>
            <a:r>
              <a:rPr lang="en-US" sz="1600" dirty="0">
                <a:solidFill>
                  <a:schemeClr val="bg1"/>
                </a:solidFill>
              </a:rPr>
              <a:t>Field coordinators and support staff</a:t>
            </a:r>
          </a:p>
          <a:p>
            <a:pPr marL="285750" indent="-285750">
              <a:buFont typeface="Arial" panose="020B0604020202020204" pitchFamily="34" charset="0"/>
              <a:buChar char="•"/>
            </a:pPr>
            <a:endParaRPr lang="en-US" sz="1600" dirty="0"/>
          </a:p>
        </p:txBody>
      </p:sp>
      <p:sp>
        <p:nvSpPr>
          <p:cNvPr id="9" name="Shape 7"/>
          <p:cNvSpPr/>
          <p:nvPr/>
        </p:nvSpPr>
        <p:spPr>
          <a:xfrm>
            <a:off x="7635240" y="1417320"/>
            <a:ext cx="3657600" cy="4389120"/>
          </a:xfrm>
          <a:prstGeom prst="roundRect">
            <a:avLst>
              <a:gd name="adj" fmla="val 2000"/>
            </a:avLst>
          </a:prstGeom>
          <a:solidFill>
            <a:srgbClr val="1C8C7A"/>
          </a:solidFill>
          <a:ln w="12700">
            <a:solidFill>
              <a:srgbClr val="1C8C7A"/>
            </a:solidFill>
            <a:prstDash val="solid"/>
          </a:ln>
          <a:effectLst>
            <a:outerShdw blurRad="12700" dist="6350" dir="2700000" algn="bl" rotWithShape="0">
              <a:srgbClr val="000000">
                <a:alpha val="12000"/>
              </a:srgbClr>
            </a:outerShdw>
          </a:effectLst>
        </p:spPr>
      </p:sp>
      <p:sp>
        <p:nvSpPr>
          <p:cNvPr id="10" name="Text 8"/>
          <p:cNvSpPr/>
          <p:nvPr/>
        </p:nvSpPr>
        <p:spPr>
          <a:xfrm>
            <a:off x="7799832" y="1554480"/>
            <a:ext cx="3328416" cy="256032"/>
          </a:xfrm>
          <a:prstGeom prst="rect">
            <a:avLst/>
          </a:prstGeom>
          <a:noFill/>
          <a:ln/>
        </p:spPr>
        <p:txBody>
          <a:bodyPr wrap="square" lIns="0" tIns="0" rIns="0" bIns="0" rtlCol="0" anchor="ctr"/>
          <a:lstStyle/>
          <a:p>
            <a:pPr marL="0" indent="0">
              <a:buNone/>
            </a:pPr>
            <a:r>
              <a:rPr lang="en-US" sz="1600" b="1" dirty="0">
                <a:solidFill>
                  <a:srgbClr val="FFFFFF"/>
                </a:solidFill>
              </a:rPr>
              <a:t>Reporting Architecture</a:t>
            </a:r>
            <a:endParaRPr lang="en-US" sz="1600" dirty="0"/>
          </a:p>
        </p:txBody>
      </p:sp>
      <p:sp>
        <p:nvSpPr>
          <p:cNvPr id="11" name="Text 9"/>
          <p:cNvSpPr/>
          <p:nvPr/>
        </p:nvSpPr>
        <p:spPr>
          <a:xfrm>
            <a:off x="7799832" y="1856232"/>
            <a:ext cx="3328416" cy="3840480"/>
          </a:xfrm>
          <a:prstGeom prst="rect">
            <a:avLst/>
          </a:prstGeom>
          <a:noFill/>
          <a:ln/>
        </p:spPr>
        <p:txBody>
          <a:bodyPr wrap="square" lIns="254" tIns="254" rIns="254" bIns="254" rtlCol="0" anchor="ctr"/>
          <a:lstStyle/>
          <a:p>
            <a:pPr marL="285750" indent="-285750">
              <a:buFont typeface="Arial" panose="020B0604020202020204" pitchFamily="34" charset="0"/>
              <a:buChar char="•"/>
            </a:pPr>
            <a:r>
              <a:rPr lang="en-US" dirty="0">
                <a:solidFill>
                  <a:srgbClr val="FFFFFF"/>
                </a:solidFill>
              </a:rPr>
              <a:t>Inception report</a:t>
            </a:r>
            <a:endParaRPr lang="en-US" dirty="0"/>
          </a:p>
          <a:p>
            <a:pPr marL="285750" indent="-285750">
              <a:buFont typeface="Arial" panose="020B0604020202020204" pitchFamily="34" charset="0"/>
              <a:buChar char="•"/>
            </a:pPr>
            <a:r>
              <a:rPr lang="en-US" dirty="0">
                <a:solidFill>
                  <a:srgbClr val="FFFFFF"/>
                </a:solidFill>
              </a:rPr>
              <a:t>Quarterly E&amp;S reports</a:t>
            </a:r>
            <a:endParaRPr lang="en-US" dirty="0"/>
          </a:p>
          <a:p>
            <a:pPr marL="285750" indent="-285750">
              <a:buFont typeface="Arial" panose="020B0604020202020204" pitchFamily="34" charset="0"/>
              <a:buChar char="•"/>
            </a:pPr>
            <a:r>
              <a:rPr lang="en-US" dirty="0">
                <a:solidFill>
                  <a:srgbClr val="FFFFFF"/>
                </a:solidFill>
              </a:rPr>
              <a:t>Completion report</a:t>
            </a:r>
            <a:endParaRPr lang="en-US" dirty="0"/>
          </a:p>
          <a:p>
            <a:pPr marL="285750" indent="-285750">
              <a:buFont typeface="Arial" panose="020B0604020202020204" pitchFamily="34" charset="0"/>
              <a:buChar char="•"/>
            </a:pPr>
            <a:r>
              <a:rPr lang="en-US" dirty="0">
                <a:solidFill>
                  <a:srgbClr val="FFFFFF"/>
                </a:solidFill>
              </a:rPr>
              <a:t>Draft IVA reports</a:t>
            </a:r>
            <a:endParaRPr lang="en-US" dirty="0"/>
          </a:p>
          <a:p>
            <a:pPr marL="285750" indent="-285750">
              <a:buFont typeface="Arial" panose="020B0604020202020204" pitchFamily="34" charset="0"/>
              <a:buChar char="•"/>
            </a:pPr>
            <a:r>
              <a:rPr lang="en-US" dirty="0">
                <a:solidFill>
                  <a:srgbClr val="FFFFFF"/>
                </a:solidFill>
              </a:rPr>
              <a:t>Final IVA report</a:t>
            </a:r>
            <a:endParaRPr lang="en-US" dirty="0"/>
          </a:p>
          <a:p>
            <a:pPr marL="285750" indent="-285750">
              <a:buFont typeface="Arial" panose="020B0604020202020204" pitchFamily="34" charset="0"/>
              <a:buChar char="•"/>
            </a:pPr>
            <a:r>
              <a:rPr lang="en-US" dirty="0">
                <a:solidFill>
                  <a:srgbClr val="FFFFFF"/>
                </a:solidFill>
              </a:rPr>
              <a:t>City-wise status tracking</a:t>
            </a:r>
            <a:endParaRPr lang="en-US" dirty="0"/>
          </a:p>
          <a:p>
            <a:pPr marL="285750" indent="-285750">
              <a:buFont typeface="Arial" panose="020B0604020202020204" pitchFamily="34" charset="0"/>
              <a:buChar char="•"/>
            </a:pPr>
            <a:r>
              <a:rPr lang="en-US" dirty="0">
                <a:solidFill>
                  <a:srgbClr val="FFFFFF"/>
                </a:solidFill>
              </a:rPr>
              <a:t>Evidence registers and issue logs</a:t>
            </a:r>
            <a:endParaRPr lang="en-US" dirty="0"/>
          </a:p>
          <a:p>
            <a:pPr marL="285750" indent="-285750">
              <a:buFont typeface="Arial" panose="020B0604020202020204" pitchFamily="34" charset="0"/>
              <a:buChar char="•"/>
            </a:pPr>
            <a:r>
              <a:rPr lang="en-US" dirty="0">
                <a:solidFill>
                  <a:srgbClr val="FFFFFF"/>
                </a:solidFill>
              </a:rPr>
              <a:t>KPI-style progress summaries</a:t>
            </a:r>
            <a:endParaRPr lang="en-US" dirty="0"/>
          </a:p>
        </p:txBody>
      </p:sp>
      <p:sp>
        <p:nvSpPr>
          <p:cNvPr id="12" name="Shape 10"/>
          <p:cNvSpPr/>
          <p:nvPr/>
        </p:nvSpPr>
        <p:spPr>
          <a:xfrm>
            <a:off x="960120" y="5806440"/>
            <a:ext cx="10058400" cy="310896"/>
          </a:xfrm>
          <a:prstGeom prst="roundRect">
            <a:avLst>
              <a:gd name="adj" fmla="val 41176"/>
            </a:avLst>
          </a:prstGeom>
          <a:solidFill>
            <a:srgbClr val="FFFFFF"/>
          </a:solidFill>
          <a:ln w="12700">
            <a:solidFill>
              <a:srgbClr val="D7DEE7"/>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11480"/>
            <a:ext cx="7132320" cy="502920"/>
          </a:xfrm>
          <a:prstGeom prst="rect">
            <a:avLst/>
          </a:prstGeom>
          <a:noFill/>
          <a:ln/>
        </p:spPr>
        <p:txBody>
          <a:bodyPr wrap="square" lIns="0" tIns="0" rIns="0" bIns="0" rtlCol="0" anchor="ctr"/>
          <a:lstStyle/>
          <a:p>
            <a:pPr marL="0" indent="0">
              <a:buNone/>
            </a:pPr>
            <a:r>
              <a:rPr lang="en-US" sz="2800" b="1" dirty="0">
                <a:solidFill>
                  <a:srgbClr val="103B66"/>
                </a:solidFill>
              </a:rPr>
              <a:t>Work Plan and Key Performance Indicators</a:t>
            </a:r>
            <a:endParaRPr lang="en-US" sz="2800" dirty="0"/>
          </a:p>
        </p:txBody>
      </p:sp>
      <p:sp>
        <p:nvSpPr>
          <p:cNvPr id="3" name="Shape 1"/>
          <p:cNvSpPr/>
          <p:nvPr/>
        </p:nvSpPr>
        <p:spPr>
          <a:xfrm>
            <a:off x="777240" y="1417320"/>
            <a:ext cx="1051560" cy="676656"/>
          </a:xfrm>
          <a:prstGeom prst="roundRect">
            <a:avLst>
              <a:gd name="adj" fmla="val 10811"/>
            </a:avLst>
          </a:prstGeom>
          <a:solidFill>
            <a:srgbClr val="103B66"/>
          </a:solidFill>
          <a:ln w="12700">
            <a:solidFill>
              <a:srgbClr val="103B66"/>
            </a:solidFill>
            <a:prstDash val="solid"/>
          </a:ln>
        </p:spPr>
      </p:sp>
      <p:sp>
        <p:nvSpPr>
          <p:cNvPr id="4" name="Text 2"/>
          <p:cNvSpPr/>
          <p:nvPr/>
        </p:nvSpPr>
        <p:spPr>
          <a:xfrm>
            <a:off x="777240" y="1645920"/>
            <a:ext cx="1051560" cy="146304"/>
          </a:xfrm>
          <a:prstGeom prst="rect">
            <a:avLst/>
          </a:prstGeom>
          <a:noFill/>
          <a:ln/>
        </p:spPr>
        <p:txBody>
          <a:bodyPr wrap="square" lIns="0" tIns="0" rIns="0" bIns="0" rtlCol="0" anchor="ctr"/>
          <a:lstStyle/>
          <a:p>
            <a:pPr marL="0" indent="0" algn="ctr">
              <a:buNone/>
            </a:pPr>
            <a:r>
              <a:rPr lang="en-US" sz="1500" b="1" dirty="0">
                <a:solidFill>
                  <a:srgbClr val="FFFFFF"/>
                </a:solidFill>
              </a:rPr>
              <a:t>Phase 1</a:t>
            </a:r>
            <a:endParaRPr lang="en-US" sz="1500" dirty="0"/>
          </a:p>
        </p:txBody>
      </p:sp>
      <p:sp>
        <p:nvSpPr>
          <p:cNvPr id="5" name="Shape 3"/>
          <p:cNvSpPr/>
          <p:nvPr/>
        </p:nvSpPr>
        <p:spPr>
          <a:xfrm>
            <a:off x="1965960" y="1417320"/>
            <a:ext cx="3794760" cy="676656"/>
          </a:xfrm>
          <a:prstGeom prst="roundRect">
            <a:avLst>
              <a:gd name="adj" fmla="val 10811"/>
            </a:avLst>
          </a:prstGeom>
          <a:solidFill>
            <a:srgbClr val="FFFFFF"/>
          </a:solidFill>
          <a:ln w="12700">
            <a:solidFill>
              <a:srgbClr val="D7DEE7"/>
            </a:solidFill>
            <a:prstDash val="solid"/>
          </a:ln>
        </p:spPr>
      </p:sp>
      <p:sp>
        <p:nvSpPr>
          <p:cNvPr id="6" name="Text 4"/>
          <p:cNvSpPr/>
          <p:nvPr/>
        </p:nvSpPr>
        <p:spPr>
          <a:xfrm>
            <a:off x="2121408" y="1563624"/>
            <a:ext cx="1417320" cy="164592"/>
          </a:xfrm>
          <a:prstGeom prst="rect">
            <a:avLst/>
          </a:prstGeom>
          <a:noFill/>
          <a:ln/>
        </p:spPr>
        <p:txBody>
          <a:bodyPr wrap="square" lIns="0" tIns="0" rIns="0" bIns="0" rtlCol="0" anchor="ctr"/>
          <a:lstStyle/>
          <a:p>
            <a:pPr marL="0" indent="0">
              <a:buNone/>
            </a:pPr>
            <a:r>
              <a:rPr lang="en-US" sz="1350" b="1" dirty="0">
                <a:solidFill>
                  <a:srgbClr val="103B66"/>
                </a:solidFill>
              </a:rPr>
              <a:t>Inception &amp; Setup</a:t>
            </a:r>
            <a:endParaRPr lang="en-US" sz="1350" dirty="0"/>
          </a:p>
        </p:txBody>
      </p:sp>
      <p:sp>
        <p:nvSpPr>
          <p:cNvPr id="7" name="Text 5"/>
          <p:cNvSpPr/>
          <p:nvPr/>
        </p:nvSpPr>
        <p:spPr>
          <a:xfrm>
            <a:off x="3611880" y="1527048"/>
            <a:ext cx="1874520" cy="402336"/>
          </a:xfrm>
          <a:prstGeom prst="rect">
            <a:avLst/>
          </a:prstGeom>
          <a:noFill/>
          <a:ln/>
        </p:spPr>
        <p:txBody>
          <a:bodyPr wrap="square" lIns="127" tIns="127" rIns="127" bIns="127" rtlCol="0" anchor="ctr"/>
          <a:lstStyle/>
          <a:p>
            <a:pPr marL="0" indent="0" algn="l">
              <a:buNone/>
            </a:pPr>
            <a:r>
              <a:rPr lang="en-US" sz="930" dirty="0">
                <a:solidFill>
                  <a:srgbClr val="243447"/>
                </a:solidFill>
              </a:rPr>
              <a:t>Contract start-up, mobilization, kick-off, tool development, work planning, inception report</a:t>
            </a:r>
            <a:endParaRPr lang="en-US" sz="930" dirty="0"/>
          </a:p>
        </p:txBody>
      </p:sp>
      <p:sp>
        <p:nvSpPr>
          <p:cNvPr id="8" name="Shape 6"/>
          <p:cNvSpPr/>
          <p:nvPr/>
        </p:nvSpPr>
        <p:spPr>
          <a:xfrm>
            <a:off x="777240" y="2441448"/>
            <a:ext cx="1051560" cy="676656"/>
          </a:xfrm>
          <a:prstGeom prst="roundRect">
            <a:avLst>
              <a:gd name="adj" fmla="val 10811"/>
            </a:avLst>
          </a:prstGeom>
          <a:solidFill>
            <a:srgbClr val="1C8C7A"/>
          </a:solidFill>
          <a:ln w="12700">
            <a:solidFill>
              <a:srgbClr val="1C8C7A"/>
            </a:solidFill>
            <a:prstDash val="solid"/>
          </a:ln>
        </p:spPr>
      </p:sp>
      <p:sp>
        <p:nvSpPr>
          <p:cNvPr id="9" name="Text 7"/>
          <p:cNvSpPr/>
          <p:nvPr/>
        </p:nvSpPr>
        <p:spPr>
          <a:xfrm>
            <a:off x="777240" y="2670048"/>
            <a:ext cx="1051560" cy="146304"/>
          </a:xfrm>
          <a:prstGeom prst="rect">
            <a:avLst/>
          </a:prstGeom>
          <a:noFill/>
          <a:ln/>
        </p:spPr>
        <p:txBody>
          <a:bodyPr wrap="square" lIns="0" tIns="0" rIns="0" bIns="0" rtlCol="0" anchor="ctr"/>
          <a:lstStyle/>
          <a:p>
            <a:pPr marL="0" indent="0" algn="ctr">
              <a:buNone/>
            </a:pPr>
            <a:r>
              <a:rPr lang="en-US" sz="1500" b="1" dirty="0">
                <a:solidFill>
                  <a:srgbClr val="FFFFFF"/>
                </a:solidFill>
              </a:rPr>
              <a:t>Phase 2</a:t>
            </a:r>
            <a:endParaRPr lang="en-US" sz="1500" dirty="0"/>
          </a:p>
        </p:txBody>
      </p:sp>
      <p:sp>
        <p:nvSpPr>
          <p:cNvPr id="10" name="Shape 8"/>
          <p:cNvSpPr/>
          <p:nvPr/>
        </p:nvSpPr>
        <p:spPr>
          <a:xfrm>
            <a:off x="1965960" y="2441448"/>
            <a:ext cx="3794760" cy="676656"/>
          </a:xfrm>
          <a:prstGeom prst="roundRect">
            <a:avLst>
              <a:gd name="adj" fmla="val 10811"/>
            </a:avLst>
          </a:prstGeom>
          <a:solidFill>
            <a:srgbClr val="FFFFFF"/>
          </a:solidFill>
          <a:ln w="12700">
            <a:solidFill>
              <a:srgbClr val="D7DEE7"/>
            </a:solidFill>
            <a:prstDash val="solid"/>
          </a:ln>
        </p:spPr>
      </p:sp>
      <p:sp>
        <p:nvSpPr>
          <p:cNvPr id="11" name="Text 9"/>
          <p:cNvSpPr/>
          <p:nvPr/>
        </p:nvSpPr>
        <p:spPr>
          <a:xfrm>
            <a:off x="2121408" y="2587752"/>
            <a:ext cx="1417320" cy="164592"/>
          </a:xfrm>
          <a:prstGeom prst="rect">
            <a:avLst/>
          </a:prstGeom>
          <a:noFill/>
          <a:ln/>
        </p:spPr>
        <p:txBody>
          <a:bodyPr wrap="square" lIns="0" tIns="0" rIns="0" bIns="0" rtlCol="0" anchor="ctr"/>
          <a:lstStyle/>
          <a:p>
            <a:pPr marL="0" indent="0">
              <a:buNone/>
            </a:pPr>
            <a:r>
              <a:rPr lang="en-US" sz="1350" b="1" dirty="0">
                <a:solidFill>
                  <a:srgbClr val="103B66"/>
                </a:solidFill>
              </a:rPr>
              <a:t>Quarterly E&amp;S Monitoring</a:t>
            </a:r>
            <a:endParaRPr lang="en-US" sz="1350" dirty="0"/>
          </a:p>
        </p:txBody>
      </p:sp>
      <p:sp>
        <p:nvSpPr>
          <p:cNvPr id="12" name="Text 10"/>
          <p:cNvSpPr/>
          <p:nvPr/>
        </p:nvSpPr>
        <p:spPr>
          <a:xfrm>
            <a:off x="3611880" y="2551176"/>
            <a:ext cx="1874520" cy="402336"/>
          </a:xfrm>
          <a:prstGeom prst="rect">
            <a:avLst/>
          </a:prstGeom>
          <a:noFill/>
          <a:ln/>
        </p:spPr>
        <p:txBody>
          <a:bodyPr wrap="square" lIns="127" tIns="127" rIns="127" bIns="127" rtlCol="0" anchor="ctr"/>
          <a:lstStyle/>
          <a:p>
            <a:pPr marL="0" indent="0" algn="l">
              <a:buNone/>
            </a:pPr>
            <a:r>
              <a:rPr lang="en-US" sz="930" dirty="0">
                <a:solidFill>
                  <a:srgbClr val="243447"/>
                </a:solidFill>
              </a:rPr>
              <a:t>Framework review, sampling, site inspections, consultations, compliance analysis, reporting</a:t>
            </a:r>
            <a:endParaRPr lang="en-US" sz="930" dirty="0"/>
          </a:p>
        </p:txBody>
      </p:sp>
      <p:sp>
        <p:nvSpPr>
          <p:cNvPr id="13" name="Shape 11"/>
          <p:cNvSpPr/>
          <p:nvPr/>
        </p:nvSpPr>
        <p:spPr>
          <a:xfrm>
            <a:off x="777240" y="3465576"/>
            <a:ext cx="1051560" cy="676656"/>
          </a:xfrm>
          <a:prstGeom prst="roundRect">
            <a:avLst>
              <a:gd name="adj" fmla="val 10811"/>
            </a:avLst>
          </a:prstGeom>
          <a:solidFill>
            <a:srgbClr val="1F6FB2"/>
          </a:solidFill>
          <a:ln w="12700">
            <a:solidFill>
              <a:srgbClr val="1F6FB2"/>
            </a:solidFill>
            <a:prstDash val="solid"/>
          </a:ln>
        </p:spPr>
      </p:sp>
      <p:sp>
        <p:nvSpPr>
          <p:cNvPr id="14" name="Text 12"/>
          <p:cNvSpPr/>
          <p:nvPr/>
        </p:nvSpPr>
        <p:spPr>
          <a:xfrm>
            <a:off x="777240" y="3694176"/>
            <a:ext cx="1051560" cy="146304"/>
          </a:xfrm>
          <a:prstGeom prst="rect">
            <a:avLst/>
          </a:prstGeom>
          <a:noFill/>
          <a:ln/>
        </p:spPr>
        <p:txBody>
          <a:bodyPr wrap="square" lIns="0" tIns="0" rIns="0" bIns="0" rtlCol="0" anchor="ctr"/>
          <a:lstStyle/>
          <a:p>
            <a:pPr marL="0" indent="0" algn="ctr">
              <a:buNone/>
            </a:pPr>
            <a:r>
              <a:rPr lang="en-US" sz="1500" b="1" dirty="0">
                <a:solidFill>
                  <a:srgbClr val="FFFFFF"/>
                </a:solidFill>
              </a:rPr>
              <a:t>Phase 3</a:t>
            </a:r>
            <a:endParaRPr lang="en-US" sz="1500" dirty="0"/>
          </a:p>
        </p:txBody>
      </p:sp>
      <p:sp>
        <p:nvSpPr>
          <p:cNvPr id="15" name="Shape 13"/>
          <p:cNvSpPr/>
          <p:nvPr/>
        </p:nvSpPr>
        <p:spPr>
          <a:xfrm>
            <a:off x="1965960" y="3465576"/>
            <a:ext cx="3794760" cy="676656"/>
          </a:xfrm>
          <a:prstGeom prst="roundRect">
            <a:avLst>
              <a:gd name="adj" fmla="val 10811"/>
            </a:avLst>
          </a:prstGeom>
          <a:solidFill>
            <a:srgbClr val="FFFFFF"/>
          </a:solidFill>
          <a:ln w="12700">
            <a:solidFill>
              <a:srgbClr val="D7DEE7"/>
            </a:solidFill>
            <a:prstDash val="solid"/>
          </a:ln>
        </p:spPr>
      </p:sp>
      <p:sp>
        <p:nvSpPr>
          <p:cNvPr id="16" name="Text 14"/>
          <p:cNvSpPr/>
          <p:nvPr/>
        </p:nvSpPr>
        <p:spPr>
          <a:xfrm>
            <a:off x="2121408" y="3611880"/>
            <a:ext cx="1417320" cy="164592"/>
          </a:xfrm>
          <a:prstGeom prst="rect">
            <a:avLst/>
          </a:prstGeom>
          <a:noFill/>
          <a:ln/>
        </p:spPr>
        <p:txBody>
          <a:bodyPr wrap="square" lIns="0" tIns="0" rIns="0" bIns="0" rtlCol="0" anchor="ctr"/>
          <a:lstStyle/>
          <a:p>
            <a:pPr marL="0" indent="0">
              <a:buNone/>
            </a:pPr>
            <a:r>
              <a:rPr lang="en-US" sz="1350" b="1" dirty="0">
                <a:solidFill>
                  <a:srgbClr val="103B66"/>
                </a:solidFill>
              </a:rPr>
              <a:t>Annual APA / IVA Cycle</a:t>
            </a:r>
            <a:endParaRPr lang="en-US" sz="1350" dirty="0"/>
          </a:p>
        </p:txBody>
      </p:sp>
      <p:sp>
        <p:nvSpPr>
          <p:cNvPr id="17" name="Text 15"/>
          <p:cNvSpPr/>
          <p:nvPr/>
        </p:nvSpPr>
        <p:spPr>
          <a:xfrm>
            <a:off x="3611880" y="3575304"/>
            <a:ext cx="1874520" cy="402336"/>
          </a:xfrm>
          <a:prstGeom prst="rect">
            <a:avLst/>
          </a:prstGeom>
          <a:noFill/>
          <a:ln/>
        </p:spPr>
        <p:txBody>
          <a:bodyPr wrap="square" lIns="127" tIns="127" rIns="127" bIns="127" rtlCol="0" anchor="ctr"/>
          <a:lstStyle/>
          <a:p>
            <a:pPr marL="0" indent="0" algn="l">
              <a:buNone/>
            </a:pPr>
            <a:r>
              <a:rPr lang="en-US" sz="930" dirty="0">
                <a:solidFill>
                  <a:srgbClr val="243447"/>
                </a:solidFill>
              </a:rPr>
              <a:t>Evidence collection, field verification, scoring, allocation analysis, draft/final submissions</a:t>
            </a:r>
            <a:endParaRPr lang="en-US" sz="930" dirty="0"/>
          </a:p>
        </p:txBody>
      </p:sp>
      <p:sp>
        <p:nvSpPr>
          <p:cNvPr id="18" name="Shape 16"/>
          <p:cNvSpPr/>
          <p:nvPr/>
        </p:nvSpPr>
        <p:spPr>
          <a:xfrm>
            <a:off x="777240" y="4489704"/>
            <a:ext cx="1051560" cy="676656"/>
          </a:xfrm>
          <a:prstGeom prst="roundRect">
            <a:avLst>
              <a:gd name="adj" fmla="val 10811"/>
            </a:avLst>
          </a:prstGeom>
          <a:solidFill>
            <a:srgbClr val="E3A008"/>
          </a:solidFill>
          <a:ln w="12700">
            <a:solidFill>
              <a:srgbClr val="E3A008"/>
            </a:solidFill>
            <a:prstDash val="solid"/>
          </a:ln>
        </p:spPr>
      </p:sp>
      <p:sp>
        <p:nvSpPr>
          <p:cNvPr id="19" name="Text 17"/>
          <p:cNvSpPr/>
          <p:nvPr/>
        </p:nvSpPr>
        <p:spPr>
          <a:xfrm>
            <a:off x="777240" y="4718304"/>
            <a:ext cx="1051560" cy="146304"/>
          </a:xfrm>
          <a:prstGeom prst="rect">
            <a:avLst/>
          </a:prstGeom>
          <a:noFill/>
          <a:ln/>
        </p:spPr>
        <p:txBody>
          <a:bodyPr wrap="square" lIns="0" tIns="0" rIns="0" bIns="0" rtlCol="0" anchor="ctr"/>
          <a:lstStyle/>
          <a:p>
            <a:pPr marL="0" indent="0" algn="ctr">
              <a:buNone/>
            </a:pPr>
            <a:r>
              <a:rPr lang="en-US" sz="1500" b="1" dirty="0">
                <a:solidFill>
                  <a:srgbClr val="FFFFFF"/>
                </a:solidFill>
              </a:rPr>
              <a:t>Phase 4</a:t>
            </a:r>
            <a:endParaRPr lang="en-US" sz="1500" dirty="0"/>
          </a:p>
        </p:txBody>
      </p:sp>
      <p:sp>
        <p:nvSpPr>
          <p:cNvPr id="20" name="Shape 18"/>
          <p:cNvSpPr/>
          <p:nvPr/>
        </p:nvSpPr>
        <p:spPr>
          <a:xfrm>
            <a:off x="1965960" y="4489704"/>
            <a:ext cx="3794760" cy="676656"/>
          </a:xfrm>
          <a:prstGeom prst="roundRect">
            <a:avLst>
              <a:gd name="adj" fmla="val 10811"/>
            </a:avLst>
          </a:prstGeom>
          <a:solidFill>
            <a:srgbClr val="FFFFFF"/>
          </a:solidFill>
          <a:ln w="12700">
            <a:solidFill>
              <a:srgbClr val="D7DEE7"/>
            </a:solidFill>
            <a:prstDash val="solid"/>
          </a:ln>
        </p:spPr>
      </p:sp>
      <p:sp>
        <p:nvSpPr>
          <p:cNvPr id="21" name="Text 19"/>
          <p:cNvSpPr/>
          <p:nvPr/>
        </p:nvSpPr>
        <p:spPr>
          <a:xfrm>
            <a:off x="2121408" y="4636008"/>
            <a:ext cx="1417320" cy="164592"/>
          </a:xfrm>
          <a:prstGeom prst="rect">
            <a:avLst/>
          </a:prstGeom>
          <a:noFill/>
          <a:ln/>
        </p:spPr>
        <p:txBody>
          <a:bodyPr wrap="square" lIns="0" tIns="0" rIns="0" bIns="0" rtlCol="0" anchor="ctr"/>
          <a:lstStyle/>
          <a:p>
            <a:pPr marL="0" indent="0">
              <a:buNone/>
            </a:pPr>
            <a:r>
              <a:rPr lang="en-US" sz="1350" b="1" dirty="0">
                <a:solidFill>
                  <a:srgbClr val="103B66"/>
                </a:solidFill>
              </a:rPr>
              <a:t>Finalization &amp; Handover</a:t>
            </a:r>
            <a:endParaRPr lang="en-US" sz="1350" dirty="0"/>
          </a:p>
        </p:txBody>
      </p:sp>
      <p:sp>
        <p:nvSpPr>
          <p:cNvPr id="22" name="Text 20"/>
          <p:cNvSpPr/>
          <p:nvPr/>
        </p:nvSpPr>
        <p:spPr>
          <a:xfrm>
            <a:off x="3611880" y="4599432"/>
            <a:ext cx="1874520" cy="402336"/>
          </a:xfrm>
          <a:prstGeom prst="rect">
            <a:avLst/>
          </a:prstGeom>
          <a:noFill/>
          <a:ln/>
        </p:spPr>
        <p:txBody>
          <a:bodyPr wrap="square" lIns="127" tIns="127" rIns="127" bIns="127" rtlCol="0" anchor="ctr"/>
          <a:lstStyle/>
          <a:p>
            <a:pPr marL="0" indent="0" algn="l">
              <a:buNone/>
            </a:pPr>
            <a:r>
              <a:rPr lang="en-US" sz="930" dirty="0">
                <a:solidFill>
                  <a:srgbClr val="243447"/>
                </a:solidFill>
              </a:rPr>
              <a:t>Close-out reporting, issue reconciliation, evidence archiving, editable files handover</a:t>
            </a:r>
            <a:endParaRPr lang="en-US" sz="930" dirty="0"/>
          </a:p>
        </p:txBody>
      </p:sp>
      <p:sp>
        <p:nvSpPr>
          <p:cNvPr id="23" name="Text 21"/>
          <p:cNvSpPr/>
          <p:nvPr/>
        </p:nvSpPr>
        <p:spPr>
          <a:xfrm>
            <a:off x="6035040" y="1417320"/>
            <a:ext cx="2377440" cy="256032"/>
          </a:xfrm>
          <a:prstGeom prst="rect">
            <a:avLst/>
          </a:prstGeom>
          <a:noFill/>
          <a:ln/>
        </p:spPr>
        <p:txBody>
          <a:bodyPr wrap="square" lIns="0" tIns="0" rIns="0" bIns="0" rtlCol="0" anchor="ctr"/>
          <a:lstStyle/>
          <a:p>
            <a:pPr marL="0" indent="0">
              <a:buNone/>
            </a:pPr>
            <a:r>
              <a:rPr lang="en-US" sz="1800" b="1" dirty="0">
                <a:solidFill>
                  <a:srgbClr val="103B66"/>
                </a:solidFill>
              </a:rPr>
              <a:t>Illustrative KPI targets</a:t>
            </a:r>
            <a:endParaRPr lang="en-US" sz="1800" dirty="0"/>
          </a:p>
        </p:txBody>
      </p:sp>
      <p:sp>
        <p:nvSpPr>
          <p:cNvPr id="24" name="Shape 22"/>
          <p:cNvSpPr/>
          <p:nvPr/>
        </p:nvSpPr>
        <p:spPr>
          <a:xfrm>
            <a:off x="6035040" y="1783080"/>
            <a:ext cx="960120" cy="438912"/>
          </a:xfrm>
          <a:prstGeom prst="roundRect">
            <a:avLst>
              <a:gd name="adj" fmla="val 16667"/>
            </a:avLst>
          </a:prstGeom>
          <a:solidFill>
            <a:srgbClr val="EAF3FB"/>
          </a:solidFill>
          <a:ln w="12700">
            <a:solidFill>
              <a:srgbClr val="1F6FB2"/>
            </a:solidFill>
            <a:prstDash val="solid"/>
          </a:ln>
        </p:spPr>
      </p:sp>
      <p:sp>
        <p:nvSpPr>
          <p:cNvPr id="25" name="Text 23"/>
          <p:cNvSpPr/>
          <p:nvPr/>
        </p:nvSpPr>
        <p:spPr>
          <a:xfrm>
            <a:off x="6035040" y="1920240"/>
            <a:ext cx="960120" cy="128016"/>
          </a:xfrm>
          <a:prstGeom prst="rect">
            <a:avLst/>
          </a:prstGeom>
          <a:noFill/>
          <a:ln/>
        </p:spPr>
        <p:txBody>
          <a:bodyPr wrap="square" lIns="0" tIns="0" rIns="0" bIns="0" rtlCol="0" anchor="ctr"/>
          <a:lstStyle/>
          <a:p>
            <a:pPr marL="0" indent="0" algn="ctr">
              <a:buNone/>
            </a:pPr>
            <a:r>
              <a:rPr lang="en-US" sz="1400" b="1" dirty="0">
                <a:solidFill>
                  <a:srgbClr val="103B66"/>
                </a:solidFill>
              </a:rPr>
              <a:t>100%</a:t>
            </a:r>
            <a:endParaRPr lang="en-US" sz="1400" dirty="0"/>
          </a:p>
        </p:txBody>
      </p:sp>
      <p:sp>
        <p:nvSpPr>
          <p:cNvPr id="26" name="Text 24"/>
          <p:cNvSpPr/>
          <p:nvPr/>
        </p:nvSpPr>
        <p:spPr>
          <a:xfrm>
            <a:off x="7132320" y="1847088"/>
            <a:ext cx="4069080" cy="256032"/>
          </a:xfrm>
          <a:prstGeom prst="rect">
            <a:avLst/>
          </a:prstGeom>
          <a:noFill/>
          <a:ln/>
        </p:spPr>
        <p:txBody>
          <a:bodyPr wrap="square" lIns="0" tIns="0" rIns="0" bIns="0" rtlCol="0" anchor="ctr"/>
          <a:lstStyle/>
          <a:p>
            <a:pPr marL="0" indent="0">
              <a:buNone/>
            </a:pPr>
            <a:r>
              <a:rPr lang="en-US" sz="1180" dirty="0">
                <a:solidFill>
                  <a:srgbClr val="243447"/>
                </a:solidFill>
              </a:rPr>
              <a:t>Required reports delivered within TOR timelines</a:t>
            </a:r>
            <a:endParaRPr lang="en-US" sz="1180" dirty="0"/>
          </a:p>
        </p:txBody>
      </p:sp>
      <p:sp>
        <p:nvSpPr>
          <p:cNvPr id="27" name="Shape 25"/>
          <p:cNvSpPr/>
          <p:nvPr/>
        </p:nvSpPr>
        <p:spPr>
          <a:xfrm>
            <a:off x="6035040" y="2441448"/>
            <a:ext cx="960120" cy="438912"/>
          </a:xfrm>
          <a:prstGeom prst="roundRect">
            <a:avLst>
              <a:gd name="adj" fmla="val 16667"/>
            </a:avLst>
          </a:prstGeom>
          <a:solidFill>
            <a:srgbClr val="EAF7F4"/>
          </a:solidFill>
          <a:ln w="12700">
            <a:solidFill>
              <a:srgbClr val="1C8C7A"/>
            </a:solidFill>
            <a:prstDash val="solid"/>
          </a:ln>
        </p:spPr>
      </p:sp>
      <p:sp>
        <p:nvSpPr>
          <p:cNvPr id="28" name="Text 26"/>
          <p:cNvSpPr/>
          <p:nvPr/>
        </p:nvSpPr>
        <p:spPr>
          <a:xfrm>
            <a:off x="6035040" y="2578608"/>
            <a:ext cx="960120" cy="128016"/>
          </a:xfrm>
          <a:prstGeom prst="rect">
            <a:avLst/>
          </a:prstGeom>
          <a:noFill/>
          <a:ln/>
        </p:spPr>
        <p:txBody>
          <a:bodyPr wrap="square" lIns="0" tIns="0" rIns="0" bIns="0" rtlCol="0" anchor="ctr"/>
          <a:lstStyle/>
          <a:p>
            <a:pPr marL="0" indent="0" algn="ctr">
              <a:buNone/>
            </a:pPr>
            <a:r>
              <a:rPr lang="en-US" sz="1400" b="1" dirty="0">
                <a:solidFill>
                  <a:srgbClr val="103B66"/>
                </a:solidFill>
              </a:rPr>
              <a:t>100%</a:t>
            </a:r>
            <a:endParaRPr lang="en-US" sz="1400" dirty="0"/>
          </a:p>
        </p:txBody>
      </p:sp>
      <p:sp>
        <p:nvSpPr>
          <p:cNvPr id="29" name="Text 27"/>
          <p:cNvSpPr/>
          <p:nvPr/>
        </p:nvSpPr>
        <p:spPr>
          <a:xfrm>
            <a:off x="7132320" y="2505456"/>
            <a:ext cx="4069080" cy="256032"/>
          </a:xfrm>
          <a:prstGeom prst="rect">
            <a:avLst/>
          </a:prstGeom>
          <a:noFill/>
          <a:ln/>
        </p:spPr>
        <p:txBody>
          <a:bodyPr wrap="square" lIns="0" tIns="0" rIns="0" bIns="0" rtlCol="0" anchor="ctr"/>
          <a:lstStyle/>
          <a:p>
            <a:pPr marL="0" indent="0">
              <a:buNone/>
            </a:pPr>
            <a:r>
              <a:rPr lang="en-US" sz="1180" dirty="0">
                <a:solidFill>
                  <a:srgbClr val="243447"/>
                </a:solidFill>
              </a:rPr>
              <a:t>Coverage of all required PICP cities / ULGs</a:t>
            </a:r>
            <a:endParaRPr lang="en-US" sz="1180" dirty="0"/>
          </a:p>
        </p:txBody>
      </p:sp>
      <p:sp>
        <p:nvSpPr>
          <p:cNvPr id="30" name="Shape 28"/>
          <p:cNvSpPr/>
          <p:nvPr/>
        </p:nvSpPr>
        <p:spPr>
          <a:xfrm>
            <a:off x="6035040" y="3099816"/>
            <a:ext cx="960120" cy="438912"/>
          </a:xfrm>
          <a:prstGeom prst="roundRect">
            <a:avLst>
              <a:gd name="adj" fmla="val 16667"/>
            </a:avLst>
          </a:prstGeom>
          <a:solidFill>
            <a:srgbClr val="EAF3FB"/>
          </a:solidFill>
          <a:ln w="12700">
            <a:solidFill>
              <a:srgbClr val="1F6FB2"/>
            </a:solidFill>
            <a:prstDash val="solid"/>
          </a:ln>
        </p:spPr>
      </p:sp>
      <p:sp>
        <p:nvSpPr>
          <p:cNvPr id="31" name="Text 29"/>
          <p:cNvSpPr/>
          <p:nvPr/>
        </p:nvSpPr>
        <p:spPr>
          <a:xfrm>
            <a:off x="6035040" y="3236976"/>
            <a:ext cx="960120" cy="128016"/>
          </a:xfrm>
          <a:prstGeom prst="rect">
            <a:avLst/>
          </a:prstGeom>
          <a:noFill/>
          <a:ln/>
        </p:spPr>
        <p:txBody>
          <a:bodyPr wrap="square" lIns="0" tIns="0" rIns="0" bIns="0" rtlCol="0" anchor="ctr"/>
          <a:lstStyle/>
          <a:p>
            <a:pPr marL="0" indent="0" algn="ctr">
              <a:buNone/>
            </a:pPr>
            <a:r>
              <a:rPr lang="en-US" sz="1400" b="1" dirty="0">
                <a:solidFill>
                  <a:srgbClr val="103B66"/>
                </a:solidFill>
              </a:rPr>
              <a:t>≥95%</a:t>
            </a:r>
            <a:endParaRPr lang="en-US" sz="1400" dirty="0"/>
          </a:p>
        </p:txBody>
      </p:sp>
      <p:sp>
        <p:nvSpPr>
          <p:cNvPr id="32" name="Text 30"/>
          <p:cNvSpPr/>
          <p:nvPr/>
        </p:nvSpPr>
        <p:spPr>
          <a:xfrm>
            <a:off x="7132320" y="3163824"/>
            <a:ext cx="4069080" cy="256032"/>
          </a:xfrm>
          <a:prstGeom prst="rect">
            <a:avLst/>
          </a:prstGeom>
          <a:noFill/>
          <a:ln/>
        </p:spPr>
        <p:txBody>
          <a:bodyPr wrap="square" lIns="0" tIns="0" rIns="0" bIns="0" rtlCol="0" anchor="ctr"/>
          <a:lstStyle/>
          <a:p>
            <a:pPr marL="0" indent="0">
              <a:buNone/>
            </a:pPr>
            <a:r>
              <a:rPr lang="en-US" sz="1180" dirty="0">
                <a:solidFill>
                  <a:srgbClr val="243447"/>
                </a:solidFill>
              </a:rPr>
              <a:t>Findings supported by complete and traceable evidence</a:t>
            </a:r>
            <a:endParaRPr lang="en-US" sz="1180" dirty="0"/>
          </a:p>
        </p:txBody>
      </p:sp>
      <p:sp>
        <p:nvSpPr>
          <p:cNvPr id="33" name="Shape 31"/>
          <p:cNvSpPr/>
          <p:nvPr/>
        </p:nvSpPr>
        <p:spPr>
          <a:xfrm>
            <a:off x="6035040" y="3758184"/>
            <a:ext cx="960120" cy="438912"/>
          </a:xfrm>
          <a:prstGeom prst="roundRect">
            <a:avLst>
              <a:gd name="adj" fmla="val 16667"/>
            </a:avLst>
          </a:prstGeom>
          <a:solidFill>
            <a:srgbClr val="EAF7F4"/>
          </a:solidFill>
          <a:ln w="12700">
            <a:solidFill>
              <a:srgbClr val="1C8C7A"/>
            </a:solidFill>
            <a:prstDash val="solid"/>
          </a:ln>
        </p:spPr>
      </p:sp>
      <p:sp>
        <p:nvSpPr>
          <p:cNvPr id="34" name="Text 32"/>
          <p:cNvSpPr/>
          <p:nvPr/>
        </p:nvSpPr>
        <p:spPr>
          <a:xfrm>
            <a:off x="6035040" y="3895344"/>
            <a:ext cx="960120" cy="128016"/>
          </a:xfrm>
          <a:prstGeom prst="rect">
            <a:avLst/>
          </a:prstGeom>
          <a:noFill/>
          <a:ln/>
        </p:spPr>
        <p:txBody>
          <a:bodyPr wrap="square" lIns="0" tIns="0" rIns="0" bIns="0" rtlCol="0" anchor="ctr"/>
          <a:lstStyle/>
          <a:p>
            <a:pPr marL="0" indent="0" algn="ctr">
              <a:buNone/>
            </a:pPr>
            <a:r>
              <a:rPr lang="en-US" sz="1400" b="1" dirty="0">
                <a:solidFill>
                  <a:srgbClr val="103B66"/>
                </a:solidFill>
              </a:rPr>
              <a:t>≥98%</a:t>
            </a:r>
            <a:endParaRPr lang="en-US" sz="1400" dirty="0"/>
          </a:p>
        </p:txBody>
      </p:sp>
      <p:sp>
        <p:nvSpPr>
          <p:cNvPr id="35" name="Text 33"/>
          <p:cNvSpPr/>
          <p:nvPr/>
        </p:nvSpPr>
        <p:spPr>
          <a:xfrm>
            <a:off x="7132320" y="3822192"/>
            <a:ext cx="4069080" cy="256032"/>
          </a:xfrm>
          <a:prstGeom prst="rect">
            <a:avLst/>
          </a:prstGeom>
          <a:noFill/>
          <a:ln/>
        </p:spPr>
        <p:txBody>
          <a:bodyPr wrap="square" lIns="0" tIns="0" rIns="0" bIns="0" rtlCol="0" anchor="ctr"/>
          <a:lstStyle/>
          <a:p>
            <a:pPr marL="0" indent="0">
              <a:buNone/>
            </a:pPr>
            <a:r>
              <a:rPr lang="en-US" sz="1180" dirty="0">
                <a:solidFill>
                  <a:srgbClr val="243447"/>
                </a:solidFill>
              </a:rPr>
              <a:t>Data completeness and internal consistency</a:t>
            </a:r>
            <a:endParaRPr lang="en-US" sz="1180" dirty="0"/>
          </a:p>
        </p:txBody>
      </p:sp>
      <p:sp>
        <p:nvSpPr>
          <p:cNvPr id="36" name="Shape 34"/>
          <p:cNvSpPr/>
          <p:nvPr/>
        </p:nvSpPr>
        <p:spPr>
          <a:xfrm>
            <a:off x="6035040" y="4416552"/>
            <a:ext cx="960120" cy="438912"/>
          </a:xfrm>
          <a:prstGeom prst="roundRect">
            <a:avLst>
              <a:gd name="adj" fmla="val 16667"/>
            </a:avLst>
          </a:prstGeom>
          <a:solidFill>
            <a:srgbClr val="EAF3FB"/>
          </a:solidFill>
          <a:ln w="12700">
            <a:solidFill>
              <a:srgbClr val="1F6FB2"/>
            </a:solidFill>
            <a:prstDash val="solid"/>
          </a:ln>
        </p:spPr>
      </p:sp>
      <p:sp>
        <p:nvSpPr>
          <p:cNvPr id="37" name="Text 35"/>
          <p:cNvSpPr/>
          <p:nvPr/>
        </p:nvSpPr>
        <p:spPr>
          <a:xfrm>
            <a:off x="6035040" y="4553712"/>
            <a:ext cx="960120" cy="128016"/>
          </a:xfrm>
          <a:prstGeom prst="rect">
            <a:avLst/>
          </a:prstGeom>
          <a:noFill/>
          <a:ln/>
        </p:spPr>
        <p:txBody>
          <a:bodyPr wrap="square" lIns="0" tIns="0" rIns="0" bIns="0" rtlCol="0" anchor="ctr"/>
          <a:lstStyle/>
          <a:p>
            <a:pPr marL="0" indent="0" algn="ctr">
              <a:buNone/>
            </a:pPr>
            <a:r>
              <a:rPr lang="en-US" sz="1400" b="1" dirty="0">
                <a:solidFill>
                  <a:srgbClr val="103B66"/>
                </a:solidFill>
              </a:rPr>
              <a:t>10–15%</a:t>
            </a:r>
            <a:endParaRPr lang="en-US" sz="1400" dirty="0"/>
          </a:p>
        </p:txBody>
      </p:sp>
      <p:sp>
        <p:nvSpPr>
          <p:cNvPr id="38" name="Text 36"/>
          <p:cNvSpPr/>
          <p:nvPr/>
        </p:nvSpPr>
        <p:spPr>
          <a:xfrm>
            <a:off x="7132320" y="4480560"/>
            <a:ext cx="4069080" cy="256032"/>
          </a:xfrm>
          <a:prstGeom prst="rect">
            <a:avLst/>
          </a:prstGeom>
          <a:noFill/>
          <a:ln/>
        </p:spPr>
        <p:txBody>
          <a:bodyPr wrap="square" lIns="0" tIns="0" rIns="0" bIns="0" rtlCol="0" anchor="ctr"/>
          <a:lstStyle/>
          <a:p>
            <a:pPr marL="0" indent="0">
              <a:buNone/>
            </a:pPr>
            <a:r>
              <a:rPr lang="en-US" sz="1180" dirty="0">
                <a:solidFill>
                  <a:srgbClr val="243447"/>
                </a:solidFill>
              </a:rPr>
              <a:t>Supervisory back-check / peer review coverage</a:t>
            </a:r>
            <a:endParaRPr lang="en-US" sz="1180" dirty="0"/>
          </a:p>
        </p:txBody>
      </p:sp>
      <p:sp>
        <p:nvSpPr>
          <p:cNvPr id="39" name="Shape 37"/>
          <p:cNvSpPr/>
          <p:nvPr/>
        </p:nvSpPr>
        <p:spPr>
          <a:xfrm>
            <a:off x="6035040" y="5074920"/>
            <a:ext cx="960120" cy="438912"/>
          </a:xfrm>
          <a:prstGeom prst="roundRect">
            <a:avLst>
              <a:gd name="adj" fmla="val 16667"/>
            </a:avLst>
          </a:prstGeom>
          <a:solidFill>
            <a:srgbClr val="EAF7F4"/>
          </a:solidFill>
          <a:ln w="12700">
            <a:solidFill>
              <a:srgbClr val="1C8C7A"/>
            </a:solidFill>
            <a:prstDash val="solid"/>
          </a:ln>
        </p:spPr>
      </p:sp>
      <p:sp>
        <p:nvSpPr>
          <p:cNvPr id="40" name="Text 38"/>
          <p:cNvSpPr/>
          <p:nvPr/>
        </p:nvSpPr>
        <p:spPr>
          <a:xfrm>
            <a:off x="6035040" y="5212080"/>
            <a:ext cx="960120" cy="128016"/>
          </a:xfrm>
          <a:prstGeom prst="rect">
            <a:avLst/>
          </a:prstGeom>
          <a:noFill/>
          <a:ln/>
        </p:spPr>
        <p:txBody>
          <a:bodyPr wrap="square" lIns="0" tIns="0" rIns="0" bIns="0" rtlCol="0" anchor="ctr"/>
          <a:lstStyle/>
          <a:p>
            <a:pPr marL="0" indent="0" algn="ctr">
              <a:buNone/>
            </a:pPr>
            <a:r>
              <a:rPr lang="en-US" sz="1400" b="1" dirty="0">
                <a:solidFill>
                  <a:srgbClr val="103B66"/>
                </a:solidFill>
              </a:rPr>
              <a:t>100%</a:t>
            </a:r>
            <a:endParaRPr lang="en-US" sz="1400" dirty="0"/>
          </a:p>
        </p:txBody>
      </p:sp>
      <p:sp>
        <p:nvSpPr>
          <p:cNvPr id="41" name="Text 39"/>
          <p:cNvSpPr/>
          <p:nvPr/>
        </p:nvSpPr>
        <p:spPr>
          <a:xfrm>
            <a:off x="7132320" y="5138928"/>
            <a:ext cx="4069080" cy="256032"/>
          </a:xfrm>
          <a:prstGeom prst="rect">
            <a:avLst/>
          </a:prstGeom>
          <a:noFill/>
          <a:ln/>
        </p:spPr>
        <p:txBody>
          <a:bodyPr wrap="square" lIns="0" tIns="0" rIns="0" bIns="0" rtlCol="0" anchor="ctr"/>
          <a:lstStyle/>
          <a:p>
            <a:pPr marL="0" indent="0">
              <a:buNone/>
            </a:pPr>
            <a:r>
              <a:rPr lang="en-US" sz="1180" dirty="0">
                <a:solidFill>
                  <a:srgbClr val="243447"/>
                </a:solidFill>
              </a:rPr>
              <a:t>Discrepancies logged, tracked and dispositioned</a:t>
            </a:r>
            <a:endParaRPr lang="en-US" sz="1180" dirty="0"/>
          </a:p>
        </p:txBody>
      </p:sp>
      <p:sp>
        <p:nvSpPr>
          <p:cNvPr id="42" name="Shape 40"/>
          <p:cNvSpPr/>
          <p:nvPr/>
        </p:nvSpPr>
        <p:spPr>
          <a:xfrm>
            <a:off x="868680" y="5852160"/>
            <a:ext cx="10241280" cy="310896"/>
          </a:xfrm>
          <a:prstGeom prst="roundRect">
            <a:avLst>
              <a:gd name="adj" fmla="val 41176"/>
            </a:avLst>
          </a:prstGeom>
          <a:solidFill>
            <a:srgbClr val="FFFFFF"/>
          </a:solidFill>
          <a:ln w="12700">
            <a:solidFill>
              <a:srgbClr val="D7DEE7"/>
            </a:solidFill>
            <a:prstDash val="solid"/>
          </a:ln>
        </p:spPr>
      </p:sp>
      <p:sp>
        <p:nvSpPr>
          <p:cNvPr id="43" name="Text 41"/>
          <p:cNvSpPr/>
          <p:nvPr/>
        </p:nvSpPr>
        <p:spPr>
          <a:xfrm>
            <a:off x="868680" y="5897880"/>
            <a:ext cx="10241280" cy="182880"/>
          </a:xfrm>
          <a:prstGeom prst="rect">
            <a:avLst/>
          </a:prstGeom>
          <a:noFill/>
          <a:ln/>
        </p:spPr>
        <p:txBody>
          <a:bodyPr wrap="square" lIns="0" tIns="0" rIns="0" bIns="0" rtlCol="0" anchor="ctr"/>
          <a:lstStyle/>
          <a:p>
            <a:pPr marL="0" indent="0" algn="ctr">
              <a:buNone/>
            </a:pPr>
            <a:r>
              <a:rPr lang="en-US" sz="1050" b="1" dirty="0">
                <a:solidFill>
                  <a:srgbClr val="243447"/>
                </a:solidFill>
              </a:rPr>
              <a:t>Management focus: timeliness, readiness, full field coverage, evidence quality, reconciliation rigor, and decision-usefulness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1792" y="438912"/>
            <a:ext cx="10332720" cy="310896"/>
          </a:xfrm>
          <a:prstGeom prst="rect">
            <a:avLst/>
          </a:prstGeom>
          <a:noFill/>
          <a:ln/>
        </p:spPr>
        <p:txBody>
          <a:bodyPr wrap="square" lIns="0" tIns="0" rIns="0" bIns="0" rtlCol="0" anchor="ctr"/>
          <a:lstStyle/>
          <a:p>
            <a:pPr marL="0" indent="0">
              <a:buNone/>
            </a:pPr>
            <a:r>
              <a:rPr lang="en-US" sz="2400" b="1" dirty="0">
                <a:solidFill>
                  <a:srgbClr val="103B73"/>
                </a:solidFill>
                <a:latin typeface="Aptos Display" pitchFamily="34" charset="0"/>
                <a:ea typeface="Aptos Display" pitchFamily="34" charset="-122"/>
                <a:cs typeface="Aptos Display" pitchFamily="34" charset="-120"/>
              </a:rPr>
              <a:t>Figure 8. Assignment work plan and delivery timeline</a:t>
            </a:r>
            <a:endParaRPr lang="en-US" sz="2400" dirty="0"/>
          </a:p>
        </p:txBody>
      </p:sp>
      <p:sp>
        <p:nvSpPr>
          <p:cNvPr id="3" name="Text 1"/>
          <p:cNvSpPr/>
          <p:nvPr/>
        </p:nvSpPr>
        <p:spPr>
          <a:xfrm>
            <a:off x="640080" y="841248"/>
            <a:ext cx="10607040" cy="219456"/>
          </a:xfrm>
          <a:prstGeom prst="rect">
            <a:avLst/>
          </a:prstGeom>
          <a:noFill/>
          <a:ln/>
        </p:spPr>
        <p:txBody>
          <a:bodyPr wrap="square" lIns="0" tIns="0" rIns="0" bIns="0" rtlCol="0" anchor="ctr"/>
          <a:lstStyle/>
          <a:p>
            <a:r>
              <a:t>Annual and quarterly cycles aligned with TOR and budgeting milestones</a:t>
            </a:r>
          </a:p>
        </p:txBody>
      </p:sp>
      <p:sp>
        <p:nvSpPr>
          <p:cNvPr id="4" name="Text 2"/>
          <p:cNvSpPr/>
          <p:nvPr/>
        </p:nvSpPr>
        <p:spPr>
          <a:xfrm>
            <a:off x="749808" y="1444752"/>
            <a:ext cx="1143000" cy="128016"/>
          </a:xfrm>
          <a:prstGeom prst="rect">
            <a:avLst/>
          </a:prstGeom>
          <a:noFill/>
          <a:ln/>
        </p:spPr>
        <p:txBody>
          <a:bodyPr wrap="square" lIns="0" tIns="0" rIns="0" bIns="0" rtlCol="0" anchor="ctr"/>
          <a:lstStyle/>
          <a:p>
            <a:pPr marL="0" indent="0">
              <a:buNone/>
            </a:pPr>
            <a:r>
              <a:rPr lang="en-US" sz="1220" b="1" dirty="0">
                <a:solidFill>
                  <a:srgbClr val="103B73"/>
                </a:solidFill>
              </a:rPr>
              <a:t>Illustrative annual cycle</a:t>
            </a:r>
            <a:endParaRPr lang="en-US" sz="1220" dirty="0"/>
          </a:p>
        </p:txBody>
      </p:sp>
      <p:sp>
        <p:nvSpPr>
          <p:cNvPr id="5" name="Text 3"/>
          <p:cNvSpPr/>
          <p:nvPr/>
        </p:nvSpPr>
        <p:spPr>
          <a:xfrm>
            <a:off x="2103120"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Jul</a:t>
            </a:r>
            <a:endParaRPr lang="en-US" sz="1030" dirty="0"/>
          </a:p>
        </p:txBody>
      </p:sp>
      <p:sp>
        <p:nvSpPr>
          <p:cNvPr id="6" name="Text 4"/>
          <p:cNvSpPr/>
          <p:nvPr/>
        </p:nvSpPr>
        <p:spPr>
          <a:xfrm>
            <a:off x="2779776"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Aug</a:t>
            </a:r>
            <a:endParaRPr lang="en-US" sz="1030" dirty="0"/>
          </a:p>
        </p:txBody>
      </p:sp>
      <p:sp>
        <p:nvSpPr>
          <p:cNvPr id="7" name="Text 5"/>
          <p:cNvSpPr/>
          <p:nvPr/>
        </p:nvSpPr>
        <p:spPr>
          <a:xfrm>
            <a:off x="3456432"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Sep</a:t>
            </a:r>
            <a:endParaRPr lang="en-US" sz="1030" dirty="0"/>
          </a:p>
        </p:txBody>
      </p:sp>
      <p:sp>
        <p:nvSpPr>
          <p:cNvPr id="8" name="Text 6"/>
          <p:cNvSpPr/>
          <p:nvPr/>
        </p:nvSpPr>
        <p:spPr>
          <a:xfrm>
            <a:off x="4133088"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Oct</a:t>
            </a:r>
            <a:endParaRPr lang="en-US" sz="1030" dirty="0"/>
          </a:p>
        </p:txBody>
      </p:sp>
      <p:sp>
        <p:nvSpPr>
          <p:cNvPr id="9" name="Text 7"/>
          <p:cNvSpPr/>
          <p:nvPr/>
        </p:nvSpPr>
        <p:spPr>
          <a:xfrm>
            <a:off x="4809744"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Nov</a:t>
            </a:r>
            <a:endParaRPr lang="en-US" sz="1030" dirty="0"/>
          </a:p>
        </p:txBody>
      </p:sp>
      <p:sp>
        <p:nvSpPr>
          <p:cNvPr id="10" name="Text 8"/>
          <p:cNvSpPr/>
          <p:nvPr/>
        </p:nvSpPr>
        <p:spPr>
          <a:xfrm>
            <a:off x="5486400"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Dec</a:t>
            </a:r>
            <a:endParaRPr lang="en-US" sz="1030" dirty="0"/>
          </a:p>
        </p:txBody>
      </p:sp>
      <p:sp>
        <p:nvSpPr>
          <p:cNvPr id="11" name="Text 9"/>
          <p:cNvSpPr/>
          <p:nvPr/>
        </p:nvSpPr>
        <p:spPr>
          <a:xfrm>
            <a:off x="6163056"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Jan</a:t>
            </a:r>
            <a:endParaRPr lang="en-US" sz="1030" dirty="0"/>
          </a:p>
        </p:txBody>
      </p:sp>
      <p:sp>
        <p:nvSpPr>
          <p:cNvPr id="12" name="Text 10"/>
          <p:cNvSpPr/>
          <p:nvPr/>
        </p:nvSpPr>
        <p:spPr>
          <a:xfrm>
            <a:off x="6839712"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Feb</a:t>
            </a:r>
            <a:endParaRPr lang="en-US" sz="1030" dirty="0"/>
          </a:p>
        </p:txBody>
      </p:sp>
      <p:sp>
        <p:nvSpPr>
          <p:cNvPr id="13" name="Text 11"/>
          <p:cNvSpPr/>
          <p:nvPr/>
        </p:nvSpPr>
        <p:spPr>
          <a:xfrm>
            <a:off x="7516368"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Mar</a:t>
            </a:r>
            <a:endParaRPr lang="en-US" sz="1030" dirty="0"/>
          </a:p>
        </p:txBody>
      </p:sp>
      <p:sp>
        <p:nvSpPr>
          <p:cNvPr id="14" name="Text 12"/>
          <p:cNvSpPr/>
          <p:nvPr/>
        </p:nvSpPr>
        <p:spPr>
          <a:xfrm>
            <a:off x="8193024"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Apr</a:t>
            </a:r>
            <a:endParaRPr lang="en-US" sz="1030" dirty="0"/>
          </a:p>
        </p:txBody>
      </p:sp>
      <p:sp>
        <p:nvSpPr>
          <p:cNvPr id="15" name="Text 13"/>
          <p:cNvSpPr/>
          <p:nvPr/>
        </p:nvSpPr>
        <p:spPr>
          <a:xfrm>
            <a:off x="8869680"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May</a:t>
            </a:r>
            <a:endParaRPr lang="en-US" sz="1030" dirty="0"/>
          </a:p>
        </p:txBody>
      </p:sp>
      <p:sp>
        <p:nvSpPr>
          <p:cNvPr id="16" name="Text 14"/>
          <p:cNvSpPr/>
          <p:nvPr/>
        </p:nvSpPr>
        <p:spPr>
          <a:xfrm>
            <a:off x="9546336"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Jun</a:t>
            </a:r>
            <a:endParaRPr lang="en-US" sz="1030" dirty="0"/>
          </a:p>
        </p:txBody>
      </p:sp>
      <p:sp>
        <p:nvSpPr>
          <p:cNvPr id="17" name="Shape 15"/>
          <p:cNvSpPr/>
          <p:nvPr/>
        </p:nvSpPr>
        <p:spPr>
          <a:xfrm>
            <a:off x="2103120" y="1737360"/>
            <a:ext cx="0" cy="4096512"/>
          </a:xfrm>
          <a:prstGeom prst="line">
            <a:avLst/>
          </a:prstGeom>
          <a:noFill/>
          <a:ln w="12700">
            <a:solidFill>
              <a:srgbClr val="E5ECF4"/>
            </a:solidFill>
            <a:prstDash val="solid"/>
          </a:ln>
        </p:spPr>
      </p:sp>
      <p:sp>
        <p:nvSpPr>
          <p:cNvPr id="18" name="Shape 16"/>
          <p:cNvSpPr/>
          <p:nvPr/>
        </p:nvSpPr>
        <p:spPr>
          <a:xfrm>
            <a:off x="2779776" y="1737360"/>
            <a:ext cx="0" cy="4096512"/>
          </a:xfrm>
          <a:prstGeom prst="line">
            <a:avLst/>
          </a:prstGeom>
          <a:noFill/>
          <a:ln w="12700">
            <a:solidFill>
              <a:srgbClr val="E5ECF4"/>
            </a:solidFill>
            <a:prstDash val="solid"/>
          </a:ln>
        </p:spPr>
      </p:sp>
      <p:sp>
        <p:nvSpPr>
          <p:cNvPr id="19" name="Shape 17"/>
          <p:cNvSpPr/>
          <p:nvPr/>
        </p:nvSpPr>
        <p:spPr>
          <a:xfrm>
            <a:off x="3456432" y="1737360"/>
            <a:ext cx="0" cy="4096512"/>
          </a:xfrm>
          <a:prstGeom prst="line">
            <a:avLst/>
          </a:prstGeom>
          <a:noFill/>
          <a:ln w="12700">
            <a:solidFill>
              <a:srgbClr val="E5ECF4"/>
            </a:solidFill>
            <a:prstDash val="solid"/>
          </a:ln>
        </p:spPr>
      </p:sp>
      <p:sp>
        <p:nvSpPr>
          <p:cNvPr id="20" name="Shape 18"/>
          <p:cNvSpPr/>
          <p:nvPr/>
        </p:nvSpPr>
        <p:spPr>
          <a:xfrm>
            <a:off x="4133088" y="1737360"/>
            <a:ext cx="0" cy="4096512"/>
          </a:xfrm>
          <a:prstGeom prst="line">
            <a:avLst/>
          </a:prstGeom>
          <a:noFill/>
          <a:ln w="12700">
            <a:solidFill>
              <a:srgbClr val="E5ECF4"/>
            </a:solidFill>
            <a:prstDash val="solid"/>
          </a:ln>
        </p:spPr>
      </p:sp>
      <p:sp>
        <p:nvSpPr>
          <p:cNvPr id="21" name="Shape 19"/>
          <p:cNvSpPr/>
          <p:nvPr/>
        </p:nvSpPr>
        <p:spPr>
          <a:xfrm>
            <a:off x="4809744" y="1737360"/>
            <a:ext cx="0" cy="4096512"/>
          </a:xfrm>
          <a:prstGeom prst="line">
            <a:avLst/>
          </a:prstGeom>
          <a:noFill/>
          <a:ln w="12700">
            <a:solidFill>
              <a:srgbClr val="E5ECF4"/>
            </a:solidFill>
            <a:prstDash val="solid"/>
          </a:ln>
        </p:spPr>
      </p:sp>
      <p:sp>
        <p:nvSpPr>
          <p:cNvPr id="22" name="Shape 20"/>
          <p:cNvSpPr/>
          <p:nvPr/>
        </p:nvSpPr>
        <p:spPr>
          <a:xfrm>
            <a:off x="5486400" y="1737360"/>
            <a:ext cx="0" cy="4096512"/>
          </a:xfrm>
          <a:prstGeom prst="line">
            <a:avLst/>
          </a:prstGeom>
          <a:noFill/>
          <a:ln w="12700">
            <a:solidFill>
              <a:srgbClr val="E5ECF4"/>
            </a:solidFill>
            <a:prstDash val="solid"/>
          </a:ln>
        </p:spPr>
      </p:sp>
      <p:sp>
        <p:nvSpPr>
          <p:cNvPr id="23" name="Shape 21"/>
          <p:cNvSpPr/>
          <p:nvPr/>
        </p:nvSpPr>
        <p:spPr>
          <a:xfrm>
            <a:off x="6163056" y="1737360"/>
            <a:ext cx="0" cy="4096512"/>
          </a:xfrm>
          <a:prstGeom prst="line">
            <a:avLst/>
          </a:prstGeom>
          <a:noFill/>
          <a:ln w="12700">
            <a:solidFill>
              <a:srgbClr val="E5ECF4"/>
            </a:solidFill>
            <a:prstDash val="solid"/>
          </a:ln>
        </p:spPr>
      </p:sp>
      <p:sp>
        <p:nvSpPr>
          <p:cNvPr id="24" name="Shape 22"/>
          <p:cNvSpPr/>
          <p:nvPr/>
        </p:nvSpPr>
        <p:spPr>
          <a:xfrm>
            <a:off x="6839712" y="1737360"/>
            <a:ext cx="0" cy="4096512"/>
          </a:xfrm>
          <a:prstGeom prst="line">
            <a:avLst/>
          </a:prstGeom>
          <a:noFill/>
          <a:ln w="12700">
            <a:solidFill>
              <a:srgbClr val="E5ECF4"/>
            </a:solidFill>
            <a:prstDash val="solid"/>
          </a:ln>
        </p:spPr>
      </p:sp>
      <p:sp>
        <p:nvSpPr>
          <p:cNvPr id="25" name="Shape 23"/>
          <p:cNvSpPr/>
          <p:nvPr/>
        </p:nvSpPr>
        <p:spPr>
          <a:xfrm>
            <a:off x="7516368" y="1737360"/>
            <a:ext cx="0" cy="4096512"/>
          </a:xfrm>
          <a:prstGeom prst="line">
            <a:avLst/>
          </a:prstGeom>
          <a:noFill/>
          <a:ln w="12700">
            <a:solidFill>
              <a:srgbClr val="E5ECF4"/>
            </a:solidFill>
            <a:prstDash val="solid"/>
          </a:ln>
        </p:spPr>
      </p:sp>
      <p:sp>
        <p:nvSpPr>
          <p:cNvPr id="26" name="Shape 24"/>
          <p:cNvSpPr/>
          <p:nvPr/>
        </p:nvSpPr>
        <p:spPr>
          <a:xfrm>
            <a:off x="8193024" y="1737360"/>
            <a:ext cx="0" cy="4096512"/>
          </a:xfrm>
          <a:prstGeom prst="line">
            <a:avLst/>
          </a:prstGeom>
          <a:noFill/>
          <a:ln w="12700">
            <a:solidFill>
              <a:srgbClr val="E5ECF4"/>
            </a:solidFill>
            <a:prstDash val="solid"/>
          </a:ln>
        </p:spPr>
      </p:sp>
      <p:sp>
        <p:nvSpPr>
          <p:cNvPr id="27" name="Shape 25"/>
          <p:cNvSpPr/>
          <p:nvPr/>
        </p:nvSpPr>
        <p:spPr>
          <a:xfrm>
            <a:off x="8869680" y="1737360"/>
            <a:ext cx="0" cy="4096512"/>
          </a:xfrm>
          <a:prstGeom prst="line">
            <a:avLst/>
          </a:prstGeom>
          <a:noFill/>
          <a:ln w="12700">
            <a:solidFill>
              <a:srgbClr val="E5ECF4"/>
            </a:solidFill>
            <a:prstDash val="solid"/>
          </a:ln>
        </p:spPr>
      </p:sp>
      <p:sp>
        <p:nvSpPr>
          <p:cNvPr id="28" name="Shape 26"/>
          <p:cNvSpPr/>
          <p:nvPr/>
        </p:nvSpPr>
        <p:spPr>
          <a:xfrm>
            <a:off x="9546336" y="1737360"/>
            <a:ext cx="0" cy="4096512"/>
          </a:xfrm>
          <a:prstGeom prst="line">
            <a:avLst/>
          </a:prstGeom>
          <a:noFill/>
          <a:ln w="12700">
            <a:solidFill>
              <a:srgbClr val="E5ECF4"/>
            </a:solidFill>
            <a:prstDash val="solid"/>
          </a:ln>
        </p:spPr>
      </p:sp>
      <p:sp>
        <p:nvSpPr>
          <p:cNvPr id="29" name="Shape 27"/>
          <p:cNvSpPr/>
          <p:nvPr/>
        </p:nvSpPr>
        <p:spPr>
          <a:xfrm>
            <a:off x="10222992" y="1737360"/>
            <a:ext cx="0" cy="4096512"/>
          </a:xfrm>
          <a:prstGeom prst="line">
            <a:avLst/>
          </a:prstGeom>
          <a:noFill/>
          <a:ln w="12700">
            <a:solidFill>
              <a:srgbClr val="E5ECF4"/>
            </a:solidFill>
            <a:prstDash val="solid"/>
          </a:ln>
        </p:spPr>
      </p:sp>
      <p:sp>
        <p:nvSpPr>
          <p:cNvPr id="30" name="Text 28"/>
          <p:cNvSpPr/>
          <p:nvPr/>
        </p:nvSpPr>
        <p:spPr>
          <a:xfrm>
            <a:off x="749808" y="2020824"/>
            <a:ext cx="1280160" cy="128016"/>
          </a:xfrm>
          <a:prstGeom prst="rect">
            <a:avLst/>
          </a:prstGeom>
          <a:noFill/>
          <a:ln/>
        </p:spPr>
        <p:txBody>
          <a:bodyPr wrap="square" lIns="0" tIns="0" rIns="0" bIns="0" rtlCol="0" anchor="ctr"/>
          <a:lstStyle/>
          <a:p>
            <a:pPr marL="0" indent="0">
              <a:buNone/>
            </a:pPr>
            <a:r>
              <a:rPr lang="en-US" sz="1080" b="1" dirty="0">
                <a:solidFill>
                  <a:srgbClr val="1F2937"/>
                </a:solidFill>
              </a:rPr>
              <a:t>Mobilization / inception</a:t>
            </a:r>
            <a:endParaRPr lang="en-US" sz="1080" dirty="0"/>
          </a:p>
        </p:txBody>
      </p:sp>
      <p:sp>
        <p:nvSpPr>
          <p:cNvPr id="31" name="Shape 29"/>
          <p:cNvSpPr/>
          <p:nvPr/>
        </p:nvSpPr>
        <p:spPr>
          <a:xfrm>
            <a:off x="2103120" y="2176272"/>
            <a:ext cx="8119872" cy="0"/>
          </a:xfrm>
          <a:prstGeom prst="line">
            <a:avLst/>
          </a:prstGeom>
          <a:noFill/>
          <a:ln w="12700">
            <a:solidFill>
              <a:srgbClr val="E7EDF5"/>
            </a:solidFill>
            <a:prstDash val="solid"/>
          </a:ln>
        </p:spPr>
      </p:sp>
      <p:sp>
        <p:nvSpPr>
          <p:cNvPr id="32" name="Text 30"/>
          <p:cNvSpPr/>
          <p:nvPr/>
        </p:nvSpPr>
        <p:spPr>
          <a:xfrm>
            <a:off x="2130552" y="1920240"/>
            <a:ext cx="1298448" cy="411480"/>
          </a:xfrm>
          <a:prstGeom prst="roundRect">
            <a:avLst/>
          </a:prstGeom>
          <a:solidFill>
            <a:srgbClr val="1F5AA6"/>
          </a:solidFill>
          <a:ln>
            <a:solidFill>
              <a:srgbClr val="1F5AA6"/>
            </a:solidFill>
          </a:ln>
        </p:spPr>
        <p:txBody>
          <a:bodyPr wrap="square" lIns="762" tIns="762" rIns="762" bIns="762" rtlCol="0" anchor="ctr"/>
          <a:lstStyle/>
          <a:p>
            <a:pPr marL="0" indent="0" algn="ctr">
              <a:buNone/>
            </a:pPr>
            <a:endParaRPr lang="en-US" sz="1200" dirty="0"/>
          </a:p>
        </p:txBody>
      </p:sp>
      <p:sp>
        <p:nvSpPr>
          <p:cNvPr id="33" name="Text 31"/>
          <p:cNvSpPr/>
          <p:nvPr/>
        </p:nvSpPr>
        <p:spPr>
          <a:xfrm>
            <a:off x="749808" y="2679192"/>
            <a:ext cx="1280160" cy="128016"/>
          </a:xfrm>
          <a:prstGeom prst="rect">
            <a:avLst/>
          </a:prstGeom>
          <a:noFill/>
          <a:ln/>
        </p:spPr>
        <p:txBody>
          <a:bodyPr wrap="square" lIns="0" tIns="0" rIns="0" bIns="0" rtlCol="0" anchor="ctr"/>
          <a:lstStyle/>
          <a:p>
            <a:pPr marL="0" indent="0">
              <a:buNone/>
            </a:pPr>
            <a:r>
              <a:rPr lang="en-US" sz="1080" b="1" dirty="0">
                <a:solidFill>
                  <a:srgbClr val="1F2937"/>
                </a:solidFill>
              </a:rPr>
              <a:t>Tool finalization + document requests</a:t>
            </a:r>
            <a:endParaRPr lang="en-US" sz="1080" dirty="0"/>
          </a:p>
        </p:txBody>
      </p:sp>
      <p:sp>
        <p:nvSpPr>
          <p:cNvPr id="34" name="Shape 32"/>
          <p:cNvSpPr/>
          <p:nvPr/>
        </p:nvSpPr>
        <p:spPr>
          <a:xfrm>
            <a:off x="2103120" y="2834640"/>
            <a:ext cx="8119872" cy="0"/>
          </a:xfrm>
          <a:prstGeom prst="line">
            <a:avLst/>
          </a:prstGeom>
          <a:noFill/>
          <a:ln w="12700">
            <a:solidFill>
              <a:srgbClr val="E7EDF5"/>
            </a:solidFill>
            <a:prstDash val="solid"/>
          </a:ln>
        </p:spPr>
      </p:sp>
      <p:sp>
        <p:nvSpPr>
          <p:cNvPr id="35" name="Text 33"/>
          <p:cNvSpPr/>
          <p:nvPr/>
        </p:nvSpPr>
        <p:spPr>
          <a:xfrm>
            <a:off x="2807208" y="2578608"/>
            <a:ext cx="1975104" cy="411480"/>
          </a:xfrm>
          <a:prstGeom prst="roundRect">
            <a:avLst/>
          </a:prstGeom>
          <a:solidFill>
            <a:srgbClr val="148F97"/>
          </a:solidFill>
          <a:ln>
            <a:solidFill>
              <a:srgbClr val="148F97"/>
            </a:solidFill>
          </a:ln>
        </p:spPr>
        <p:txBody>
          <a:bodyPr wrap="square" lIns="762" tIns="762" rIns="762" bIns="762" rtlCol="0" anchor="ctr"/>
          <a:lstStyle/>
          <a:p>
            <a:pPr marL="0" indent="0" algn="ctr">
              <a:buNone/>
            </a:pPr>
            <a:endParaRPr lang="en-US" sz="1200" dirty="0"/>
          </a:p>
        </p:txBody>
      </p:sp>
      <p:sp>
        <p:nvSpPr>
          <p:cNvPr id="36" name="Text 34"/>
          <p:cNvSpPr/>
          <p:nvPr/>
        </p:nvSpPr>
        <p:spPr>
          <a:xfrm>
            <a:off x="749808" y="3337560"/>
            <a:ext cx="1280160" cy="128016"/>
          </a:xfrm>
          <a:prstGeom prst="rect">
            <a:avLst/>
          </a:prstGeom>
          <a:noFill/>
          <a:ln/>
        </p:spPr>
        <p:txBody>
          <a:bodyPr wrap="square" lIns="0" tIns="0" rIns="0" bIns="0" rtlCol="0" anchor="ctr"/>
          <a:lstStyle/>
          <a:p>
            <a:pPr marL="0" indent="0">
              <a:buNone/>
            </a:pPr>
            <a:r>
              <a:rPr lang="en-US" sz="1080" b="1" dirty="0">
                <a:solidFill>
                  <a:srgbClr val="1F2937"/>
                </a:solidFill>
              </a:rPr>
              <a:t>Quarterly E&amp;S monitoring</a:t>
            </a:r>
            <a:endParaRPr lang="en-US" sz="1080" dirty="0"/>
          </a:p>
        </p:txBody>
      </p:sp>
      <p:sp>
        <p:nvSpPr>
          <p:cNvPr id="37" name="Shape 35"/>
          <p:cNvSpPr/>
          <p:nvPr/>
        </p:nvSpPr>
        <p:spPr>
          <a:xfrm>
            <a:off x="2103120" y="3493008"/>
            <a:ext cx="8119872" cy="0"/>
          </a:xfrm>
          <a:prstGeom prst="line">
            <a:avLst/>
          </a:prstGeom>
          <a:noFill/>
          <a:ln w="12700">
            <a:solidFill>
              <a:srgbClr val="E7EDF5"/>
            </a:solidFill>
            <a:prstDash val="solid"/>
          </a:ln>
        </p:spPr>
      </p:sp>
      <p:sp>
        <p:nvSpPr>
          <p:cNvPr id="38" name="Text 36"/>
          <p:cNvSpPr/>
          <p:nvPr/>
        </p:nvSpPr>
        <p:spPr>
          <a:xfrm>
            <a:off x="2130552" y="3236976"/>
            <a:ext cx="8065008" cy="411480"/>
          </a:xfrm>
          <a:prstGeom prst="roundRect">
            <a:avLst/>
          </a:prstGeom>
          <a:solidFill>
            <a:srgbClr val="2F855A"/>
          </a:solidFill>
          <a:ln>
            <a:solidFill>
              <a:srgbClr val="2F855A"/>
            </a:solidFill>
          </a:ln>
        </p:spPr>
        <p:txBody>
          <a:bodyPr wrap="square" lIns="762" tIns="762" rIns="762" bIns="762" rtlCol="0" anchor="ctr"/>
          <a:lstStyle/>
          <a:p>
            <a:pPr marL="0" indent="0" algn="ctr">
              <a:buNone/>
            </a:pPr>
            <a:endParaRPr lang="en-US" sz="1200" dirty="0"/>
          </a:p>
        </p:txBody>
      </p:sp>
      <p:sp>
        <p:nvSpPr>
          <p:cNvPr id="39" name="Text 37"/>
          <p:cNvSpPr/>
          <p:nvPr/>
        </p:nvSpPr>
        <p:spPr>
          <a:xfrm>
            <a:off x="749808" y="3995928"/>
            <a:ext cx="1280160" cy="128016"/>
          </a:xfrm>
          <a:prstGeom prst="rect">
            <a:avLst/>
          </a:prstGeom>
          <a:noFill/>
          <a:ln/>
        </p:spPr>
        <p:txBody>
          <a:bodyPr wrap="square" lIns="0" tIns="0" rIns="0" bIns="0" rtlCol="0" anchor="ctr"/>
          <a:lstStyle/>
          <a:p>
            <a:pPr marL="0" indent="0">
              <a:buNone/>
            </a:pPr>
            <a:r>
              <a:rPr lang="en-US" sz="1080" b="1" dirty="0">
                <a:solidFill>
                  <a:srgbClr val="1F2937"/>
                </a:solidFill>
              </a:rPr>
              <a:t>APA / DLI verification window</a:t>
            </a:r>
            <a:endParaRPr lang="en-US" sz="1080" dirty="0"/>
          </a:p>
        </p:txBody>
      </p:sp>
      <p:sp>
        <p:nvSpPr>
          <p:cNvPr id="40" name="Shape 38"/>
          <p:cNvSpPr/>
          <p:nvPr/>
        </p:nvSpPr>
        <p:spPr>
          <a:xfrm>
            <a:off x="2103120" y="4151376"/>
            <a:ext cx="8119872" cy="0"/>
          </a:xfrm>
          <a:prstGeom prst="line">
            <a:avLst/>
          </a:prstGeom>
          <a:noFill/>
          <a:ln w="12700">
            <a:solidFill>
              <a:srgbClr val="E7EDF5"/>
            </a:solidFill>
            <a:prstDash val="solid"/>
          </a:ln>
        </p:spPr>
      </p:sp>
      <p:sp>
        <p:nvSpPr>
          <p:cNvPr id="41" name="Text 39"/>
          <p:cNvSpPr/>
          <p:nvPr/>
        </p:nvSpPr>
        <p:spPr>
          <a:xfrm>
            <a:off x="4837176" y="3895344"/>
            <a:ext cx="4005072" cy="411480"/>
          </a:xfrm>
          <a:prstGeom prst="roundRect">
            <a:avLst/>
          </a:prstGeom>
          <a:solidFill>
            <a:srgbClr val="C7782A"/>
          </a:solidFill>
          <a:ln>
            <a:solidFill>
              <a:srgbClr val="C7782A"/>
            </a:solidFill>
          </a:ln>
        </p:spPr>
        <p:txBody>
          <a:bodyPr wrap="square" lIns="762" tIns="762" rIns="762" bIns="762" rtlCol="0" anchor="ctr"/>
          <a:lstStyle/>
          <a:p>
            <a:pPr marL="0" indent="0" algn="ctr">
              <a:buNone/>
            </a:pPr>
            <a:endParaRPr lang="en-US" sz="1200" dirty="0"/>
          </a:p>
        </p:txBody>
      </p:sp>
      <p:sp>
        <p:nvSpPr>
          <p:cNvPr id="42" name="Text 40"/>
          <p:cNvSpPr/>
          <p:nvPr/>
        </p:nvSpPr>
        <p:spPr>
          <a:xfrm>
            <a:off x="749808" y="4654296"/>
            <a:ext cx="1280160" cy="128016"/>
          </a:xfrm>
          <a:prstGeom prst="rect">
            <a:avLst/>
          </a:prstGeom>
          <a:noFill/>
          <a:ln/>
        </p:spPr>
        <p:txBody>
          <a:bodyPr wrap="square" lIns="0" tIns="0" rIns="0" bIns="0" rtlCol="0" anchor="ctr"/>
          <a:lstStyle/>
          <a:p>
            <a:pPr marL="0" indent="0">
              <a:buNone/>
            </a:pPr>
            <a:r>
              <a:rPr lang="en-US" sz="1080" b="1" dirty="0">
                <a:solidFill>
                  <a:srgbClr val="1F2937"/>
                </a:solidFill>
              </a:rPr>
              <a:t>Draft IVA report + reconciliation</a:t>
            </a:r>
            <a:endParaRPr lang="en-US" sz="1080" dirty="0"/>
          </a:p>
        </p:txBody>
      </p:sp>
      <p:sp>
        <p:nvSpPr>
          <p:cNvPr id="43" name="Shape 41"/>
          <p:cNvSpPr/>
          <p:nvPr/>
        </p:nvSpPr>
        <p:spPr>
          <a:xfrm>
            <a:off x="2103120" y="4809744"/>
            <a:ext cx="8119872" cy="0"/>
          </a:xfrm>
          <a:prstGeom prst="line">
            <a:avLst/>
          </a:prstGeom>
          <a:noFill/>
          <a:ln w="12700">
            <a:solidFill>
              <a:srgbClr val="E7EDF5"/>
            </a:solidFill>
            <a:prstDash val="solid"/>
          </a:ln>
        </p:spPr>
      </p:sp>
      <p:sp>
        <p:nvSpPr>
          <p:cNvPr id="44" name="Text 42"/>
          <p:cNvSpPr/>
          <p:nvPr/>
        </p:nvSpPr>
        <p:spPr>
          <a:xfrm>
            <a:off x="7543800" y="4553712"/>
            <a:ext cx="1298448" cy="411480"/>
          </a:xfrm>
          <a:prstGeom prst="roundRect">
            <a:avLst/>
          </a:prstGeom>
          <a:solidFill>
            <a:srgbClr val="C05656"/>
          </a:solidFill>
          <a:ln>
            <a:solidFill>
              <a:srgbClr val="C05656"/>
            </a:solidFill>
          </a:ln>
        </p:spPr>
        <p:txBody>
          <a:bodyPr wrap="square" lIns="762" tIns="762" rIns="762" bIns="762" rtlCol="0" anchor="ctr"/>
          <a:lstStyle/>
          <a:p>
            <a:pPr marL="0" indent="0" algn="ctr">
              <a:buNone/>
            </a:pPr>
            <a:endParaRPr lang="en-US" sz="1200" dirty="0"/>
          </a:p>
        </p:txBody>
      </p:sp>
      <p:sp>
        <p:nvSpPr>
          <p:cNvPr id="45" name="Text 43"/>
          <p:cNvSpPr/>
          <p:nvPr/>
        </p:nvSpPr>
        <p:spPr>
          <a:xfrm>
            <a:off x="749808" y="5312664"/>
            <a:ext cx="1280160" cy="128016"/>
          </a:xfrm>
          <a:prstGeom prst="rect">
            <a:avLst/>
          </a:prstGeom>
          <a:noFill/>
          <a:ln/>
        </p:spPr>
        <p:txBody>
          <a:bodyPr wrap="square" lIns="0" tIns="0" rIns="0" bIns="0" rtlCol="0" anchor="ctr"/>
          <a:lstStyle/>
          <a:p>
            <a:pPr marL="0" indent="0">
              <a:buNone/>
            </a:pPr>
            <a:r>
              <a:rPr lang="en-US" sz="1080" b="1" dirty="0">
                <a:solidFill>
                  <a:srgbClr val="1F2937"/>
                </a:solidFill>
              </a:rPr>
              <a:t>Final report supports budget-linked allocations</a:t>
            </a:r>
            <a:endParaRPr lang="en-US" sz="1080" dirty="0"/>
          </a:p>
        </p:txBody>
      </p:sp>
      <p:sp>
        <p:nvSpPr>
          <p:cNvPr id="46" name="Shape 44"/>
          <p:cNvSpPr/>
          <p:nvPr/>
        </p:nvSpPr>
        <p:spPr>
          <a:xfrm>
            <a:off x="2103120" y="5468112"/>
            <a:ext cx="8119872" cy="0"/>
          </a:xfrm>
          <a:prstGeom prst="line">
            <a:avLst/>
          </a:prstGeom>
          <a:noFill/>
          <a:ln w="12700">
            <a:solidFill>
              <a:srgbClr val="E7EDF5"/>
            </a:solidFill>
            <a:prstDash val="solid"/>
          </a:ln>
        </p:spPr>
      </p:sp>
      <p:sp>
        <p:nvSpPr>
          <p:cNvPr id="47" name="Text 45"/>
          <p:cNvSpPr/>
          <p:nvPr/>
        </p:nvSpPr>
        <p:spPr>
          <a:xfrm>
            <a:off x="8897112" y="5212080"/>
            <a:ext cx="1298448" cy="411480"/>
          </a:xfrm>
          <a:prstGeom prst="roundRect">
            <a:avLst/>
          </a:prstGeom>
          <a:solidFill>
            <a:srgbClr val="1F5AA6"/>
          </a:solidFill>
          <a:ln>
            <a:solidFill>
              <a:srgbClr val="1F5AA6"/>
            </a:solidFill>
          </a:ln>
        </p:spPr>
        <p:txBody>
          <a:bodyPr wrap="square" lIns="762" tIns="762" rIns="762" bIns="762" rtlCol="0" anchor="ctr"/>
          <a:lstStyle/>
          <a:p>
            <a:pPr marL="0" indent="0" algn="ctr">
              <a:buNone/>
            </a:pPr>
            <a:endParaRPr lang="en-US" sz="1200" dirty="0"/>
          </a:p>
        </p:txBody>
      </p:sp>
      <p:sp>
        <p:nvSpPr>
          <p:cNvPr id="48" name="Text 46"/>
          <p:cNvSpPr/>
          <p:nvPr/>
        </p:nvSpPr>
        <p:spPr>
          <a:xfrm>
            <a:off x="2148840" y="5897880"/>
            <a:ext cx="475488" cy="256032"/>
          </a:xfrm>
          <a:prstGeom prst="roundRect">
            <a:avLst/>
          </a:prstGeom>
          <a:solidFill>
            <a:srgbClr val="148F97"/>
          </a:solidFill>
          <a:ln>
            <a:solidFill>
              <a:srgbClr val="148F97"/>
            </a:solidFill>
          </a:ln>
        </p:spPr>
        <p:txBody>
          <a:bodyPr wrap="square" lIns="254" tIns="254" rIns="254" bIns="254" rtlCol="0" anchor="ctr"/>
          <a:lstStyle/>
          <a:p>
            <a:pPr marL="0" indent="0" algn="ctr">
              <a:buNone/>
            </a:pPr>
            <a:r>
              <a:rPr lang="en-US" sz="1020" b="1" dirty="0">
                <a:solidFill>
                  <a:srgbClr val="FFFFFF"/>
                </a:solidFill>
              </a:rPr>
              <a:t>Q1</a:t>
            </a:r>
            <a:endParaRPr lang="en-US" sz="1020" dirty="0"/>
          </a:p>
        </p:txBody>
      </p:sp>
      <p:sp>
        <p:nvSpPr>
          <p:cNvPr id="49" name="Text 47"/>
          <p:cNvSpPr/>
          <p:nvPr/>
        </p:nvSpPr>
        <p:spPr>
          <a:xfrm>
            <a:off x="4187952" y="5897880"/>
            <a:ext cx="475488" cy="256032"/>
          </a:xfrm>
          <a:prstGeom prst="roundRect">
            <a:avLst/>
          </a:prstGeom>
          <a:solidFill>
            <a:srgbClr val="148F97"/>
          </a:solidFill>
          <a:ln>
            <a:solidFill>
              <a:srgbClr val="148F97"/>
            </a:solidFill>
          </a:ln>
        </p:spPr>
        <p:txBody>
          <a:bodyPr wrap="square" lIns="254" tIns="254" rIns="254" bIns="254" rtlCol="0" anchor="ctr"/>
          <a:lstStyle/>
          <a:p>
            <a:pPr marL="0" indent="0" algn="ctr">
              <a:buNone/>
            </a:pPr>
            <a:r>
              <a:rPr lang="en-US" sz="1020" b="1" dirty="0">
                <a:solidFill>
                  <a:srgbClr val="FFFFFF"/>
                </a:solidFill>
              </a:rPr>
              <a:t>Q2</a:t>
            </a:r>
            <a:endParaRPr lang="en-US" sz="1020" dirty="0"/>
          </a:p>
        </p:txBody>
      </p:sp>
      <p:sp>
        <p:nvSpPr>
          <p:cNvPr id="50" name="Text 48"/>
          <p:cNvSpPr/>
          <p:nvPr/>
        </p:nvSpPr>
        <p:spPr>
          <a:xfrm>
            <a:off x="6227064" y="5897880"/>
            <a:ext cx="475488" cy="256032"/>
          </a:xfrm>
          <a:prstGeom prst="roundRect">
            <a:avLst/>
          </a:prstGeom>
          <a:solidFill>
            <a:srgbClr val="148F97"/>
          </a:solidFill>
          <a:ln>
            <a:solidFill>
              <a:srgbClr val="148F97"/>
            </a:solidFill>
          </a:ln>
        </p:spPr>
        <p:txBody>
          <a:bodyPr wrap="square" lIns="254" tIns="254" rIns="254" bIns="254" rtlCol="0" anchor="ctr"/>
          <a:lstStyle/>
          <a:p>
            <a:pPr marL="0" indent="0" algn="ctr">
              <a:buNone/>
            </a:pPr>
            <a:r>
              <a:rPr lang="en-US" sz="1020" b="1" dirty="0">
                <a:solidFill>
                  <a:srgbClr val="FFFFFF"/>
                </a:solidFill>
              </a:rPr>
              <a:t>Q3</a:t>
            </a:r>
            <a:endParaRPr lang="en-US" sz="1020" dirty="0"/>
          </a:p>
        </p:txBody>
      </p:sp>
      <p:sp>
        <p:nvSpPr>
          <p:cNvPr id="51" name="Text 49"/>
          <p:cNvSpPr/>
          <p:nvPr/>
        </p:nvSpPr>
        <p:spPr>
          <a:xfrm>
            <a:off x="8266176" y="5897880"/>
            <a:ext cx="475488" cy="256032"/>
          </a:xfrm>
          <a:prstGeom prst="roundRect">
            <a:avLst/>
          </a:prstGeom>
          <a:solidFill>
            <a:srgbClr val="148F97"/>
          </a:solidFill>
          <a:ln>
            <a:solidFill>
              <a:srgbClr val="148F97"/>
            </a:solidFill>
          </a:ln>
        </p:spPr>
        <p:txBody>
          <a:bodyPr wrap="square" lIns="254" tIns="254" rIns="254" bIns="254" rtlCol="0" anchor="ctr"/>
          <a:lstStyle/>
          <a:p>
            <a:pPr marL="0" indent="0" algn="ctr">
              <a:buNone/>
            </a:pPr>
            <a:r>
              <a:rPr lang="en-US" sz="1020" b="1" dirty="0">
                <a:solidFill>
                  <a:srgbClr val="FFFFFF"/>
                </a:solidFill>
              </a:rPr>
              <a:t>Q4</a:t>
            </a:r>
            <a:endParaRPr lang="en-US" sz="1020" dirty="0"/>
          </a:p>
        </p:txBody>
      </p:sp>
      <p:sp>
        <p:nvSpPr>
          <p:cNvPr id="52" name="Text 50"/>
          <p:cNvSpPr/>
          <p:nvPr/>
        </p:nvSpPr>
        <p:spPr>
          <a:xfrm>
            <a:off x="777240" y="6272784"/>
            <a:ext cx="10561320" cy="137160"/>
          </a:xfrm>
          <a:prstGeom prst="rect">
            <a:avLst/>
          </a:prstGeom>
          <a:noFill/>
          <a:ln/>
        </p:spPr>
        <p:txBody>
          <a:bodyPr wrap="square" lIns="0" tIns="0" rIns="0" bIns="0" rtlCol="0" anchor="ctr"/>
          <a:lstStyle/>
          <a:p>
            <a:r>
              <a:t>This timeline demonstrates synchronization of quarterly E&amp;S TPM reporting with the November-April APA verification window and May submissions.</a:t>
            </a:r>
          </a:p>
        </p:txBody>
      </p:sp>
      <p:sp>
        <p:nvSpPr>
          <p:cNvPr id="53" name="Slide Number Placeholder 0"/>
          <p:cNvSpPr>
            <a:spLocks noGrp="1"/>
          </p:cNvSpPr>
          <p:nvPr>
            <p:ph type="sldNum" sz="quarter" idx="4294967295"/>
          </p:nvPr>
        </p:nvSpPr>
        <p:spPr>
          <a:xfrm>
            <a:off x="11292840" y="6437376"/>
            <a:ext cx="365760" cy="18288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5075</TotalTime>
  <Words>2762</Words>
  <Application>Microsoft Office PowerPoint</Application>
  <PresentationFormat>Widescreen</PresentationFormat>
  <Paragraphs>355</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SKAFS Consultants Pvt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Approach &amp; Methodology – Punjab Inclusive Cities Program</dc:title>
  <dc:subject>PICP Technical Proposal Methodology</dc:subject>
  <dc:creator>SKAFS Consultants Pvt Ltd</dc:creator>
  <cp:lastModifiedBy>SKAFS Consultants Pvt Ltd</cp:lastModifiedBy>
  <cp:revision>15</cp:revision>
  <dcterms:created xsi:type="dcterms:W3CDTF">2026-03-29T20:17:34Z</dcterms:created>
  <dcterms:modified xsi:type="dcterms:W3CDTF">2026-04-06T22:08:32Z</dcterms:modified>
</cp:coreProperties>
</file>